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307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8" r:id="rId18"/>
    <p:sldId id="349" r:id="rId19"/>
    <p:sldId id="327" r:id="rId20"/>
  </p:sldIdLst>
  <p:sldSz cx="18288000" cy="10287000"/>
  <p:notesSz cx="6858000" cy="9144000"/>
  <p:embeddedFontLst>
    <p:embeddedFont>
      <p:font typeface="Calibri" pitchFamily="34" charset="0"/>
      <p:regular r:id="rId22"/>
      <p:bold r:id="rId23"/>
      <p:italic r:id="rId24"/>
      <p:boldItalic r:id="rId25"/>
    </p:embeddedFont>
    <p:embeddedFont>
      <p:font typeface="Montserrat Ultra-Bold" charset="0"/>
      <p:regular r:id="rId26"/>
    </p:embeddedFont>
    <p:embeddedFont>
      <p:font typeface="Montserrat Medium" charset="0"/>
      <p:regular r:id="rId27"/>
      <p:italic r:id="rId28"/>
    </p:embeddedFont>
    <p:embeddedFont>
      <p:font typeface="Montserrat Bold" charset="0"/>
      <p:regular r:id="rId29"/>
    </p:embeddedFont>
    <p:embeddedFont>
      <p:font typeface="Montserrat" charset="0"/>
      <p:regular r:id="rId30"/>
      <p:bold r:id="rId31"/>
      <p:italic r:id="rId32"/>
      <p:boldItalic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  <a:srgbClr val="000099"/>
    <a:srgbClr val="0033CC"/>
    <a:srgbClr val="009900"/>
    <a:srgbClr val="2D262A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Dark Style 1 - Accent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D03447BB-5D67-496B-8E87-E561075AD55C}" styleName="Dark Style 1 - Accent 3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wholeTbl>
    <a:band1H>
      <a:tcStyle>
        <a:tcBdr/>
        <a:fill>
          <a:solidFill>
            <a:schemeClr val="accent3">
              <a:shade val="60000"/>
            </a:schemeClr>
          </a:solidFill>
        </a:fill>
      </a:tcStyle>
    </a:band1H>
    <a:band1V>
      <a:tcStyle>
        <a:tcBdr/>
        <a:fill>
          <a:solidFill>
            <a:schemeClr val="accent3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3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3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3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AF606853-7671-496A-8E4F-DF71F8EC918B}" styleName="Dark Style 1 - Accent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 autoAdjust="0"/>
    <p:restoredTop sz="94622" autoAdjust="0"/>
  </p:normalViewPr>
  <p:slideViewPr>
    <p:cSldViewPr>
      <p:cViewPr>
        <p:scale>
          <a:sx n="50" d="100"/>
          <a:sy n="50" d="100"/>
        </p:scale>
        <p:origin x="-869" y="-1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05E0BD-4190-41AC-BFAE-3FEEDB3CCF31}" type="datetimeFigureOut">
              <a:rPr lang="en-IN" smtClean="0"/>
              <a:pPr/>
              <a:t>22-09-2026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460793-3080-445B-BDBA-C562ADA60236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170052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5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6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7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8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10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11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12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13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14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15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16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17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18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460793-3080-445B-BDBA-C562ADA60236}" type="slidenum">
              <a:rPr lang="en-IN" smtClean="0"/>
              <a:pPr/>
              <a:t>19</a:t>
            </a:fld>
            <a:endParaRPr lang="en-IN"/>
          </a:p>
        </p:txBody>
      </p:sp>
    </p:spTree>
    <p:extLst>
      <p:ext uri="{BB962C8B-B14F-4D97-AF65-F5344CB8AC3E}">
        <p14:creationId xmlns="" xmlns:p14="http://schemas.microsoft.com/office/powerpoint/2010/main" val="36387089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40790" y="0"/>
            <a:ext cx="212090" cy="5143500"/>
            <a:chOff x="0" y="0"/>
            <a:chExt cx="55859" cy="135466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5859" cy="1354667"/>
            </a:xfrm>
            <a:custGeom>
              <a:avLst/>
              <a:gdLst/>
              <a:ahLst/>
              <a:cxnLst/>
              <a:rect l="l" t="t" r="r" b="b"/>
              <a:pathLst>
                <a:path w="55859" h="1354667">
                  <a:moveTo>
                    <a:pt x="0" y="0"/>
                  </a:moveTo>
                  <a:lnTo>
                    <a:pt x="55859" y="0"/>
                  </a:lnTo>
                  <a:lnTo>
                    <a:pt x="55859" y="1354667"/>
                  </a:lnTo>
                  <a:lnTo>
                    <a:pt x="0" y="1354667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55859" cy="139276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829775" y="4088040"/>
            <a:ext cx="14696225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SESSION </a:t>
            </a:r>
            <a:r>
              <a:rPr lang="en-US" sz="96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11</a:t>
            </a:r>
            <a:endParaRPr lang="en-US" sz="96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214382" y="5429252"/>
            <a:ext cx="16787930" cy="135934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0560"/>
              </a:lnSpc>
            </a:pPr>
            <a:r>
              <a:rPr lang="en-US" sz="9600" b="1" dirty="0" smtClean="0">
                <a:solidFill>
                  <a:srgbClr val="F9B314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Valuation &amp; Forecasting 1</a:t>
            </a:r>
            <a:endParaRPr lang="en-US" sz="9600" b="1" dirty="0">
              <a:solidFill>
                <a:srgbClr val="F9B314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829775" y="8183211"/>
            <a:ext cx="9288593" cy="3806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20"/>
              </a:lnSpc>
            </a:pPr>
            <a:r>
              <a:rPr lang="en-US" sz="2300" b="1" spc="50" dirty="0" smtClean="0">
                <a:solidFill>
                  <a:srgbClr val="101010"/>
                </a:solidFill>
                <a:latin typeface="Montserrat Medium"/>
                <a:ea typeface="Montserrat Medium"/>
                <a:cs typeface="Montserrat Medium"/>
                <a:sym typeface="Montserrat Medium"/>
              </a:rPr>
              <a:t>SCALER SCHOOL OF TECHNOLOGY</a:t>
            </a:r>
            <a:endParaRPr lang="en-US" sz="2300" b="1" spc="50" dirty="0">
              <a:solidFill>
                <a:srgbClr val="101010"/>
              </a:solidFill>
              <a:latin typeface="Montserrat Medium"/>
              <a:ea typeface="Montserrat Medium"/>
              <a:cs typeface="Montserrat Medium"/>
              <a:sym typeface="Montserrat Medium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4500955" y="1866623"/>
            <a:ext cx="2758345" cy="245871"/>
            <a:chOff x="0" y="0"/>
            <a:chExt cx="726478" cy="64756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726478" cy="64756"/>
            </a:xfrm>
            <a:custGeom>
              <a:avLst/>
              <a:gdLst/>
              <a:ahLst/>
              <a:cxnLst/>
              <a:rect l="l" t="t" r="r" b="b"/>
              <a:pathLst>
                <a:path w="726478" h="64756">
                  <a:moveTo>
                    <a:pt x="0" y="0"/>
                  </a:moveTo>
                  <a:lnTo>
                    <a:pt x="726478" y="0"/>
                  </a:lnTo>
                  <a:lnTo>
                    <a:pt x="726478" y="64756"/>
                  </a:lnTo>
                  <a:lnTo>
                    <a:pt x="0" y="64756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38100"/>
              <a:ext cx="726478" cy="102856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>
            <a:off x="15098618" y="8772632"/>
            <a:ext cx="177766" cy="266816"/>
          </a:xfrm>
          <a:custGeom>
            <a:avLst/>
            <a:gdLst/>
            <a:ahLst/>
            <a:cxnLst/>
            <a:rect l="l" t="t" r="r" b="b"/>
            <a:pathLst>
              <a:path w="177766" h="266816">
                <a:moveTo>
                  <a:pt x="0" y="0"/>
                </a:moveTo>
                <a:lnTo>
                  <a:pt x="177766" y="0"/>
                </a:lnTo>
                <a:lnTo>
                  <a:pt x="177766" y="266816"/>
                </a:lnTo>
                <a:lnTo>
                  <a:pt x="0" y="266816"/>
                </a:lnTo>
                <a:lnTo>
                  <a:pt x="0" y="0"/>
                </a:lnTo>
                <a:close/>
              </a:path>
            </a:pathLst>
          </a:custGeom>
          <a:blipFill>
            <a:blip r:embed="rId2" cstate="print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Learning Outcomes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51679" y="1346313"/>
            <a:ext cx="15936187" cy="42319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48"/>
              </a:lnSpc>
            </a:pPr>
            <a:endParaRPr dirty="0">
              <a:solidFill>
                <a:srgbClr val="FF0000"/>
              </a:solidFill>
            </a:endParaRPr>
          </a:p>
          <a:p>
            <a:pPr algn="l">
              <a:lnSpc>
                <a:spcPts val="3048"/>
              </a:lnSpc>
            </a:pPr>
            <a:r>
              <a:rPr lang="en-US" sz="2400" b="1" dirty="0" smtClean="0">
                <a:solidFill>
                  <a:srgbClr val="1211CA"/>
                </a:solidFill>
                <a:latin typeface="Montserrat Bold" charset="0"/>
                <a:ea typeface="Montserrat Ultra-Bold"/>
                <a:cs typeface="Montserrat Ultra-Bold"/>
                <a:sym typeface="Montserrat Bold"/>
              </a:rPr>
              <a:t>Session </a:t>
            </a:r>
            <a:r>
              <a:rPr lang="en-US" sz="2400" b="1" dirty="0" smtClean="0">
                <a:solidFill>
                  <a:srgbClr val="1211CA"/>
                </a:solidFill>
                <a:latin typeface="Montserrat Bold" charset="0"/>
                <a:ea typeface="Montserrat Ultra-Bold"/>
                <a:cs typeface="Montserrat Ultra-Bold"/>
                <a:sym typeface="Montserrat Bold"/>
              </a:rPr>
              <a:t>11: Valuation &amp; Forecasting – 1</a:t>
            </a:r>
            <a:endParaRPr lang="en-US" sz="2400" b="1" dirty="0" smtClean="0">
              <a:solidFill>
                <a:srgbClr val="1211CA"/>
              </a:solidFill>
              <a:latin typeface="Montserrat Bold" charset="0"/>
              <a:ea typeface="Montserrat Ultra-Bold"/>
              <a:cs typeface="Montserrat Ultra-Bold"/>
              <a:sym typeface="Montserrat Bold"/>
            </a:endParaRPr>
          </a:p>
          <a:p>
            <a:pPr algn="l">
              <a:lnSpc>
                <a:spcPts val="3048"/>
              </a:lnSpc>
            </a:pPr>
            <a:endParaRPr lang="en-US" sz="2400" b="1" dirty="0" smtClean="0">
              <a:solidFill>
                <a:srgbClr val="1211CA"/>
              </a:solidFill>
              <a:latin typeface="Montserrat Bold" charset="0"/>
              <a:ea typeface="Montserrat Ultra-Bold"/>
              <a:cs typeface="Montserrat Ultra-Bold"/>
              <a:sym typeface="Montserrat Bold"/>
            </a:endParaRPr>
          </a:p>
          <a:p>
            <a:pPr algn="l">
              <a:lnSpc>
                <a:spcPts val="3048"/>
              </a:lnSpc>
            </a:pPr>
            <a:r>
              <a:rPr lang="en-US" sz="2400" dirty="0" smtClean="0">
                <a:latin typeface="Montserrat Bold" charset="0"/>
                <a:ea typeface="Montserrat Ultra-Bold"/>
                <a:cs typeface="Montserrat Ultra-Bold"/>
                <a:sym typeface="Montserrat Bold"/>
              </a:rPr>
              <a:t>By the end of the session, learners will be able to:</a:t>
            </a:r>
            <a:endParaRPr lang="en-US" sz="2400" b="1" dirty="0" smtClean="0">
              <a:latin typeface="Montserrat Bold" charset="0"/>
              <a:ea typeface="Montserrat Ultra-Bold"/>
              <a:cs typeface="Montserrat Ultra-Bold"/>
              <a:sym typeface="Montserrat Bold"/>
            </a:endParaRPr>
          </a:p>
          <a:p>
            <a:pPr marL="518160" lvl="1" indent="-259080">
              <a:lnSpc>
                <a:spcPts val="3048"/>
              </a:lnSpc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Explain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free cash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flow (FCF),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FCFF, FCFE, DCF, and valuation multiples. 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pPr marL="518160" lvl="1" indent="-259080">
              <a:lnSpc>
                <a:spcPts val="3048"/>
              </a:lnSpc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Differentiate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 FCFF from FCFE and P/E from Enterprise Value multiples.</a:t>
            </a:r>
          </a:p>
          <a:p>
            <a:pPr marL="518160" lvl="1" indent="-259080">
              <a:lnSpc>
                <a:spcPts val="3048"/>
              </a:lnSpc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Calculate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 FCFF and FCFE from basic financial data. </a:t>
            </a:r>
          </a:p>
          <a:p>
            <a:pPr marL="518160" lvl="1" indent="-259080">
              <a:lnSpc>
                <a:spcPts val="3048"/>
              </a:lnSpc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Apply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 DCF and multiples-based approaches to estimate company value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.</a:t>
            </a:r>
          </a:p>
          <a:p>
            <a:pPr marL="518160" lvl="1" indent="-259080">
              <a:lnSpc>
                <a:spcPts val="3048"/>
              </a:lnSpc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Compare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 FCFF and FCFE valuations and the impact of capital structure. 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pPr marL="518160" lvl="1" indent="-259080">
              <a:lnSpc>
                <a:spcPts val="3048"/>
              </a:lnSpc>
              <a:buFont typeface="Wingdings" pitchFamily="2" charset="2"/>
              <a:buChar char="§"/>
            </a:pP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Analyze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how discount rates, growth assumptions, and multiples affect valuation.</a:t>
            </a:r>
            <a:endParaRPr lang="en-US" sz="2400" dirty="0" smtClean="0">
              <a:solidFill>
                <a:srgbClr val="2D262A"/>
              </a:solidFill>
              <a:latin typeface="Montserrat"/>
              <a:sym typeface="Montserrat"/>
            </a:endParaRPr>
          </a:p>
          <a:p>
            <a:pPr algn="l">
              <a:lnSpc>
                <a:spcPts val="3048"/>
              </a:lnSpc>
            </a:pPr>
            <a:endParaRPr lang="en-US" sz="2400" dirty="0">
              <a:solidFill>
                <a:srgbClr val="2D262A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Valuation &amp; Forecasting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9971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Valuation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 is the process of estimating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the economic value of an asset, business, or company.</a:t>
            </a: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The value of an asset = The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present value of the future economic benefits that investors expect to receive from it.</a:t>
            </a:r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Valuation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is based on: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Future cash flows 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Earnings 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Growth prospects 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Risk 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Capital requirements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– debt or equity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Market valuations of comparable companies</a:t>
            </a:r>
          </a:p>
          <a:p>
            <a:pPr>
              <a:buFont typeface="Wingdings" pitchFamily="2" charset="2"/>
              <a:buChar char="§"/>
            </a:pP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pPr marL="457200" indent="-457200">
              <a:buAutoNum type="alphaUcPeriod"/>
            </a:pP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pPr lvl="1">
              <a:buFont typeface="Wingdings" pitchFamily="2" charset="2"/>
              <a:buChar char="§"/>
            </a:pP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Valuation &amp; Forecasting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997196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Approaches to Valuation 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There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are two broad ways of thinking about valuation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.</a:t>
            </a: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Intrinsic valuation –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What are the company's future cash flows worth today?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Relative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Valuation –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How much are similar companies being valued by the market? 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pPr marL="457200" indent="-457200"/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Uses of Valuation:</a:t>
            </a:r>
          </a:p>
          <a:p>
            <a:pPr indent="-457200"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Investment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decisions 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pPr indent="-457200"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Mergers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&amp;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Acquisitions (M&amp;A) </a:t>
            </a:r>
          </a:p>
          <a:p>
            <a:pPr indent="-457200"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Initial Public Offer (IPO)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pricing 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pPr indent="-457200"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Sale or Purchase of Business </a:t>
            </a:r>
          </a:p>
          <a:p>
            <a:pPr indent="-457200"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Strategic decisions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pPr marL="457200" indent="-457200"/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pPr lvl="1">
              <a:buFont typeface="Wingdings" pitchFamily="2" charset="2"/>
              <a:buChar char="§"/>
            </a:pP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It is important to note that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 </a:t>
            </a:r>
            <a:r>
              <a:rPr lang="en-US" sz="2400" b="1" dirty="0" smtClean="0">
                <a:latin typeface="Montserrat"/>
              </a:rPr>
              <a:t>Market Price ≠ Intrinsic </a:t>
            </a:r>
            <a:r>
              <a:rPr lang="en-US" sz="2400" b="1" dirty="0" smtClean="0">
                <a:latin typeface="Montserrat"/>
              </a:rPr>
              <a:t>Value</a:t>
            </a:r>
          </a:p>
          <a:p>
            <a:pPr>
              <a:buFont typeface="Wingdings" pitchFamily="2" charset="2"/>
              <a:buChar char="ü"/>
            </a:pP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pPr>
              <a:buFont typeface="Wingdings" pitchFamily="2" charset="2"/>
              <a:buChar char="ü"/>
            </a:pP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Market price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is the price at which the asset is trading.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pPr>
              <a:buFont typeface="Wingdings" pitchFamily="2" charset="2"/>
              <a:buChar char="ü"/>
            </a:pP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Intrinsic value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is an estimate based on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the inherent strength of an asset, i.e., its ability to generate future cash flows.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Valuation &amp; Forecasting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627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Factors that affect the Value of a Business: 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Montserrat"/>
              </a:rPr>
              <a:t>Cash flows: </a:t>
            </a:r>
            <a:r>
              <a:rPr lang="en-US" sz="2400" dirty="0" smtClean="0">
                <a:latin typeface="Montserrat"/>
              </a:rPr>
              <a:t>How </a:t>
            </a:r>
            <a:r>
              <a:rPr lang="en-US" sz="2400" dirty="0" smtClean="0">
                <a:latin typeface="Montserrat"/>
              </a:rPr>
              <a:t>much cash can the business </a:t>
            </a:r>
            <a:r>
              <a:rPr lang="en-US" sz="2400" dirty="0" smtClean="0">
                <a:latin typeface="Montserrat"/>
              </a:rPr>
              <a:t>generate?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Montserrat"/>
              </a:rPr>
              <a:t>Growth: </a:t>
            </a:r>
            <a:r>
              <a:rPr lang="en-US" sz="2400" dirty="0" smtClean="0">
                <a:latin typeface="Montserrat"/>
              </a:rPr>
              <a:t>How </a:t>
            </a:r>
            <a:r>
              <a:rPr lang="en-US" sz="2400" dirty="0" smtClean="0">
                <a:latin typeface="Montserrat"/>
              </a:rPr>
              <a:t>quickly can cash flows grow?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Montserrat"/>
              </a:rPr>
              <a:t>Risk: </a:t>
            </a:r>
            <a:r>
              <a:rPr lang="en-US" sz="2400" dirty="0" smtClean="0">
                <a:latin typeface="Montserrat"/>
              </a:rPr>
              <a:t>How </a:t>
            </a:r>
            <a:r>
              <a:rPr lang="en-US" sz="2400" dirty="0" smtClean="0">
                <a:latin typeface="Montserrat"/>
              </a:rPr>
              <a:t>uncertain are future cash </a:t>
            </a:r>
            <a:r>
              <a:rPr lang="en-US" sz="2400" dirty="0" smtClean="0">
                <a:latin typeface="Montserrat"/>
              </a:rPr>
              <a:t>flows?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Montserrat"/>
              </a:rPr>
              <a:t>Investment </a:t>
            </a:r>
            <a:r>
              <a:rPr lang="en-US" sz="2400" b="1" dirty="0" smtClean="0">
                <a:latin typeface="Montserrat"/>
              </a:rPr>
              <a:t>requirements: </a:t>
            </a:r>
            <a:r>
              <a:rPr lang="en-US" sz="2400" dirty="0" smtClean="0">
                <a:latin typeface="Montserrat"/>
              </a:rPr>
              <a:t>How </a:t>
            </a:r>
            <a:r>
              <a:rPr lang="en-US" sz="2400" dirty="0" smtClean="0">
                <a:latin typeface="Montserrat"/>
              </a:rPr>
              <a:t>much must the company </a:t>
            </a:r>
            <a:r>
              <a:rPr lang="en-US" sz="2400" dirty="0" smtClean="0">
                <a:latin typeface="Montserrat"/>
              </a:rPr>
              <a:t>reinvest?</a:t>
            </a: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Montserrat"/>
              </a:rPr>
              <a:t>Capital structure: </a:t>
            </a:r>
            <a:r>
              <a:rPr lang="en-US" sz="2400" dirty="0" smtClean="0">
                <a:latin typeface="Montserrat"/>
              </a:rPr>
              <a:t>How </a:t>
            </a:r>
            <a:r>
              <a:rPr lang="en-US" sz="2400" dirty="0" smtClean="0">
                <a:latin typeface="Montserrat"/>
              </a:rPr>
              <a:t>much debt and equity does the company use?</a:t>
            </a:r>
            <a:endParaRPr lang="en-US" sz="2400" dirty="0" smtClean="0">
              <a:latin typeface="Montserrat"/>
            </a:endParaRPr>
          </a:p>
          <a:p>
            <a:pPr>
              <a:buFont typeface="Wingdings" pitchFamily="2" charset="2"/>
              <a:buChar char="q"/>
            </a:pPr>
            <a:r>
              <a:rPr lang="en-US" sz="2400" b="1" dirty="0" smtClean="0">
                <a:latin typeface="Montserrat"/>
              </a:rPr>
              <a:t>Terminal value: </a:t>
            </a:r>
            <a:r>
              <a:rPr lang="en-US" sz="2400" dirty="0" smtClean="0">
                <a:latin typeface="Montserrat"/>
              </a:rPr>
              <a:t>What </a:t>
            </a:r>
            <a:r>
              <a:rPr lang="en-US" sz="2400" dirty="0" smtClean="0">
                <a:latin typeface="Montserrat"/>
              </a:rPr>
              <a:t>is the value of the business beyond the explicit forecast period?</a:t>
            </a: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(FCF)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55399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r>
              <a:rPr lang="en-US" sz="2400" b="1" dirty="0" smtClean="0">
                <a:latin typeface="Montserrat"/>
              </a:rPr>
              <a:t>Accounting </a:t>
            </a:r>
            <a:r>
              <a:rPr lang="en-US" sz="2400" b="1" dirty="0" smtClean="0">
                <a:latin typeface="Montserrat"/>
              </a:rPr>
              <a:t>profit measures performance; free cash flow focuses on cash available after necessary investment.</a:t>
            </a:r>
            <a:endParaRPr lang="en-US" sz="2400" b="1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Free Cash Flow (FCF) </a:t>
            </a:r>
            <a:r>
              <a:rPr lang="en-US" sz="2400" dirty="0" smtClean="0">
                <a:latin typeface="Montserrat"/>
              </a:rPr>
              <a:t>is the cash generated by a business after making the investments required to maintain and grow the </a:t>
            </a:r>
            <a:r>
              <a:rPr lang="en-US" sz="2400" dirty="0" smtClean="0">
                <a:latin typeface="Montserrat"/>
              </a:rPr>
              <a:t>business.</a:t>
            </a:r>
          </a:p>
          <a:p>
            <a:endParaRPr lang="en-US" sz="2400" dirty="0" smtClean="0">
              <a:latin typeface="Montserrat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                                    FCF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= Operating Cash Flow − Capital Expenditure</a:t>
            </a: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(FCF)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192" y="1285848"/>
            <a:ext cx="94355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Montserrat"/>
              </a:rPr>
              <a:t>ABC </a:t>
            </a:r>
            <a:r>
              <a:rPr lang="en-US" sz="2400" b="1" dirty="0" smtClean="0">
                <a:latin typeface="Montserrat"/>
              </a:rPr>
              <a:t>Manufacturing Ltd. </a:t>
            </a:r>
            <a:r>
              <a:rPr lang="en-US" sz="2400" b="1" dirty="0" smtClean="0">
                <a:latin typeface="Montserrat"/>
              </a:rPr>
              <a:t>reports the following for FY2026.</a:t>
            </a: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214250" y="5857880"/>
            <a:ext cx="17359239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400" b="1" dirty="0" smtClean="0">
                <a:latin typeface="Montserrat"/>
              </a:rPr>
              <a:t>At first </a:t>
            </a:r>
            <a:r>
              <a:rPr lang="en-US" sz="2400" b="1" dirty="0" smtClean="0">
                <a:latin typeface="Montserrat"/>
              </a:rPr>
              <a:t>glance</a:t>
            </a:r>
            <a:r>
              <a:rPr lang="en-US" sz="2400" b="1" dirty="0" smtClean="0">
                <a:latin typeface="Montserrat"/>
              </a:rPr>
              <a:t>, </a:t>
            </a:r>
            <a:r>
              <a:rPr lang="en-US" sz="2400" b="1" dirty="0" smtClean="0">
                <a:latin typeface="Montserrat"/>
              </a:rPr>
              <a:t>it seems that the </a:t>
            </a:r>
            <a:r>
              <a:rPr lang="en-US" sz="2400" b="1" dirty="0" smtClean="0">
                <a:latin typeface="Montserrat"/>
              </a:rPr>
              <a:t>company earned ₹1,000 </a:t>
            </a:r>
            <a:r>
              <a:rPr lang="en-US" sz="2400" b="1" dirty="0" err="1" smtClean="0">
                <a:latin typeface="Montserrat"/>
              </a:rPr>
              <a:t>crore</a:t>
            </a:r>
            <a:r>
              <a:rPr lang="en-US" sz="2400" b="1" dirty="0" smtClean="0">
                <a:latin typeface="Montserrat"/>
              </a:rPr>
              <a:t>, so it has ₹1,000 </a:t>
            </a:r>
            <a:r>
              <a:rPr lang="en-US" sz="2400" b="1" dirty="0" err="1" smtClean="0">
                <a:latin typeface="Montserrat"/>
              </a:rPr>
              <a:t>crore</a:t>
            </a:r>
            <a:r>
              <a:rPr lang="en-US" sz="2400" b="1" dirty="0" smtClean="0">
                <a:latin typeface="Montserrat"/>
              </a:rPr>
              <a:t> available to distribute</a:t>
            </a:r>
            <a:r>
              <a:rPr lang="en-US" sz="2400" b="1" dirty="0" smtClean="0">
                <a:latin typeface="Montserrat"/>
              </a:rPr>
              <a:t>.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2400" b="1" dirty="0" smtClean="0">
              <a:latin typeface="Montserrat"/>
            </a:endParaRPr>
          </a:p>
          <a:p>
            <a:pPr lvl="0" fontAlgn="base">
              <a:spcBef>
                <a:spcPct val="0"/>
              </a:spcBef>
              <a:spcAft>
                <a:spcPct val="0"/>
              </a:spcAft>
            </a:pPr>
            <a:r>
              <a:rPr lang="en-US" sz="2400" b="1" dirty="0" smtClean="0">
                <a:latin typeface="Montserrat"/>
              </a:rPr>
              <a:t>However, due to accrual accounting &amp; other adjustments,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that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Cash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≠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Profit </a:t>
            </a:r>
            <a:endParaRPr lang="en-US" sz="2400" b="1" dirty="0" smtClean="0">
              <a:solidFill>
                <a:srgbClr val="FF3300"/>
              </a:solidFill>
              <a:latin typeface="Montserra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71572" y="2071666"/>
          <a:ext cx="12192000" cy="32004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6096000"/>
                <a:gridCol w="6096000"/>
              </a:tblGrid>
              <a:tr h="35719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Particulars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₹ crore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Net Profit after 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Inventory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Receivables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Payables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Capital Expenditure – machinery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(FCF)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192" y="1285848"/>
            <a:ext cx="8047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Montserrat"/>
              </a:rPr>
              <a:t>The company reports a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Net Profit of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₹1,000 </a:t>
            </a:r>
            <a:r>
              <a:rPr lang="en-US" sz="2400" b="1" dirty="0" err="1" smtClean="0">
                <a:solidFill>
                  <a:srgbClr val="0000FF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.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214250" y="5857880"/>
            <a:ext cx="1743087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But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net profit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is an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accounting measure,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 not a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direct measure of cash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generated.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It needs to be adjusted</a:t>
            </a: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Add back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Depreciation of ₹200 </a:t>
            </a:r>
            <a:r>
              <a:rPr lang="en-US" sz="2400" b="1" dirty="0" err="1" smtClean="0">
                <a:solidFill>
                  <a:srgbClr val="0000FF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, as no cash is paid for charging depreciation.</a:t>
            </a: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Therefore, we add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depreciation back to profit: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1,000 + ₹200 = ₹1,200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71572" y="2071666"/>
          <a:ext cx="12192000" cy="32004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6096000"/>
                <a:gridCol w="6096000"/>
              </a:tblGrid>
              <a:tr h="35719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Particulars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₹ crore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Net Profit after 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Inventory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Receivables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Payables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Capital Expenditure – machinery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(FCF)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192" y="1285848"/>
            <a:ext cx="8047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Montserrat"/>
              </a:rPr>
              <a:t>The company reports a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Net Profit of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₹1,000 </a:t>
            </a:r>
            <a:r>
              <a:rPr lang="en-US" sz="2400" b="1" dirty="0" err="1" smtClean="0">
                <a:solidFill>
                  <a:srgbClr val="0000FF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.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428564" y="5500690"/>
            <a:ext cx="17430872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Adjustment for Working Capital:</a:t>
            </a: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Working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capital generally includes items such as: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Inventory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Trade receivables </a:t>
            </a:r>
          </a:p>
          <a:p>
            <a:pPr>
              <a:buFont typeface="Wingdings" pitchFamily="2" charset="2"/>
              <a:buChar char="§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Trade payables</a:t>
            </a: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The key question is: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Did the change in working capital consume cash or generate cash?</a:t>
            </a:r>
          </a:p>
          <a:p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Increase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in Inventory =  cash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outflow</a:t>
            </a:r>
          </a:p>
          <a:p>
            <a:endParaRPr lang="en-US" sz="2400" b="1" dirty="0" smtClean="0">
              <a:solidFill>
                <a:srgbClr val="FF3300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Therefore,  ₹100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to be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subtracted: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₹1,200 - ₹100 = ₹1,100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</a:t>
            </a: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71572" y="2071666"/>
          <a:ext cx="12192000" cy="32004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6096000"/>
                <a:gridCol w="6096000"/>
              </a:tblGrid>
              <a:tr h="35719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Particulars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₹ crore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Net Profit after 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Inventory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Receivables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Payables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Capital Expenditure – machinery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(FCF)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192" y="1285848"/>
            <a:ext cx="8047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Montserrat"/>
              </a:rPr>
              <a:t>The company reports a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Net Profit of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₹1,000 </a:t>
            </a:r>
            <a:r>
              <a:rPr lang="en-US" sz="2400" b="1" dirty="0" err="1" smtClean="0">
                <a:solidFill>
                  <a:srgbClr val="0000FF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.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428564" y="5500690"/>
            <a:ext cx="17430872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Adjustment for Trade Receivables:</a:t>
            </a: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Trade receivables increased by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₹50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. It signifies that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the company has made sales to customers but has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not yet collected the cash. 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Therefore, the increase in receivables represents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cash that is temporarily tied up with customers.</a:t>
            </a:r>
          </a:p>
          <a:p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                                  Increase in Receivables = 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cash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outflow</a:t>
            </a:r>
          </a:p>
          <a:p>
            <a:endParaRPr lang="en-US" sz="2400" b="1" dirty="0" smtClean="0">
              <a:solidFill>
                <a:srgbClr val="FF3300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Therefore, 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₹50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to be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subtracted: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1,100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-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₹50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= ₹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1,050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</a:t>
            </a: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71572" y="2071666"/>
          <a:ext cx="12192000" cy="32004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6096000"/>
                <a:gridCol w="6096000"/>
              </a:tblGrid>
              <a:tr h="35719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Particulars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₹ crore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Net Profit after 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Inventory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Receivables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Payables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Capital Expenditure – machinery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(FCF)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192" y="1285848"/>
            <a:ext cx="8047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Montserrat"/>
              </a:rPr>
              <a:t>The company reports a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Net Profit of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₹1,000 </a:t>
            </a:r>
            <a:r>
              <a:rPr lang="en-US" sz="2400" b="1" dirty="0" err="1" smtClean="0">
                <a:solidFill>
                  <a:srgbClr val="0000FF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.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428564" y="5500690"/>
            <a:ext cx="17430872" cy="4154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Adjustment for Trade Payables:</a:t>
            </a: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Trade payables increased by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₹40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. It signifies that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the company has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received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goods/services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but has not yet paid the supplier.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Therefore,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the company has effectively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retained ₹40 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of cash.</a:t>
            </a: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the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increase in receivables represents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cash that is temporarily tied up with customers.</a:t>
            </a:r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                                  Increase in Payables = 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cash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inflow</a:t>
            </a:r>
          </a:p>
          <a:p>
            <a:endParaRPr lang="en-US" sz="2400" b="1" dirty="0" smtClean="0">
              <a:solidFill>
                <a:srgbClr val="FF3300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Therefore, 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₹40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to be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added: ₹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1,050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= ₹40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= ₹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1,090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</a:t>
            </a: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71572" y="2071666"/>
          <a:ext cx="12192000" cy="32004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6096000"/>
                <a:gridCol w="6096000"/>
              </a:tblGrid>
              <a:tr h="35719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Particulars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₹ crore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Net Profit after 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Inventory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Receivables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Payables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Capital Expenditure – machinery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(FCF)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192" y="1285848"/>
            <a:ext cx="8047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Montserrat"/>
              </a:rPr>
              <a:t>The company reports a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Net Profit of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₹1,000 </a:t>
            </a:r>
            <a:r>
              <a:rPr lang="en-US" sz="2400" b="1" dirty="0" err="1" smtClean="0">
                <a:solidFill>
                  <a:srgbClr val="0000FF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.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428564" y="5500690"/>
            <a:ext cx="1743087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Calculating Operating Cash Flow: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71572" y="2071666"/>
          <a:ext cx="12192000" cy="32004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6096000"/>
                <a:gridCol w="6096000"/>
              </a:tblGrid>
              <a:tr h="35719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Particulars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₹ crore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Net Profit after 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Inventory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Receivables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Payables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Capital Expenditure – machinery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2714580" y="6072194"/>
          <a:ext cx="12192000" cy="3931920"/>
        </p:xfrm>
        <a:graphic>
          <a:graphicData uri="http://schemas.openxmlformats.org/drawingml/2006/table">
            <a:tbl>
              <a:tblPr>
                <a:tableStyleId>{FABFCF23-3B69-468F-B69F-88F6DE6A72F2}</a:tableStyleId>
              </a:tblPr>
              <a:tblGrid>
                <a:gridCol w="4064000"/>
                <a:gridCol w="4064000"/>
                <a:gridCol w="4064000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Particulars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₹ crore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Cash-flow adjustment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Net Profit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Starting point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Add: 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+200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Non-cash expense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Less: Increase in Inventory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−100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Cash tied up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Less: Increase in Receivables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−50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Cash not yet collected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Add: Increase in Payables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+40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Cash retained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Operating Cash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1,090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endParaRPr lang="en-US" sz="2400" kern="1200" dirty="0" smtClean="0">
                        <a:solidFill>
                          <a:srgbClr val="2D262A"/>
                        </a:solidFill>
                        <a:latin typeface="Montserrat"/>
                        <a:ea typeface="+mn-ea"/>
                        <a:cs typeface="+mn-cs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(FCF)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192" y="1285848"/>
            <a:ext cx="8047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Montserrat"/>
              </a:rPr>
              <a:t>The company reports a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Net Profit of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₹1,000 </a:t>
            </a:r>
            <a:r>
              <a:rPr lang="en-US" sz="2400" b="1" dirty="0" err="1" smtClean="0">
                <a:solidFill>
                  <a:srgbClr val="0000FF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.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428564" y="5500690"/>
            <a:ext cx="17430872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Adjustment for Capital Investment:</a:t>
            </a: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Company purchased a new machinery for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₹300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.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This is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capital expenditure (</a:t>
            </a:r>
            <a:r>
              <a:rPr lang="en-US" sz="2400" b="1" dirty="0" err="1" smtClean="0">
                <a:solidFill>
                  <a:srgbClr val="0000FF"/>
                </a:solidFill>
                <a:latin typeface="Montserrat"/>
              </a:rPr>
              <a:t>CapEx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).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Unlike depreciation, </a:t>
            </a:r>
            <a:r>
              <a:rPr lang="en-US" sz="2400" b="1" dirty="0" err="1" smtClean="0">
                <a:solidFill>
                  <a:srgbClr val="0000FF"/>
                </a:solidFill>
                <a:latin typeface="Montserrat"/>
              </a:rPr>
              <a:t>CapEx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 represents an actual cash payment.</a:t>
            </a: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The 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company actually paid</a:t>
            </a:r>
            <a:r>
              <a:rPr lang="en-US" sz="2400" dirty="0" smtClean="0">
                <a:solidFill>
                  <a:srgbClr val="2D262A"/>
                </a:solidFill>
                <a:latin typeface="Montserrat"/>
              </a:rPr>
              <a:t>: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₹300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Capital Expenditure = 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cash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inflow</a:t>
            </a:r>
          </a:p>
          <a:p>
            <a:endParaRPr lang="en-US" sz="2400" b="1" dirty="0" smtClean="0">
              <a:solidFill>
                <a:srgbClr val="FF3300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Therefore, 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₹300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to be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subtracted  = ₹ 1,090 - ₹300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= 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₹790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 </a:t>
            </a:r>
            <a:r>
              <a:rPr lang="en-US" sz="2400" b="1" dirty="0" err="1" smtClean="0">
                <a:solidFill>
                  <a:srgbClr val="2D262A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 </a:t>
            </a: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71572" y="2071666"/>
          <a:ext cx="12192000" cy="32004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6096000"/>
                <a:gridCol w="6096000"/>
              </a:tblGrid>
              <a:tr h="35719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Particulars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₹ crore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Net Profit after 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Inventory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Receivables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Payables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Capital Expenditure – machinery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(FCF)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57192" y="1285848"/>
            <a:ext cx="8047396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 smtClean="0">
                <a:latin typeface="Montserrat"/>
              </a:rPr>
              <a:t>The company reports a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Net Profit of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₹1,000 </a:t>
            </a:r>
            <a:r>
              <a:rPr lang="en-US" sz="2400" b="1" dirty="0" err="1" smtClean="0">
                <a:solidFill>
                  <a:srgbClr val="0000FF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.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428564" y="5500690"/>
            <a:ext cx="1743087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2D262A"/>
                </a:solidFill>
                <a:latin typeface="Montserrat"/>
              </a:rPr>
              <a:t>Free Cash Flow (FCF):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Operating Cash Flow -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Capital Expenditure</a:t>
            </a:r>
            <a:endParaRPr lang="en-US" sz="2400" b="1" dirty="0" smtClean="0">
              <a:solidFill>
                <a:srgbClr val="FF3300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FCF = ₹ 1,090 - ₹300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=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₹790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 </a:t>
            </a:r>
            <a:r>
              <a:rPr lang="en-US" sz="2400" b="1" dirty="0" err="1" smtClean="0">
                <a:solidFill>
                  <a:srgbClr val="0000FF"/>
                </a:solidFill>
                <a:latin typeface="Montserrat"/>
              </a:rPr>
              <a:t>crore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 </a:t>
            </a: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571572" y="2071666"/>
          <a:ext cx="12192000" cy="3200400"/>
        </p:xfrm>
        <a:graphic>
          <a:graphicData uri="http://schemas.openxmlformats.org/drawingml/2006/table">
            <a:tbl>
              <a:tblPr>
                <a:tableStyleId>{68D230F3-CF80-4859-8CE7-A43EE81993B5}</a:tableStyleId>
              </a:tblPr>
              <a:tblGrid>
                <a:gridCol w="6096000"/>
                <a:gridCol w="6096000"/>
              </a:tblGrid>
              <a:tr h="35719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Particulars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₹ crore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Net Profit after 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b="1" kern="1200" dirty="0" smtClean="0">
                          <a:solidFill>
                            <a:srgbClr val="FF3300"/>
                          </a:solidFill>
                          <a:latin typeface="Montserrat"/>
                          <a:ea typeface="+mn-ea"/>
                          <a:cs typeface="+mn-cs"/>
                        </a:rPr>
                        <a:t>1,000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Depreciation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Inventory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100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Receivables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Increase in Trade Payables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Capital Expenditure – machinery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4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300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to Firm (FCFF)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500002" y="1428724"/>
            <a:ext cx="17430872" cy="37856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Free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Cash Flow to Firm (FCFF) </a:t>
            </a:r>
            <a:r>
              <a:rPr lang="en-US" sz="2400" dirty="0" smtClean="0">
                <a:latin typeface="Montserrat"/>
              </a:rPr>
              <a:t>is the cash generated by a company's operations that is available to 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all providers of capital</a:t>
            </a:r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:</a:t>
            </a:r>
          </a:p>
          <a:p>
            <a:pPr>
              <a:buFont typeface="Wingdings" pitchFamily="2" charset="2"/>
              <a:buChar char="ü"/>
            </a:pPr>
            <a:endParaRPr lang="en-US" sz="2400" dirty="0" smtClean="0">
              <a:latin typeface="Montserrat"/>
            </a:endParaRP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Montserrat"/>
              </a:rPr>
              <a:t>Equity </a:t>
            </a:r>
            <a:r>
              <a:rPr lang="en-US" sz="2400" dirty="0" smtClean="0">
                <a:latin typeface="Montserrat"/>
              </a:rPr>
              <a:t>shareholders </a:t>
            </a:r>
          </a:p>
          <a:p>
            <a:pPr>
              <a:buFont typeface="Wingdings" pitchFamily="2" charset="2"/>
              <a:buChar char="ü"/>
            </a:pPr>
            <a:r>
              <a:rPr lang="en-US" sz="2400" dirty="0" smtClean="0">
                <a:latin typeface="Montserrat"/>
              </a:rPr>
              <a:t>Debt holders </a:t>
            </a:r>
          </a:p>
          <a:p>
            <a:endParaRPr lang="en-US" sz="2400" dirty="0" smtClean="0">
              <a:latin typeface="Montserrat"/>
            </a:endParaRPr>
          </a:p>
          <a:p>
            <a:r>
              <a:rPr lang="en-US" sz="2400" dirty="0" smtClean="0">
                <a:latin typeface="Montserrat"/>
              </a:rPr>
              <a:t>It </a:t>
            </a:r>
            <a:r>
              <a:rPr lang="en-US" sz="2400" dirty="0" smtClean="0">
                <a:latin typeface="Montserrat"/>
              </a:rPr>
              <a:t>is the </a:t>
            </a:r>
            <a:r>
              <a:rPr lang="en-US" sz="2400" b="1" dirty="0" smtClean="0">
                <a:latin typeface="Montserrat"/>
              </a:rPr>
              <a:t>cash flow generated by the business before payments to debt providers and equity shareholders.</a:t>
            </a:r>
            <a:endParaRPr lang="en-US" sz="2400" b="1" dirty="0" smtClean="0"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49154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428960" y="4643434"/>
            <a:ext cx="11844658" cy="4562482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to Equity (FCFE)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500002" y="1428724"/>
            <a:ext cx="17430872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Free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Cash Flow to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Equity 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(</a:t>
            </a:r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FCFE) </a:t>
            </a:r>
            <a:r>
              <a:rPr lang="en-US" sz="2400" dirty="0" smtClean="0">
                <a:latin typeface="Montserrat"/>
              </a:rPr>
              <a:t>measures </a:t>
            </a:r>
            <a:r>
              <a:rPr lang="en-US" sz="2400" dirty="0" smtClean="0">
                <a:latin typeface="Montserrat"/>
              </a:rPr>
              <a:t>the </a:t>
            </a:r>
            <a:r>
              <a:rPr lang="en-US" sz="2400" dirty="0" smtClean="0">
                <a:latin typeface="Montserrat"/>
              </a:rPr>
              <a:t>cash available specifically to </a:t>
            </a:r>
            <a:r>
              <a:rPr lang="en-US" sz="2400" b="1" dirty="0" smtClean="0">
                <a:latin typeface="Montserrat"/>
              </a:rPr>
              <a:t>equity shareholders after meeting the cash-flow consequences of debt financing.</a:t>
            </a:r>
            <a:endParaRPr lang="en-US" sz="2400" b="1" dirty="0" smtClean="0"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pic>
        <p:nvPicPr>
          <p:cNvPr id="5017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071770" y="2857484"/>
            <a:ext cx="12511288" cy="4519656"/>
          </a:xfrm>
          <a:prstGeom prst="rect">
            <a:avLst/>
          </a:prstGeom>
          <a:noFill/>
          <a:ln w="9525">
            <a:solidFill>
              <a:srgbClr val="0000FF"/>
            </a:solidFill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to Equity (FCFE)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500002" y="1428724"/>
            <a:ext cx="1743087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Example:</a:t>
            </a:r>
            <a:endParaRPr lang="en-US" sz="2400" b="1" dirty="0" smtClean="0"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643010" y="2285980"/>
          <a:ext cx="15716364" cy="6979920"/>
        </p:xfrm>
        <a:graphic>
          <a:graphicData uri="http://schemas.openxmlformats.org/drawingml/2006/table">
            <a:tbl>
              <a:tblPr>
                <a:tableStyleId>{1E171933-4619-4E11-9A3F-F7608DF75F80}</a:tableStyleId>
              </a:tblPr>
              <a:tblGrid>
                <a:gridCol w="2619394"/>
                <a:gridCol w="2619394"/>
                <a:gridCol w="2619394"/>
                <a:gridCol w="2619394"/>
                <a:gridCol w="2619394"/>
                <a:gridCol w="2619394"/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₹ </a:t>
                      </a:r>
                      <a:r>
                        <a:rPr lang="en-US" sz="2000" b="1" kern="1200" dirty="0" err="1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crore</a:t>
                      </a:r>
                      <a:endParaRPr lang="en-US" sz="2000" b="1" kern="1200" dirty="0" smtClean="0">
                        <a:solidFill>
                          <a:srgbClr val="2D262A"/>
                        </a:solidFill>
                        <a:latin typeface="Montserra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FY2020–21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FY2021–22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FY2022–23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FY2023–24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FY2024–25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Profit after tax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33,388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38,449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42,303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46,099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48,797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Effective tax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25.5%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25.6%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25.7%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25.8%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25.3%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EBIT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25.9%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25.3%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24.1%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24.6%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24.3%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1,64,177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1,91,754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2,25,458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2,40,893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2,55,324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EBIT = Revenue × EBIT margin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42,520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48,514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54,336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59,260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62,045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D&amp;A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4,929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5,337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5,586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4,985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5,242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Operating cash flow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39,929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45,067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44,000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44,990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49,139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3,119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2,876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3,155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3,063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2,650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FCFF ≈ CFO − CapEx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36,810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42,191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40,845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41,927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46,489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Cash interest / finance cost*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~600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~700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778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796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Net borrowing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FCFE ≈ CFO − CapEx − Interest + Net Borrowing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36,210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41,591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40,145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41,149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45,693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851679" y="960629"/>
            <a:ext cx="1856645" cy="68071"/>
            <a:chOff x="0" y="0"/>
            <a:chExt cx="488993" cy="1792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88993" cy="17928"/>
            </a:xfrm>
            <a:custGeom>
              <a:avLst/>
              <a:gdLst/>
              <a:ahLst/>
              <a:cxnLst/>
              <a:rect l="l" t="t" r="r" b="b"/>
              <a:pathLst>
                <a:path w="488993" h="17928">
                  <a:moveTo>
                    <a:pt x="0" y="0"/>
                  </a:moveTo>
                  <a:lnTo>
                    <a:pt x="488993" y="0"/>
                  </a:lnTo>
                  <a:lnTo>
                    <a:pt x="488993" y="17928"/>
                  </a:lnTo>
                  <a:lnTo>
                    <a:pt x="0" y="17928"/>
                  </a:lnTo>
                  <a:close/>
                </a:path>
              </a:pathLst>
            </a:custGeom>
            <a:solidFill>
              <a:srgbClr val="F9B314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88993" cy="5602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851679" y="350742"/>
            <a:ext cx="16407621" cy="508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47"/>
              </a:lnSpc>
            </a:pPr>
            <a:r>
              <a:rPr lang="en-US" sz="42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Free Cash Flow to Equity (FCFE)</a:t>
            </a:r>
            <a:endParaRPr lang="en-US" sz="42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57126" y="1500162"/>
            <a:ext cx="17406998" cy="33239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2400" b="1" dirty="0" smtClean="0">
                <a:solidFill>
                  <a:srgbClr val="0000FF"/>
                </a:solidFill>
                <a:latin typeface="Montserrat"/>
              </a:rPr>
              <a:t>	</a:t>
            </a:r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dirty="0" smtClean="0"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7030A0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sp>
        <p:nvSpPr>
          <p:cNvPr id="37889" name="Rectangle 1"/>
          <p:cNvSpPr>
            <a:spLocks noChangeArrowheads="1"/>
          </p:cNvSpPr>
          <p:nvPr/>
        </p:nvSpPr>
        <p:spPr bwMode="auto">
          <a:xfrm>
            <a:off x="500002" y="1428724"/>
            <a:ext cx="17430872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400" b="1" dirty="0" smtClean="0">
                <a:solidFill>
                  <a:srgbClr val="FF3300"/>
                </a:solidFill>
                <a:latin typeface="Montserrat"/>
              </a:rPr>
              <a:t>Example:</a:t>
            </a:r>
            <a:endParaRPr lang="en-US" sz="2400" b="1" dirty="0" smtClean="0"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0000FF"/>
              </a:solidFill>
              <a:latin typeface="Montserrat"/>
            </a:endParaRPr>
          </a:p>
          <a:p>
            <a:endParaRPr lang="en-US" sz="2400" b="1" dirty="0" smtClean="0">
              <a:solidFill>
                <a:srgbClr val="2D262A"/>
              </a:solidFill>
              <a:latin typeface="Montserrat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928630" y="2071666"/>
          <a:ext cx="16287864" cy="777240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714644"/>
                <a:gridCol w="2714644"/>
                <a:gridCol w="2714644"/>
                <a:gridCol w="2714644"/>
                <a:gridCol w="2714644"/>
                <a:gridCol w="2714644"/>
              </a:tblGrid>
              <a:tr h="0">
                <a:tc>
                  <a:txBody>
                    <a:bodyPr/>
                    <a:lstStyle/>
                    <a:p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₹ </a:t>
                      </a:r>
                      <a:r>
                        <a:rPr lang="en-US" sz="2000" b="1" kern="1200" dirty="0" err="1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crore</a:t>
                      </a:r>
                      <a:endParaRPr lang="en-US" sz="2000" b="1" kern="1200" dirty="0" smtClean="0">
                        <a:solidFill>
                          <a:srgbClr val="2D262A"/>
                        </a:solidFill>
                        <a:latin typeface="Montserra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FY2020–21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FY2021–22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FY2022–23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FY2023–24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b="1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FY2024–25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5,39,238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7,88,743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9,74,864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10,00,122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10,71,174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EBITDA / EBDIT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97,580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1,23,684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1,53,920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1,78,290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1,83,422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D&amp;A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26,572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29,782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40,303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50,832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53,136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EBIT = EBITDA − D&amp;A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71,008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93,902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1,13,617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1,27,458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1,30,286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Approx. effective tax 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~25%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~23%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NOPAT = EBIT × (1−Tax)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53,256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70,427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85,213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95,594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1,00,320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D&amp;A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26,572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29,782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40,303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50,832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53,136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Less: CapEx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~1,28,000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~1,09,000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1,41,809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1,31,769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1,39,967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Less: ΔNWC / operating working-capital investment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~15,000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~15,000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~6,366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~23,724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FCFF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~(63,172)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~(18,791)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~(31,293)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~8,291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~(10,235)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CFO — reported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1,15,032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1,58,788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1,78,703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Cash interest paid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~21,650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37,173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41,024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Net borrowing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~38,075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9,262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19,247</a:t>
                      </a:r>
                    </a:p>
                  </a:txBody>
                  <a:tcPr anchor="ctr"/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FCFE — cash-flow approach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~(10,352)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~(833)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2000" kern="1200" dirty="0" smtClean="0">
                          <a:solidFill>
                            <a:srgbClr val="2D262A"/>
                          </a:solidFill>
                          <a:latin typeface="Montserrat"/>
                          <a:ea typeface="+mn-ea"/>
                          <a:cs typeface="+mn-cs"/>
                        </a:rPr>
                        <a:t>17,?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5"/>
          <p:cNvSpPr txBox="1"/>
          <p:nvPr/>
        </p:nvSpPr>
        <p:spPr>
          <a:xfrm>
            <a:off x="1142944" y="4857748"/>
            <a:ext cx="16407621" cy="584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47"/>
              </a:lnSpc>
            </a:pPr>
            <a:r>
              <a:rPr lang="en-US" sz="6600" b="1" dirty="0" smtClean="0">
                <a:solidFill>
                  <a:srgbClr val="1211CA"/>
                </a:solidFill>
                <a:latin typeface="Montserrat Ultra-Bold"/>
                <a:ea typeface="Montserrat Ultra-Bold"/>
                <a:cs typeface="Montserrat Ultra-Bold"/>
                <a:sym typeface="Montserrat Ultra-Bold"/>
              </a:rPr>
              <a:t>Thank You!</a:t>
            </a:r>
            <a:endParaRPr lang="en-US" sz="6600" b="1" dirty="0">
              <a:solidFill>
                <a:srgbClr val="1211CA"/>
              </a:solidFill>
              <a:latin typeface="Montserrat Ultra-Bold"/>
              <a:ea typeface="Montserrat Ultra-Bold"/>
              <a:cs typeface="Montserrat Ultra-Bold"/>
              <a:sym typeface="Montserrat Ultra-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=""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2044</TotalTime>
  <Words>1152</Words>
  <Application>Microsoft Office PowerPoint</Application>
  <PresentationFormat>Custom</PresentationFormat>
  <Paragraphs>573</Paragraphs>
  <Slides>19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7" baseType="lpstr">
      <vt:lpstr>Arial</vt:lpstr>
      <vt:lpstr>Calibri</vt:lpstr>
      <vt:lpstr>Montserrat Ultra-Bold</vt:lpstr>
      <vt:lpstr>Montserrat Medium</vt:lpstr>
      <vt:lpstr>Montserrat Bold</vt:lpstr>
      <vt:lpstr>Montserrat</vt:lpstr>
      <vt:lpstr>Wingdings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Study Kmart</dc:title>
  <dc:creator>RAJEEVKUMAR</dc:creator>
  <cp:lastModifiedBy>Rajeev Kumar</cp:lastModifiedBy>
  <cp:revision>408</cp:revision>
  <dcterms:created xsi:type="dcterms:W3CDTF">2006-08-16T00:00:00Z</dcterms:created>
  <dcterms:modified xsi:type="dcterms:W3CDTF">2026-09-22T04:37:36Z</dcterms:modified>
  <dc:identifier>DAG70dRMM_s</dc:identifier>
</cp:coreProperties>
</file>