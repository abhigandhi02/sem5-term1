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53"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4092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784080" y="-1463040"/>
            <a:ext cx="4754880" cy="4754880"/>
          </a:xfrm>
          <a:prstGeom prst="ellipse">
            <a:avLst/>
          </a:prstGeom>
          <a:solidFill>
            <a:srgbClr val="141B47"/>
          </a:solidFill>
          <a:ln/>
        </p:spPr>
        <p:txBody>
          <a:bodyPr/>
          <a:lstStyle/>
          <a:p>
            <a:endParaRPr lang="en-IN"/>
          </a:p>
        </p:txBody>
      </p:sp>
      <p:sp>
        <p:nvSpPr>
          <p:cNvPr id="3" name="Shape 1"/>
          <p:cNvSpPr/>
          <p:nvPr/>
        </p:nvSpPr>
        <p:spPr>
          <a:xfrm>
            <a:off x="-1737360" y="4937760"/>
            <a:ext cx="4023360" cy="4023360"/>
          </a:xfrm>
          <a:prstGeom prst="ellipse">
            <a:avLst/>
          </a:prstGeom>
          <a:solidFill>
            <a:srgbClr val="141B47"/>
          </a:solidFill>
          <a:ln/>
        </p:spPr>
        <p:txBody>
          <a:bodyPr/>
          <a:lstStyle/>
          <a:p>
            <a:endParaRPr lang="en-IN"/>
          </a:p>
        </p:txBody>
      </p:sp>
      <p:sp>
        <p:nvSpPr>
          <p:cNvPr id="4" name="Shape 2"/>
          <p:cNvSpPr/>
          <p:nvPr/>
        </p:nvSpPr>
        <p:spPr>
          <a:xfrm>
            <a:off x="685800" y="685800"/>
            <a:ext cx="685800" cy="685800"/>
          </a:xfrm>
          <a:prstGeom prst="ellipse">
            <a:avLst/>
          </a:prstGeom>
          <a:solidFill>
            <a:srgbClr val="B8912F"/>
          </a:solidFill>
          <a:ln/>
        </p:spPr>
        <p:txBody>
          <a:bodyPr/>
          <a:lstStyle/>
          <a:p>
            <a:endParaRPr lang="en-IN"/>
          </a:p>
        </p:txBody>
      </p:sp>
      <p:sp>
        <p:nvSpPr>
          <p:cNvPr id="5" name="Text 3"/>
          <p:cNvSpPr txBox="1"/>
          <p:nvPr/>
        </p:nvSpPr>
        <p:spPr>
          <a:xfrm>
            <a:off x="685800" y="685800"/>
            <a:ext cx="685800" cy="6858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685800" y="1554480"/>
            <a:ext cx="8229600" cy="320040"/>
          </a:xfrm>
          <a:prstGeom prst="rect">
            <a:avLst/>
          </a:prstGeom>
          <a:noFill/>
          <a:ln/>
        </p:spPr>
        <p:txBody>
          <a:bodyPr wrap="square" lIns="0" tIns="0" rIns="0" bIns="0" rtlCol="0" anchor="ctr"/>
          <a:lstStyle/>
          <a:p>
            <a:pPr marL="0" indent="0">
              <a:buNone/>
            </a:pPr>
            <a:r>
              <a:rPr lang="en-US" sz="2000" b="1" kern="0" spc="200" dirty="0">
                <a:solidFill>
                  <a:schemeClr val="accent2"/>
                </a:solidFill>
                <a:latin typeface="Calibri" pitchFamily="34" charset="0"/>
                <a:ea typeface="Calibri" pitchFamily="34" charset="-122"/>
                <a:cs typeface="Calibri" pitchFamily="34" charset="-120"/>
              </a:rPr>
              <a:t>Debt &amp; Equity Instruments</a:t>
            </a:r>
            <a:endParaRPr lang="en-US" sz="2000" dirty="0">
              <a:solidFill>
                <a:schemeClr val="accent2"/>
              </a:solidFill>
            </a:endParaRPr>
          </a:p>
        </p:txBody>
      </p:sp>
      <p:sp>
        <p:nvSpPr>
          <p:cNvPr id="7" name="Text 5"/>
          <p:cNvSpPr txBox="1"/>
          <p:nvPr/>
        </p:nvSpPr>
        <p:spPr>
          <a:xfrm>
            <a:off x="640080" y="1965960"/>
            <a:ext cx="100584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Bonds &amp; Stocks</a:t>
            </a:r>
            <a:endParaRPr lang="en-US" sz="5400" dirty="0"/>
          </a:p>
        </p:txBody>
      </p:sp>
      <p:sp>
        <p:nvSpPr>
          <p:cNvPr id="8" name="Text 6"/>
          <p:cNvSpPr txBox="1"/>
          <p:nvPr/>
        </p:nvSpPr>
        <p:spPr>
          <a:xfrm>
            <a:off x="685800" y="3063240"/>
            <a:ext cx="9601200" cy="822960"/>
          </a:xfrm>
          <a:prstGeom prst="rect">
            <a:avLst/>
          </a:prstGeom>
          <a:noFill/>
          <a:ln/>
        </p:spPr>
        <p:txBody>
          <a:bodyPr wrap="square" lIns="0" tIns="0" rIns="0" bIns="0" rtlCol="0" anchor="ctr"/>
          <a:lstStyle/>
          <a:p>
            <a:pPr marL="0" indent="0">
              <a:lnSpc>
                <a:spcPct val="120000"/>
              </a:lnSpc>
              <a:buNone/>
            </a:pPr>
            <a:r>
              <a:rPr lang="en-US" sz="2000" dirty="0">
                <a:solidFill>
                  <a:schemeClr val="bg1"/>
                </a:solidFill>
                <a:latin typeface="Calibri" pitchFamily="34" charset="0"/>
                <a:ea typeface="Calibri" pitchFamily="34" charset="-122"/>
                <a:cs typeface="Calibri" pitchFamily="34" charset="-120"/>
              </a:rPr>
              <a:t>Meaning, Features &amp; Terminologies</a:t>
            </a:r>
            <a:endParaRPr lang="en-US" sz="2000" dirty="0">
              <a:solidFill>
                <a:schemeClr val="bg1"/>
              </a:solidFill>
            </a:endParaRPr>
          </a:p>
        </p:txBody>
      </p:sp>
      <p:sp>
        <p:nvSpPr>
          <p:cNvPr id="9" name="Shape 7"/>
          <p:cNvSpPr/>
          <p:nvPr/>
        </p:nvSpPr>
        <p:spPr>
          <a:xfrm>
            <a:off x="685800" y="4114800"/>
            <a:ext cx="2926080" cy="0"/>
          </a:xfrm>
          <a:prstGeom prst="line">
            <a:avLst/>
          </a:prstGeom>
          <a:noFill/>
          <a:ln w="25400">
            <a:solidFill>
              <a:srgbClr val="B8912F"/>
            </a:solidFill>
            <a:prstDash val="solid"/>
          </a:ln>
        </p:spPr>
        <p:txBody>
          <a:bodyPr/>
          <a:lstStyle/>
          <a:p>
            <a:endParaRPr lang="en-IN"/>
          </a:p>
        </p:txBody>
      </p:sp>
      <p:sp>
        <p:nvSpPr>
          <p:cNvPr id="10" name="Text 8"/>
          <p:cNvSpPr txBox="1"/>
          <p:nvPr/>
        </p:nvSpPr>
        <p:spPr>
          <a:xfrm>
            <a:off x="685800" y="4343400"/>
            <a:ext cx="10515600" cy="365760"/>
          </a:xfrm>
          <a:prstGeom prst="rect">
            <a:avLst/>
          </a:prstGeom>
          <a:noFill/>
          <a:ln/>
        </p:spPr>
        <p:txBody>
          <a:bodyPr wrap="square" lIns="0" tIns="0" rIns="0" bIns="0" rtlCol="0" anchor="ctr"/>
          <a:lstStyle/>
          <a:p>
            <a:pPr marL="0" indent="0">
              <a:buNone/>
            </a:pPr>
            <a:r>
              <a:rPr lang="en-US" b="1" dirty="0">
                <a:solidFill>
                  <a:schemeClr val="bg1"/>
                </a:solidFill>
                <a:latin typeface="Calibri" pitchFamily="34" charset="0"/>
                <a:ea typeface="Calibri" pitchFamily="34" charset="-122"/>
                <a:cs typeface="Calibri" pitchFamily="34" charset="-120"/>
              </a:rPr>
              <a:t>Coupon Rate   •  Nominal Value   •  Redemption   •  Yield to Maturity   •  Dividend Growth</a:t>
            </a:r>
            <a:endParaRPr lang="en-US" dirty="0">
              <a:solidFill>
                <a:schemeClr val="bg1"/>
              </a:solidFill>
            </a:endParaRPr>
          </a:p>
        </p:txBody>
      </p:sp>
      <p:sp>
        <p:nvSpPr>
          <p:cNvPr id="11" name="Text 9"/>
          <p:cNvSpPr txBox="1"/>
          <p:nvPr/>
        </p:nvSpPr>
        <p:spPr>
          <a:xfrm>
            <a:off x="685800" y="6172200"/>
            <a:ext cx="7315200" cy="274320"/>
          </a:xfrm>
          <a:prstGeom prst="rect">
            <a:avLst/>
          </a:prstGeom>
          <a:noFill/>
          <a:ln/>
        </p:spPr>
        <p:txBody>
          <a:bodyPr wrap="square" lIns="0" tIns="0" rIns="0" bIns="0"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All figures illustrative, in Indian Rupees (₹), for teaching purposes.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B8912F"/>
                </a:solidFill>
                <a:latin typeface="Calibri" pitchFamily="34" charset="0"/>
                <a:ea typeface="Calibri" pitchFamily="34" charset="-122"/>
                <a:cs typeface="Calibri" pitchFamily="34" charset="-120"/>
              </a:rPr>
              <a:t>FOUNDATIONS</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Features of Debt as a Source of Finance</a:t>
            </a:r>
            <a:endParaRPr lang="en-US" sz="3000" dirty="0"/>
          </a:p>
        </p:txBody>
      </p:sp>
      <p:sp>
        <p:nvSpPr>
          <p:cNvPr id="4" name="Shape 2"/>
          <p:cNvSpPr/>
          <p:nvPr/>
        </p:nvSpPr>
        <p:spPr>
          <a:xfrm>
            <a:off x="548640" y="1417320"/>
            <a:ext cx="3566160" cy="1554480"/>
          </a:xfrm>
          <a:prstGeom prst="roundRect">
            <a:avLst>
              <a:gd name="adj" fmla="val 3529"/>
            </a:avLst>
          </a:prstGeom>
          <a:solidFill>
            <a:srgbClr val="EEF3FD"/>
          </a:solidFill>
          <a:ln/>
        </p:spPr>
        <p:txBody>
          <a:bodyPr/>
          <a:lstStyle/>
          <a:p>
            <a:endParaRPr lang="en-IN"/>
          </a:p>
        </p:txBody>
      </p:sp>
      <p:sp>
        <p:nvSpPr>
          <p:cNvPr id="5" name="Shape 3"/>
          <p:cNvSpPr/>
          <p:nvPr/>
        </p:nvSpPr>
        <p:spPr>
          <a:xfrm>
            <a:off x="749808" y="1618488"/>
            <a:ext cx="420624" cy="420624"/>
          </a:xfrm>
          <a:prstGeom prst="ellipse">
            <a:avLst/>
          </a:prstGeom>
          <a:solidFill>
            <a:srgbClr val="B8912F"/>
          </a:solidFill>
          <a:ln/>
        </p:spPr>
        <p:txBody>
          <a:bodyPr/>
          <a:lstStyle/>
          <a:p>
            <a:endParaRPr lang="en-IN"/>
          </a:p>
        </p:txBody>
      </p:sp>
      <p:sp>
        <p:nvSpPr>
          <p:cNvPr id="6" name="Text 4"/>
          <p:cNvSpPr txBox="1"/>
          <p:nvPr/>
        </p:nvSpPr>
        <p:spPr>
          <a:xfrm>
            <a:off x="749808" y="16184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749808" y="2148840"/>
            <a:ext cx="3163824"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Contractual Obligation</a:t>
            </a:r>
            <a:endParaRPr lang="en-US" sz="1350" dirty="0"/>
          </a:p>
        </p:txBody>
      </p:sp>
      <p:sp>
        <p:nvSpPr>
          <p:cNvPr id="8" name="Text 6"/>
          <p:cNvSpPr txBox="1"/>
          <p:nvPr/>
        </p:nvSpPr>
        <p:spPr>
          <a:xfrm>
            <a:off x="749808" y="2450592"/>
            <a:ext cx="3163824" cy="457200"/>
          </a:xfrm>
          <a:prstGeom prst="rect">
            <a:avLst/>
          </a:prstGeom>
          <a:noFill/>
          <a:ln/>
        </p:spPr>
        <p:txBody>
          <a:bodyPr wrap="square" lIns="0" tIns="0" rIns="0" bIns="0" rtlCol="0" anchor="ctr"/>
          <a:lstStyle/>
          <a:p>
            <a:pPr marL="0" indent="0">
              <a:buNone/>
            </a:pPr>
            <a:r>
              <a:rPr lang="en-US" sz="1050" dirty="0">
                <a:solidFill>
                  <a:srgbClr val="5A6B87"/>
                </a:solidFill>
                <a:latin typeface="Calibri" pitchFamily="34" charset="0"/>
                <a:ea typeface="Calibri" pitchFamily="34" charset="-122"/>
                <a:cs typeface="Calibri" pitchFamily="34" charset="-120"/>
              </a:rPr>
              <a:t>Issuer must pay interest &amp; repay principal regardless of profit.</a:t>
            </a:r>
            <a:endParaRPr lang="en-US" sz="1050" dirty="0"/>
          </a:p>
        </p:txBody>
      </p:sp>
      <p:sp>
        <p:nvSpPr>
          <p:cNvPr id="9" name="Shape 7"/>
          <p:cNvSpPr/>
          <p:nvPr/>
        </p:nvSpPr>
        <p:spPr>
          <a:xfrm>
            <a:off x="4343400" y="1417320"/>
            <a:ext cx="3566160" cy="1554480"/>
          </a:xfrm>
          <a:prstGeom prst="roundRect">
            <a:avLst>
              <a:gd name="adj" fmla="val 3529"/>
            </a:avLst>
          </a:prstGeom>
          <a:solidFill>
            <a:srgbClr val="EEF3FD"/>
          </a:solidFill>
          <a:ln/>
        </p:spPr>
        <p:txBody>
          <a:bodyPr/>
          <a:lstStyle/>
          <a:p>
            <a:endParaRPr lang="en-IN"/>
          </a:p>
        </p:txBody>
      </p:sp>
      <p:sp>
        <p:nvSpPr>
          <p:cNvPr id="10" name="Shape 8"/>
          <p:cNvSpPr/>
          <p:nvPr/>
        </p:nvSpPr>
        <p:spPr>
          <a:xfrm>
            <a:off x="4544568" y="1618488"/>
            <a:ext cx="420624" cy="420624"/>
          </a:xfrm>
          <a:prstGeom prst="ellipse">
            <a:avLst/>
          </a:prstGeom>
          <a:solidFill>
            <a:srgbClr val="B8912F"/>
          </a:solidFill>
          <a:ln/>
        </p:spPr>
        <p:txBody>
          <a:bodyPr/>
          <a:lstStyle/>
          <a:p>
            <a:endParaRPr lang="en-IN"/>
          </a:p>
        </p:txBody>
      </p:sp>
      <p:sp>
        <p:nvSpPr>
          <p:cNvPr id="11" name="Text 9"/>
          <p:cNvSpPr txBox="1"/>
          <p:nvPr/>
        </p:nvSpPr>
        <p:spPr>
          <a:xfrm>
            <a:off x="4544568" y="16184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544568" y="2148840"/>
            <a:ext cx="3163824"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Fixed Periodic Payments</a:t>
            </a:r>
            <a:endParaRPr lang="en-US" sz="1350" dirty="0"/>
          </a:p>
        </p:txBody>
      </p:sp>
      <p:sp>
        <p:nvSpPr>
          <p:cNvPr id="13" name="Text 11"/>
          <p:cNvSpPr txBox="1"/>
          <p:nvPr/>
        </p:nvSpPr>
        <p:spPr>
          <a:xfrm>
            <a:off x="4544568" y="2450592"/>
            <a:ext cx="3163824" cy="457200"/>
          </a:xfrm>
          <a:prstGeom prst="rect">
            <a:avLst/>
          </a:prstGeom>
          <a:noFill/>
          <a:ln/>
        </p:spPr>
        <p:txBody>
          <a:bodyPr wrap="square" lIns="0" tIns="0" rIns="0" bIns="0" rtlCol="0" anchor="ctr"/>
          <a:lstStyle/>
          <a:p>
            <a:pPr marL="0" indent="0">
              <a:buNone/>
            </a:pPr>
            <a:r>
              <a:rPr lang="en-US" sz="1050" dirty="0">
                <a:solidFill>
                  <a:srgbClr val="5A6B87"/>
                </a:solidFill>
                <a:latin typeface="Calibri" pitchFamily="34" charset="0"/>
                <a:ea typeface="Calibri" pitchFamily="34" charset="-122"/>
                <a:cs typeface="Calibri" pitchFamily="34" charset="-120"/>
              </a:rPr>
              <a:t>Coupon is pre-set — unlike discretionary equity dividends.</a:t>
            </a:r>
            <a:endParaRPr lang="en-US" sz="1050" dirty="0"/>
          </a:p>
        </p:txBody>
      </p:sp>
      <p:sp>
        <p:nvSpPr>
          <p:cNvPr id="14" name="Shape 12"/>
          <p:cNvSpPr/>
          <p:nvPr/>
        </p:nvSpPr>
        <p:spPr>
          <a:xfrm>
            <a:off x="8138160" y="1417320"/>
            <a:ext cx="3566160" cy="1554480"/>
          </a:xfrm>
          <a:prstGeom prst="roundRect">
            <a:avLst>
              <a:gd name="adj" fmla="val 3529"/>
            </a:avLst>
          </a:prstGeom>
          <a:solidFill>
            <a:srgbClr val="EEF3FD"/>
          </a:solidFill>
          <a:ln/>
        </p:spPr>
        <p:txBody>
          <a:bodyPr/>
          <a:lstStyle/>
          <a:p>
            <a:endParaRPr lang="en-IN"/>
          </a:p>
        </p:txBody>
      </p:sp>
      <p:sp>
        <p:nvSpPr>
          <p:cNvPr id="15" name="Shape 13"/>
          <p:cNvSpPr/>
          <p:nvPr/>
        </p:nvSpPr>
        <p:spPr>
          <a:xfrm>
            <a:off x="8339328" y="1618488"/>
            <a:ext cx="420624" cy="420624"/>
          </a:xfrm>
          <a:prstGeom prst="ellipse">
            <a:avLst/>
          </a:prstGeom>
          <a:solidFill>
            <a:srgbClr val="B8912F"/>
          </a:solidFill>
          <a:ln/>
        </p:spPr>
        <p:txBody>
          <a:bodyPr/>
          <a:lstStyle/>
          <a:p>
            <a:endParaRPr lang="en-IN"/>
          </a:p>
        </p:txBody>
      </p:sp>
      <p:sp>
        <p:nvSpPr>
          <p:cNvPr id="16" name="Text 14"/>
          <p:cNvSpPr txBox="1"/>
          <p:nvPr/>
        </p:nvSpPr>
        <p:spPr>
          <a:xfrm>
            <a:off x="8339328" y="16184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8339328" y="2148840"/>
            <a:ext cx="3163824"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Priority Over Equity</a:t>
            </a:r>
            <a:endParaRPr lang="en-US" sz="1350" dirty="0"/>
          </a:p>
        </p:txBody>
      </p:sp>
      <p:sp>
        <p:nvSpPr>
          <p:cNvPr id="18" name="Text 16"/>
          <p:cNvSpPr txBox="1"/>
          <p:nvPr/>
        </p:nvSpPr>
        <p:spPr>
          <a:xfrm>
            <a:off x="8339328" y="2450592"/>
            <a:ext cx="3163824" cy="457200"/>
          </a:xfrm>
          <a:prstGeom prst="rect">
            <a:avLst/>
          </a:prstGeom>
          <a:noFill/>
          <a:ln/>
        </p:spPr>
        <p:txBody>
          <a:bodyPr wrap="square" lIns="0" tIns="0" rIns="0" bIns="0" rtlCol="0" anchor="ctr"/>
          <a:lstStyle/>
          <a:p>
            <a:pPr marL="0" indent="0">
              <a:buNone/>
            </a:pPr>
            <a:r>
              <a:rPr lang="en-US" sz="1050" dirty="0">
                <a:solidFill>
                  <a:srgbClr val="5A6B87"/>
                </a:solidFill>
                <a:latin typeface="Calibri" pitchFamily="34" charset="0"/>
                <a:ea typeface="Calibri" pitchFamily="34" charset="-122"/>
                <a:cs typeface="Calibri" pitchFamily="34" charset="-120"/>
              </a:rPr>
              <a:t>Debt holders are paid before shareholders, even on liquidation.</a:t>
            </a:r>
            <a:endParaRPr lang="en-US" sz="1050" dirty="0"/>
          </a:p>
        </p:txBody>
      </p:sp>
      <p:sp>
        <p:nvSpPr>
          <p:cNvPr id="19" name="Shape 17"/>
          <p:cNvSpPr/>
          <p:nvPr/>
        </p:nvSpPr>
        <p:spPr>
          <a:xfrm>
            <a:off x="548640" y="3200400"/>
            <a:ext cx="3566160" cy="1554480"/>
          </a:xfrm>
          <a:prstGeom prst="roundRect">
            <a:avLst>
              <a:gd name="adj" fmla="val 3529"/>
            </a:avLst>
          </a:prstGeom>
          <a:solidFill>
            <a:srgbClr val="EEF3FD"/>
          </a:solidFill>
          <a:ln/>
        </p:spPr>
        <p:txBody>
          <a:bodyPr/>
          <a:lstStyle/>
          <a:p>
            <a:endParaRPr lang="en-IN"/>
          </a:p>
        </p:txBody>
      </p:sp>
      <p:sp>
        <p:nvSpPr>
          <p:cNvPr id="20" name="Shape 18"/>
          <p:cNvSpPr/>
          <p:nvPr/>
        </p:nvSpPr>
        <p:spPr>
          <a:xfrm>
            <a:off x="749808" y="3401568"/>
            <a:ext cx="420624" cy="420624"/>
          </a:xfrm>
          <a:prstGeom prst="ellipse">
            <a:avLst/>
          </a:prstGeom>
          <a:solidFill>
            <a:srgbClr val="B8912F"/>
          </a:solidFill>
          <a:ln/>
        </p:spPr>
        <p:txBody>
          <a:bodyPr/>
          <a:lstStyle/>
          <a:p>
            <a:endParaRPr lang="en-IN"/>
          </a:p>
        </p:txBody>
      </p:sp>
      <p:sp>
        <p:nvSpPr>
          <p:cNvPr id="21" name="Text 19"/>
          <p:cNvSpPr txBox="1"/>
          <p:nvPr/>
        </p:nvSpPr>
        <p:spPr>
          <a:xfrm>
            <a:off x="749808" y="340156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49808" y="3931920"/>
            <a:ext cx="3163824"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No Ownership / Voting</a:t>
            </a:r>
            <a:endParaRPr lang="en-US" sz="1350" dirty="0"/>
          </a:p>
        </p:txBody>
      </p:sp>
      <p:sp>
        <p:nvSpPr>
          <p:cNvPr id="23" name="Text 21"/>
          <p:cNvSpPr txBox="1"/>
          <p:nvPr/>
        </p:nvSpPr>
        <p:spPr>
          <a:xfrm>
            <a:off x="749808" y="4233672"/>
            <a:ext cx="3163824" cy="457200"/>
          </a:xfrm>
          <a:prstGeom prst="rect">
            <a:avLst/>
          </a:prstGeom>
          <a:noFill/>
          <a:ln/>
        </p:spPr>
        <p:txBody>
          <a:bodyPr wrap="square" lIns="0" tIns="0" rIns="0" bIns="0" rtlCol="0" anchor="ctr"/>
          <a:lstStyle/>
          <a:p>
            <a:pPr marL="0" indent="0">
              <a:buNone/>
            </a:pPr>
            <a:r>
              <a:rPr lang="en-US" sz="1050" dirty="0">
                <a:solidFill>
                  <a:srgbClr val="5A6B87"/>
                </a:solidFill>
                <a:latin typeface="Calibri" pitchFamily="34" charset="0"/>
                <a:ea typeface="Calibri" pitchFamily="34" charset="-122"/>
                <a:cs typeface="Calibri" pitchFamily="34" charset="-120"/>
              </a:rPr>
              <a:t>Bondholders are creditors, not owners of the company.</a:t>
            </a:r>
            <a:endParaRPr lang="en-US" sz="1050" dirty="0"/>
          </a:p>
        </p:txBody>
      </p:sp>
      <p:sp>
        <p:nvSpPr>
          <p:cNvPr id="24" name="Shape 22"/>
          <p:cNvSpPr/>
          <p:nvPr/>
        </p:nvSpPr>
        <p:spPr>
          <a:xfrm>
            <a:off x="4343400" y="3200400"/>
            <a:ext cx="3566160" cy="1554480"/>
          </a:xfrm>
          <a:prstGeom prst="roundRect">
            <a:avLst>
              <a:gd name="adj" fmla="val 3529"/>
            </a:avLst>
          </a:prstGeom>
          <a:solidFill>
            <a:srgbClr val="EEF3FD"/>
          </a:solidFill>
          <a:ln/>
        </p:spPr>
        <p:txBody>
          <a:bodyPr/>
          <a:lstStyle/>
          <a:p>
            <a:endParaRPr lang="en-IN"/>
          </a:p>
        </p:txBody>
      </p:sp>
      <p:sp>
        <p:nvSpPr>
          <p:cNvPr id="25" name="Shape 23"/>
          <p:cNvSpPr/>
          <p:nvPr/>
        </p:nvSpPr>
        <p:spPr>
          <a:xfrm>
            <a:off x="4544568" y="3401568"/>
            <a:ext cx="420624" cy="420624"/>
          </a:xfrm>
          <a:prstGeom prst="ellipse">
            <a:avLst/>
          </a:prstGeom>
          <a:solidFill>
            <a:srgbClr val="B8912F"/>
          </a:solidFill>
          <a:ln/>
        </p:spPr>
        <p:txBody>
          <a:bodyPr/>
          <a:lstStyle/>
          <a:p>
            <a:endParaRPr lang="en-IN"/>
          </a:p>
        </p:txBody>
      </p:sp>
      <p:sp>
        <p:nvSpPr>
          <p:cNvPr id="26" name="Text 24"/>
          <p:cNvSpPr txBox="1"/>
          <p:nvPr/>
        </p:nvSpPr>
        <p:spPr>
          <a:xfrm>
            <a:off x="4544568" y="340156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4544568" y="3931920"/>
            <a:ext cx="3163824"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Finite Maturity (usually)</a:t>
            </a:r>
            <a:endParaRPr lang="en-US" sz="1350" dirty="0"/>
          </a:p>
        </p:txBody>
      </p:sp>
      <p:sp>
        <p:nvSpPr>
          <p:cNvPr id="28" name="Text 26"/>
          <p:cNvSpPr txBox="1"/>
          <p:nvPr/>
        </p:nvSpPr>
        <p:spPr>
          <a:xfrm>
            <a:off x="4544568" y="4233672"/>
            <a:ext cx="3163824" cy="457200"/>
          </a:xfrm>
          <a:prstGeom prst="rect">
            <a:avLst/>
          </a:prstGeom>
          <a:noFill/>
          <a:ln/>
        </p:spPr>
        <p:txBody>
          <a:bodyPr wrap="square" lIns="0" tIns="0" rIns="0" bIns="0" rtlCol="0" anchor="ctr"/>
          <a:lstStyle/>
          <a:p>
            <a:pPr marL="0" indent="0">
              <a:buNone/>
            </a:pPr>
            <a:r>
              <a:rPr lang="en-US" sz="1050" dirty="0">
                <a:solidFill>
                  <a:srgbClr val="5A6B87"/>
                </a:solidFill>
                <a:latin typeface="Calibri" pitchFamily="34" charset="0"/>
                <a:ea typeface="Calibri" pitchFamily="34" charset="-122"/>
                <a:cs typeface="Calibri" pitchFamily="34" charset="-120"/>
              </a:rPr>
              <a:t>Most debt has a fixed repayment date (perpetual bonds excepted).</a:t>
            </a:r>
            <a:endParaRPr lang="en-US" sz="1050" dirty="0"/>
          </a:p>
        </p:txBody>
      </p:sp>
      <p:sp>
        <p:nvSpPr>
          <p:cNvPr id="29" name="Shape 27"/>
          <p:cNvSpPr/>
          <p:nvPr/>
        </p:nvSpPr>
        <p:spPr>
          <a:xfrm>
            <a:off x="8138160" y="3200400"/>
            <a:ext cx="3566160" cy="1554480"/>
          </a:xfrm>
          <a:prstGeom prst="roundRect">
            <a:avLst>
              <a:gd name="adj" fmla="val 3529"/>
            </a:avLst>
          </a:prstGeom>
          <a:solidFill>
            <a:srgbClr val="EEF3FD"/>
          </a:solidFill>
          <a:ln/>
        </p:spPr>
        <p:txBody>
          <a:bodyPr/>
          <a:lstStyle/>
          <a:p>
            <a:endParaRPr lang="en-IN"/>
          </a:p>
        </p:txBody>
      </p:sp>
      <p:sp>
        <p:nvSpPr>
          <p:cNvPr id="30" name="Shape 28"/>
          <p:cNvSpPr/>
          <p:nvPr/>
        </p:nvSpPr>
        <p:spPr>
          <a:xfrm>
            <a:off x="8339328" y="3401568"/>
            <a:ext cx="420624" cy="420624"/>
          </a:xfrm>
          <a:prstGeom prst="ellipse">
            <a:avLst/>
          </a:prstGeom>
          <a:solidFill>
            <a:srgbClr val="B8912F"/>
          </a:solidFill>
          <a:ln/>
        </p:spPr>
        <p:txBody>
          <a:bodyPr/>
          <a:lstStyle/>
          <a:p>
            <a:endParaRPr lang="en-IN"/>
          </a:p>
        </p:txBody>
      </p:sp>
      <p:sp>
        <p:nvSpPr>
          <p:cNvPr id="31" name="Text 29"/>
          <p:cNvSpPr txBox="1"/>
          <p:nvPr/>
        </p:nvSpPr>
        <p:spPr>
          <a:xfrm>
            <a:off x="8339328" y="340156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8339328" y="3931920"/>
            <a:ext cx="3163824"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Tax-Deductible Interest</a:t>
            </a:r>
            <a:endParaRPr lang="en-US" sz="1350" dirty="0"/>
          </a:p>
        </p:txBody>
      </p:sp>
      <p:sp>
        <p:nvSpPr>
          <p:cNvPr id="33" name="Text 31"/>
          <p:cNvSpPr txBox="1"/>
          <p:nvPr/>
        </p:nvSpPr>
        <p:spPr>
          <a:xfrm>
            <a:off x="8339328" y="4233672"/>
            <a:ext cx="3163824" cy="457200"/>
          </a:xfrm>
          <a:prstGeom prst="rect">
            <a:avLst/>
          </a:prstGeom>
          <a:noFill/>
          <a:ln/>
        </p:spPr>
        <p:txBody>
          <a:bodyPr wrap="square" lIns="0" tIns="0" rIns="0" bIns="0" rtlCol="0" anchor="ctr"/>
          <a:lstStyle/>
          <a:p>
            <a:pPr marL="0" indent="0">
              <a:buNone/>
            </a:pPr>
            <a:r>
              <a:rPr lang="en-US" sz="1050" dirty="0">
                <a:solidFill>
                  <a:srgbClr val="5A6B87"/>
                </a:solidFill>
                <a:latin typeface="Calibri" pitchFamily="34" charset="0"/>
                <a:ea typeface="Calibri" pitchFamily="34" charset="-122"/>
                <a:cs typeface="Calibri" pitchFamily="34" charset="-120"/>
              </a:rPr>
              <a:t>Interest lowers taxable income — the 'tax shield' on debt.</a:t>
            </a:r>
            <a:endParaRPr lang="en-US" sz="1050" dirty="0"/>
          </a:p>
        </p:txBody>
      </p:sp>
      <p:sp>
        <p:nvSpPr>
          <p:cNvPr id="34" name="Shape 32"/>
          <p:cNvSpPr/>
          <p:nvPr/>
        </p:nvSpPr>
        <p:spPr>
          <a:xfrm>
            <a:off x="548640" y="5166360"/>
            <a:ext cx="11064240" cy="960120"/>
          </a:xfrm>
          <a:prstGeom prst="roundRect">
            <a:avLst>
              <a:gd name="adj" fmla="val 5714"/>
            </a:avLst>
          </a:prstGeom>
          <a:solidFill>
            <a:srgbClr val="F1E4BE"/>
          </a:solidFill>
          <a:ln/>
        </p:spPr>
        <p:txBody>
          <a:bodyPr/>
          <a:lstStyle/>
          <a:p>
            <a:endParaRPr lang="en-IN"/>
          </a:p>
        </p:txBody>
      </p:sp>
      <p:sp>
        <p:nvSpPr>
          <p:cNvPr id="35" name="Text 33"/>
          <p:cNvSpPr txBox="1"/>
          <p:nvPr/>
        </p:nvSpPr>
        <p:spPr>
          <a:xfrm>
            <a:off x="777240" y="5285232"/>
            <a:ext cx="10607040" cy="7315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Real-world illustration:  </a:t>
            </a:r>
            <a:r>
              <a:rPr lang="en-US" sz="1150" dirty="0">
                <a:solidFill>
                  <a:srgbClr val="1E2761"/>
                </a:solidFill>
                <a:latin typeface="Calibri" pitchFamily="34" charset="0"/>
                <a:ea typeface="Calibri" pitchFamily="34" charset="-122"/>
                <a:cs typeface="Calibri" pitchFamily="34" charset="-120"/>
              </a:rPr>
              <a:t>When Reliance Industries Ltd issued ₹20,000 crore of secured NCDs (face value ₹1,00,000 each) in Nov 2023, it took on a fixed obligation to pay interest and repay the principal by 2033 — with no ownership stake given to investors.</a:t>
            </a:r>
            <a:endParaRPr lang="en-US" sz="1150" dirty="0"/>
          </a:p>
        </p:txBody>
      </p:sp>
      <p:sp>
        <p:nvSpPr>
          <p:cNvPr id="36" name="Text 34"/>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37" name="Text 35"/>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B8912F"/>
                </a:solidFill>
                <a:latin typeface="Calibri" pitchFamily="34" charset="0"/>
                <a:ea typeface="Calibri" pitchFamily="34" charset="-122"/>
                <a:cs typeface="Calibri" pitchFamily="34" charset="-120"/>
              </a:rPr>
              <a:t>FOUNDATIONS</a:t>
            </a:r>
            <a:endParaRPr lang="en-US" sz="1200"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Meaning of a Bond — for an Indian Investor</a:t>
            </a:r>
            <a:endParaRPr lang="en-US" sz="3000" dirty="0"/>
          </a:p>
        </p:txBody>
      </p:sp>
      <p:sp>
        <p:nvSpPr>
          <p:cNvPr id="4" name="Shape 2"/>
          <p:cNvSpPr/>
          <p:nvPr/>
        </p:nvSpPr>
        <p:spPr>
          <a:xfrm>
            <a:off x="548640" y="1463040"/>
            <a:ext cx="11064240" cy="1463040"/>
          </a:xfrm>
          <a:prstGeom prst="roundRect">
            <a:avLst>
              <a:gd name="adj" fmla="val 4375"/>
            </a:avLst>
          </a:prstGeom>
          <a:solidFill>
            <a:srgbClr val="1E2761"/>
          </a:solidFill>
          <a:ln/>
        </p:spPr>
        <p:txBody>
          <a:bodyPr/>
          <a:lstStyle/>
          <a:p>
            <a:endParaRPr lang="en-IN"/>
          </a:p>
        </p:txBody>
      </p:sp>
      <p:sp>
        <p:nvSpPr>
          <p:cNvPr id="5" name="Text 3"/>
          <p:cNvSpPr txBox="1"/>
          <p:nvPr/>
        </p:nvSpPr>
        <p:spPr>
          <a:xfrm>
            <a:off x="868680" y="1600200"/>
            <a:ext cx="10424160" cy="1188720"/>
          </a:xfrm>
          <a:prstGeom prst="rect">
            <a:avLst/>
          </a:prstGeom>
          <a:noFill/>
          <a:ln/>
        </p:spPr>
        <p:txBody>
          <a:bodyPr wrap="square" lIns="0" tIns="0" rIns="0" bIns="0" rtlCol="0" anchor="ctr"/>
          <a:lstStyle/>
          <a:p>
            <a:pPr marL="0" indent="0" algn="ctr">
              <a:lnSpc>
                <a:spcPct val="125000"/>
              </a:lnSpc>
              <a:buNone/>
            </a:pPr>
            <a:r>
              <a:rPr lang="en-US" sz="1700" i="1" dirty="0">
                <a:solidFill>
                  <a:srgbClr val="FFFFFF"/>
                </a:solidFill>
                <a:latin typeface="Cambria" pitchFamily="34" charset="0"/>
                <a:ea typeface="Cambria" pitchFamily="34" charset="-122"/>
                <a:cs typeface="Cambria" pitchFamily="34" charset="-120"/>
              </a:rPr>
              <a:t>A bond is a debt security issued by a company, bank, PSU, or the Government of India to raise long-term funds. The issuer promises to pay the bondholder a fixed periodic coupon (interest) and to repay the face value (principal) on a specified maturity / redemption date.</a:t>
            </a:r>
            <a:endParaRPr lang="en-US" sz="1700" dirty="0"/>
          </a:p>
        </p:txBody>
      </p:sp>
      <p:sp>
        <p:nvSpPr>
          <p:cNvPr id="6" name="Text 4"/>
          <p:cNvSpPr txBox="1"/>
          <p:nvPr/>
        </p:nvSpPr>
        <p:spPr>
          <a:xfrm>
            <a:off x="548640" y="3154680"/>
            <a:ext cx="11064240" cy="411480"/>
          </a:xfrm>
          <a:prstGeom prst="rect">
            <a:avLst/>
          </a:prstGeom>
          <a:noFill/>
          <a:ln/>
        </p:spPr>
        <p:txBody>
          <a:bodyPr wrap="square" lIns="0" tIns="0" rIns="0" bIns="0" rtlCol="0" anchor="ctr"/>
          <a:lstStyle/>
          <a:p>
            <a:pPr marL="0" indent="0">
              <a:buNone/>
            </a:pPr>
            <a:r>
              <a:rPr lang="en-US" sz="1300" i="1" dirty="0">
                <a:solidFill>
                  <a:srgbClr val="5A6B87"/>
                </a:solidFill>
                <a:latin typeface="Calibri" pitchFamily="34" charset="0"/>
                <a:ea typeface="Calibri" pitchFamily="34" charset="-122"/>
                <a:cs typeface="Calibri" pitchFamily="34" charset="-120"/>
              </a:rPr>
              <a:t>Think of it as an IOU — you lend ₹1,000 to an Indian issuer today; it promises fixed interest and to return your ₹1,000 at maturity.</a:t>
            </a:r>
            <a:endParaRPr lang="en-US" sz="1300" dirty="0"/>
          </a:p>
        </p:txBody>
      </p:sp>
      <p:sp>
        <p:nvSpPr>
          <p:cNvPr id="7" name="Shape 5"/>
          <p:cNvSpPr/>
          <p:nvPr/>
        </p:nvSpPr>
        <p:spPr>
          <a:xfrm>
            <a:off x="548640" y="3794760"/>
            <a:ext cx="2606040" cy="2286000"/>
          </a:xfrm>
          <a:prstGeom prst="roundRect">
            <a:avLst>
              <a:gd name="adj" fmla="val 2800"/>
            </a:avLst>
          </a:prstGeom>
          <a:solidFill>
            <a:srgbClr val="EEF3FD"/>
          </a:solidFill>
          <a:ln w="12700">
            <a:solidFill>
              <a:srgbClr val="CADCFC"/>
            </a:solidFill>
            <a:prstDash val="solid"/>
          </a:ln>
        </p:spPr>
        <p:txBody>
          <a:bodyPr/>
          <a:lstStyle/>
          <a:p>
            <a:endParaRPr lang="en-IN"/>
          </a:p>
        </p:txBody>
      </p:sp>
      <p:sp>
        <p:nvSpPr>
          <p:cNvPr id="8" name="Shape 6"/>
          <p:cNvSpPr/>
          <p:nvPr/>
        </p:nvSpPr>
        <p:spPr>
          <a:xfrm>
            <a:off x="548640" y="3794760"/>
            <a:ext cx="2606040" cy="109728"/>
          </a:xfrm>
          <a:prstGeom prst="rect">
            <a:avLst/>
          </a:prstGeom>
          <a:solidFill>
            <a:srgbClr val="B8912F"/>
          </a:solidFill>
          <a:ln/>
        </p:spPr>
        <p:txBody>
          <a:bodyPr/>
          <a:lstStyle/>
          <a:p>
            <a:endParaRPr lang="en-IN"/>
          </a:p>
        </p:txBody>
      </p:sp>
      <p:sp>
        <p:nvSpPr>
          <p:cNvPr id="9" name="Text 7"/>
          <p:cNvSpPr txBox="1"/>
          <p:nvPr/>
        </p:nvSpPr>
        <p:spPr>
          <a:xfrm>
            <a:off x="713232" y="4114800"/>
            <a:ext cx="2276856" cy="640080"/>
          </a:xfrm>
          <a:prstGeom prst="rect">
            <a:avLst/>
          </a:prstGeom>
          <a:noFill/>
          <a:ln/>
        </p:spPr>
        <p:txBody>
          <a:bodyPr wrap="square" lIns="0" tIns="0" rIns="0" bIns="0"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Government of India</a:t>
            </a:r>
            <a:endParaRPr lang="en-US" sz="1500" dirty="0"/>
          </a:p>
        </p:txBody>
      </p:sp>
      <p:sp>
        <p:nvSpPr>
          <p:cNvPr id="10" name="Text 8"/>
          <p:cNvSpPr txBox="1"/>
          <p:nvPr/>
        </p:nvSpPr>
        <p:spPr>
          <a:xfrm>
            <a:off x="713232" y="4846320"/>
            <a:ext cx="2276856" cy="1005840"/>
          </a:xfrm>
          <a:prstGeom prst="rect">
            <a:avLst/>
          </a:prstGeom>
          <a:noFill/>
          <a:ln/>
        </p:spPr>
        <p:txBody>
          <a:bodyPr wrap="square" lIns="0" tIns="0" rIns="0" bIns="0" rtlCol="0" anchor="t"/>
          <a:lstStyle/>
          <a:p>
            <a:pPr marL="0" indent="0">
              <a:buNone/>
            </a:pPr>
            <a:r>
              <a:rPr lang="en-US" sz="1100" dirty="0">
                <a:solidFill>
                  <a:srgbClr val="5A6B87"/>
                </a:solidFill>
                <a:latin typeface="Calibri" pitchFamily="34" charset="0"/>
                <a:ea typeface="Calibri" pitchFamily="34" charset="-122"/>
                <a:cs typeface="Calibri" pitchFamily="34" charset="-120"/>
              </a:rPr>
              <a:t>G-Secs, Treasury Bills</a:t>
            </a:r>
            <a:endParaRPr lang="en-US" sz="1100" dirty="0"/>
          </a:p>
        </p:txBody>
      </p:sp>
      <p:sp>
        <p:nvSpPr>
          <p:cNvPr id="11" name="Shape 9"/>
          <p:cNvSpPr/>
          <p:nvPr/>
        </p:nvSpPr>
        <p:spPr>
          <a:xfrm>
            <a:off x="3337560" y="3794760"/>
            <a:ext cx="2606040" cy="2286000"/>
          </a:xfrm>
          <a:prstGeom prst="roundRect">
            <a:avLst>
              <a:gd name="adj" fmla="val 2800"/>
            </a:avLst>
          </a:prstGeom>
          <a:solidFill>
            <a:srgbClr val="EEF3FD"/>
          </a:solidFill>
          <a:ln w="12700">
            <a:solidFill>
              <a:srgbClr val="CADCFC"/>
            </a:solidFill>
            <a:prstDash val="solid"/>
          </a:ln>
        </p:spPr>
        <p:txBody>
          <a:bodyPr/>
          <a:lstStyle/>
          <a:p>
            <a:endParaRPr lang="en-IN"/>
          </a:p>
        </p:txBody>
      </p:sp>
      <p:sp>
        <p:nvSpPr>
          <p:cNvPr id="12" name="Shape 10"/>
          <p:cNvSpPr/>
          <p:nvPr/>
        </p:nvSpPr>
        <p:spPr>
          <a:xfrm>
            <a:off x="3337560" y="3794760"/>
            <a:ext cx="2606040" cy="109728"/>
          </a:xfrm>
          <a:prstGeom prst="rect">
            <a:avLst/>
          </a:prstGeom>
          <a:solidFill>
            <a:srgbClr val="1E2761"/>
          </a:solidFill>
          <a:ln/>
        </p:spPr>
        <p:txBody>
          <a:bodyPr/>
          <a:lstStyle/>
          <a:p>
            <a:endParaRPr lang="en-IN"/>
          </a:p>
        </p:txBody>
      </p:sp>
      <p:sp>
        <p:nvSpPr>
          <p:cNvPr id="13" name="Text 11"/>
          <p:cNvSpPr txBox="1"/>
          <p:nvPr/>
        </p:nvSpPr>
        <p:spPr>
          <a:xfrm>
            <a:off x="3502152" y="4114800"/>
            <a:ext cx="2276856" cy="640080"/>
          </a:xfrm>
          <a:prstGeom prst="rect">
            <a:avLst/>
          </a:prstGeom>
          <a:noFill/>
          <a:ln/>
        </p:spPr>
        <p:txBody>
          <a:bodyPr wrap="square" lIns="0" tIns="0" rIns="0" bIns="0"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PSUs</a:t>
            </a:r>
            <a:endParaRPr lang="en-US" sz="1500" dirty="0"/>
          </a:p>
        </p:txBody>
      </p:sp>
      <p:sp>
        <p:nvSpPr>
          <p:cNvPr id="14" name="Text 12"/>
          <p:cNvSpPr txBox="1"/>
          <p:nvPr/>
        </p:nvSpPr>
        <p:spPr>
          <a:xfrm>
            <a:off x="3502152" y="4846320"/>
            <a:ext cx="2276856" cy="1005840"/>
          </a:xfrm>
          <a:prstGeom prst="rect">
            <a:avLst/>
          </a:prstGeom>
          <a:noFill/>
          <a:ln/>
        </p:spPr>
        <p:txBody>
          <a:bodyPr wrap="square" lIns="0" tIns="0" rIns="0" bIns="0" rtlCol="0" anchor="t"/>
          <a:lstStyle/>
          <a:p>
            <a:pPr marL="0" indent="0">
              <a:buNone/>
            </a:pPr>
            <a:r>
              <a:rPr lang="en-US" sz="1100" dirty="0">
                <a:solidFill>
                  <a:srgbClr val="5A6B87"/>
                </a:solidFill>
                <a:latin typeface="Calibri" pitchFamily="34" charset="0"/>
                <a:ea typeface="Calibri" pitchFamily="34" charset="-122"/>
                <a:cs typeface="Calibri" pitchFamily="34" charset="-120"/>
              </a:rPr>
              <a:t>NHAI · REC · PFC · IRFC</a:t>
            </a:r>
            <a:endParaRPr lang="en-US" sz="1100" dirty="0"/>
          </a:p>
        </p:txBody>
      </p:sp>
      <p:sp>
        <p:nvSpPr>
          <p:cNvPr id="15" name="Shape 13"/>
          <p:cNvSpPr/>
          <p:nvPr/>
        </p:nvSpPr>
        <p:spPr>
          <a:xfrm>
            <a:off x="6126480" y="3794760"/>
            <a:ext cx="2606040" cy="2286000"/>
          </a:xfrm>
          <a:prstGeom prst="roundRect">
            <a:avLst>
              <a:gd name="adj" fmla="val 2800"/>
            </a:avLst>
          </a:prstGeom>
          <a:solidFill>
            <a:srgbClr val="EEF3FD"/>
          </a:solidFill>
          <a:ln w="12700">
            <a:solidFill>
              <a:srgbClr val="CADCFC"/>
            </a:solidFill>
            <a:prstDash val="solid"/>
          </a:ln>
        </p:spPr>
        <p:txBody>
          <a:bodyPr/>
          <a:lstStyle/>
          <a:p>
            <a:endParaRPr lang="en-IN"/>
          </a:p>
        </p:txBody>
      </p:sp>
      <p:sp>
        <p:nvSpPr>
          <p:cNvPr id="16" name="Shape 14"/>
          <p:cNvSpPr/>
          <p:nvPr/>
        </p:nvSpPr>
        <p:spPr>
          <a:xfrm>
            <a:off x="6126480" y="3794760"/>
            <a:ext cx="2606040" cy="109728"/>
          </a:xfrm>
          <a:prstGeom prst="rect">
            <a:avLst/>
          </a:prstGeom>
          <a:solidFill>
            <a:srgbClr val="2C6E49"/>
          </a:solidFill>
          <a:ln/>
        </p:spPr>
        <p:txBody>
          <a:bodyPr/>
          <a:lstStyle/>
          <a:p>
            <a:endParaRPr lang="en-IN"/>
          </a:p>
        </p:txBody>
      </p:sp>
      <p:sp>
        <p:nvSpPr>
          <p:cNvPr id="17" name="Text 15"/>
          <p:cNvSpPr txBox="1"/>
          <p:nvPr/>
        </p:nvSpPr>
        <p:spPr>
          <a:xfrm>
            <a:off x="6291072" y="4114800"/>
            <a:ext cx="2276856" cy="640080"/>
          </a:xfrm>
          <a:prstGeom prst="rect">
            <a:avLst/>
          </a:prstGeom>
          <a:noFill/>
          <a:ln/>
        </p:spPr>
        <p:txBody>
          <a:bodyPr wrap="square" lIns="0" tIns="0" rIns="0" bIns="0"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Banks</a:t>
            </a:r>
            <a:endParaRPr lang="en-US" sz="1500" dirty="0"/>
          </a:p>
        </p:txBody>
      </p:sp>
      <p:sp>
        <p:nvSpPr>
          <p:cNvPr id="18" name="Text 16"/>
          <p:cNvSpPr txBox="1"/>
          <p:nvPr/>
        </p:nvSpPr>
        <p:spPr>
          <a:xfrm>
            <a:off x="6291072" y="4846320"/>
            <a:ext cx="2276856" cy="1005840"/>
          </a:xfrm>
          <a:prstGeom prst="rect">
            <a:avLst/>
          </a:prstGeom>
          <a:noFill/>
          <a:ln/>
        </p:spPr>
        <p:txBody>
          <a:bodyPr wrap="square" lIns="0" tIns="0" rIns="0" bIns="0" rtlCol="0" anchor="t"/>
          <a:lstStyle/>
          <a:p>
            <a:pPr marL="0" indent="0">
              <a:buNone/>
            </a:pPr>
            <a:r>
              <a:rPr lang="en-US" sz="1100" dirty="0">
                <a:solidFill>
                  <a:srgbClr val="5A6B87"/>
                </a:solidFill>
                <a:latin typeface="Calibri" pitchFamily="34" charset="0"/>
                <a:ea typeface="Calibri" pitchFamily="34" charset="-122"/>
                <a:cs typeface="Calibri" pitchFamily="34" charset="-120"/>
              </a:rPr>
              <a:t>SBI · HDFC Bank · ICICI (AT1 / Tier-2)</a:t>
            </a:r>
            <a:endParaRPr lang="en-US" sz="1100" dirty="0"/>
          </a:p>
        </p:txBody>
      </p:sp>
      <p:sp>
        <p:nvSpPr>
          <p:cNvPr id="19" name="Shape 17"/>
          <p:cNvSpPr/>
          <p:nvPr/>
        </p:nvSpPr>
        <p:spPr>
          <a:xfrm>
            <a:off x="8915400" y="3794760"/>
            <a:ext cx="2606040" cy="2286000"/>
          </a:xfrm>
          <a:prstGeom prst="roundRect">
            <a:avLst>
              <a:gd name="adj" fmla="val 2800"/>
            </a:avLst>
          </a:prstGeom>
          <a:solidFill>
            <a:srgbClr val="EEF3FD"/>
          </a:solidFill>
          <a:ln w="12700">
            <a:solidFill>
              <a:srgbClr val="CADCFC"/>
            </a:solidFill>
            <a:prstDash val="solid"/>
          </a:ln>
        </p:spPr>
        <p:txBody>
          <a:bodyPr/>
          <a:lstStyle/>
          <a:p>
            <a:endParaRPr lang="en-IN"/>
          </a:p>
        </p:txBody>
      </p:sp>
      <p:sp>
        <p:nvSpPr>
          <p:cNvPr id="20" name="Shape 18"/>
          <p:cNvSpPr/>
          <p:nvPr/>
        </p:nvSpPr>
        <p:spPr>
          <a:xfrm>
            <a:off x="8915400" y="3794760"/>
            <a:ext cx="2606040" cy="109728"/>
          </a:xfrm>
          <a:prstGeom prst="rect">
            <a:avLst/>
          </a:prstGeom>
          <a:solidFill>
            <a:srgbClr val="5A6B87"/>
          </a:solidFill>
          <a:ln/>
        </p:spPr>
        <p:txBody>
          <a:bodyPr/>
          <a:lstStyle/>
          <a:p>
            <a:endParaRPr lang="en-IN"/>
          </a:p>
        </p:txBody>
      </p:sp>
      <p:sp>
        <p:nvSpPr>
          <p:cNvPr id="21" name="Text 19"/>
          <p:cNvSpPr txBox="1"/>
          <p:nvPr/>
        </p:nvSpPr>
        <p:spPr>
          <a:xfrm>
            <a:off x="9079992" y="4114800"/>
            <a:ext cx="2276856" cy="640080"/>
          </a:xfrm>
          <a:prstGeom prst="rect">
            <a:avLst/>
          </a:prstGeom>
          <a:noFill/>
          <a:ln/>
        </p:spPr>
        <p:txBody>
          <a:bodyPr wrap="square" lIns="0" tIns="0" rIns="0" bIns="0" rtlCol="0" anchor="t"/>
          <a:lstStyle/>
          <a:p>
            <a:pPr marL="0" indent="0">
              <a:buNone/>
            </a:pPr>
            <a:r>
              <a:rPr lang="en-US" sz="1500" b="1" dirty="0">
                <a:solidFill>
                  <a:srgbClr val="1E2761"/>
                </a:solidFill>
                <a:latin typeface="Cambria" pitchFamily="34" charset="0"/>
                <a:ea typeface="Cambria" pitchFamily="34" charset="-122"/>
                <a:cs typeface="Cambria" pitchFamily="34" charset="-120"/>
              </a:rPr>
              <a:t>Corporates</a:t>
            </a:r>
            <a:endParaRPr lang="en-US" sz="1500" dirty="0"/>
          </a:p>
        </p:txBody>
      </p:sp>
      <p:sp>
        <p:nvSpPr>
          <p:cNvPr id="22" name="Text 20"/>
          <p:cNvSpPr txBox="1"/>
          <p:nvPr/>
        </p:nvSpPr>
        <p:spPr>
          <a:xfrm>
            <a:off x="9079992" y="4846320"/>
            <a:ext cx="2276856" cy="1005840"/>
          </a:xfrm>
          <a:prstGeom prst="rect">
            <a:avLst/>
          </a:prstGeom>
          <a:noFill/>
          <a:ln/>
        </p:spPr>
        <p:txBody>
          <a:bodyPr wrap="square" lIns="0" tIns="0" rIns="0" bIns="0" rtlCol="0" anchor="t"/>
          <a:lstStyle/>
          <a:p>
            <a:pPr marL="0" indent="0">
              <a:buNone/>
            </a:pPr>
            <a:r>
              <a:rPr lang="en-US" sz="1100" dirty="0">
                <a:solidFill>
                  <a:srgbClr val="5A6B87"/>
                </a:solidFill>
                <a:latin typeface="Calibri" pitchFamily="34" charset="0"/>
                <a:ea typeface="Calibri" pitchFamily="34" charset="-122"/>
                <a:cs typeface="Calibri" pitchFamily="34" charset="-120"/>
              </a:rPr>
              <a:t>Reliance · Tata Steel · M&amp;M (NCDs)</a:t>
            </a:r>
            <a:endParaRPr lang="en-US" sz="110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4" name="Text 22"/>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b="1" kern="0" spc="200" dirty="0">
                <a:solidFill>
                  <a:schemeClr val="accent2"/>
                </a:solidFill>
                <a:latin typeface="Calibri" pitchFamily="34" charset="0"/>
                <a:ea typeface="Calibri" pitchFamily="34" charset="-122"/>
                <a:cs typeface="Calibri" pitchFamily="34" charset="-120"/>
              </a:rPr>
              <a:t>BONDS</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Key Bond Terminologies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3699837957"/>
              </p:ext>
            </p:extLst>
          </p:nvPr>
        </p:nvGraphicFramePr>
        <p:xfrm>
          <a:off x="548640" y="1417320"/>
          <a:ext cx="11355338" cy="5120640"/>
        </p:xfrm>
        <a:graphic>
          <a:graphicData uri="http://schemas.openxmlformats.org/drawingml/2006/table">
            <a:tbl>
              <a:tblPr/>
              <a:tblGrid>
                <a:gridCol w="3378448">
                  <a:extLst>
                    <a:ext uri="{9D8B030D-6E8A-4147-A177-3AD203B41FA5}">
                      <a16:colId xmlns:a16="http://schemas.microsoft.com/office/drawing/2014/main" val="20000"/>
                    </a:ext>
                  </a:extLst>
                </a:gridCol>
                <a:gridCol w="7976890">
                  <a:extLst>
                    <a:ext uri="{9D8B030D-6E8A-4147-A177-3AD203B41FA5}">
                      <a16:colId xmlns:a16="http://schemas.microsoft.com/office/drawing/2014/main" val="20001"/>
                    </a:ext>
                  </a:extLst>
                </a:gridCol>
              </a:tblGrid>
              <a:tr h="640080">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Term</a:t>
                      </a:r>
                      <a:endParaRPr lang="en-US" sz="1800" dirty="0">
                        <a:solidFill>
                          <a:schemeClr val="bg1"/>
                        </a:solidFill>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1E2761"/>
                    </a:solidFill>
                  </a:tcPr>
                </a:tc>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Meaning</a:t>
                      </a:r>
                      <a:endParaRPr lang="en-US" sz="1800" dirty="0">
                        <a:solidFill>
                          <a:schemeClr val="bg1"/>
                        </a:solidFill>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4008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Nominal / Face Value (F)</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800" dirty="0">
                          <a:solidFill>
                            <a:srgbClr val="5A6B87"/>
                          </a:solidFill>
                          <a:latin typeface="Calibri" pitchFamily="34" charset="0"/>
                          <a:ea typeface="Calibri" pitchFamily="34" charset="-122"/>
                          <a:cs typeface="Calibri" pitchFamily="34" charset="-120"/>
                        </a:rPr>
                        <a:t>Value printed on the bond (₹100 / ₹1,000 / ₹1,00,000) — also the amount repaid at redemption.</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Coupon Rate</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buNone/>
                      </a:pPr>
                      <a:r>
                        <a:rPr lang="en-US" sz="1800" dirty="0">
                          <a:solidFill>
                            <a:srgbClr val="5A6B87"/>
                          </a:solidFill>
                          <a:latin typeface="Calibri" pitchFamily="34" charset="0"/>
                          <a:ea typeface="Calibri" pitchFamily="34" charset="-122"/>
                          <a:cs typeface="Calibri" pitchFamily="34" charset="-120"/>
                        </a:rPr>
                        <a:t>Stated annual interest rate applied to face value, e.g. 8% coupon rate on ₹1,000 face value.</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extLst>
                  <a:ext uri="{0D108BD9-81ED-4DB2-BD59-A6C34878D82A}">
                    <a16:rowId xmlns:a16="http://schemas.microsoft.com/office/drawing/2014/main" val="10002"/>
                  </a:ext>
                </a:extLst>
              </a:tr>
              <a:tr h="64008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Coupon (C)</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800" dirty="0">
                          <a:solidFill>
                            <a:srgbClr val="5A6B87"/>
                          </a:solidFill>
                          <a:latin typeface="Calibri" pitchFamily="34" charset="0"/>
                          <a:ea typeface="Calibri" pitchFamily="34" charset="-122"/>
                          <a:cs typeface="Calibri" pitchFamily="34" charset="-120"/>
                        </a:rPr>
                        <a:t>Actual rupee interest paid each period — Coupon = Coupon Rate × Face Value (e.g. ₹80).</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Redemption / Maturity Value</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buNone/>
                      </a:pPr>
                      <a:r>
                        <a:rPr lang="en-US" sz="1800" dirty="0">
                          <a:solidFill>
                            <a:srgbClr val="5A6B87"/>
                          </a:solidFill>
                          <a:latin typeface="Calibri" pitchFamily="34" charset="0"/>
                          <a:ea typeface="Calibri" pitchFamily="34" charset="-122"/>
                          <a:cs typeface="Calibri" pitchFamily="34" charset="-120"/>
                        </a:rPr>
                        <a:t>Amount paid to the bondholder at maturity — usually equal to face value (at par).</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extLst>
                  <a:ext uri="{0D108BD9-81ED-4DB2-BD59-A6C34878D82A}">
                    <a16:rowId xmlns:a16="http://schemas.microsoft.com/office/drawing/2014/main" val="10004"/>
                  </a:ext>
                </a:extLst>
              </a:tr>
              <a:tr h="64008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Maturity Date</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800" dirty="0">
                          <a:solidFill>
                            <a:srgbClr val="5A6B87"/>
                          </a:solidFill>
                          <a:latin typeface="Calibri" pitchFamily="34" charset="0"/>
                          <a:ea typeface="Calibri" pitchFamily="34" charset="-122"/>
                          <a:cs typeface="Calibri" pitchFamily="34" charset="-120"/>
                        </a:rPr>
                        <a:t>The date on which redemption occurs and the bond ceases to exist.</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Market Price</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buNone/>
                      </a:pPr>
                      <a:r>
                        <a:rPr lang="en-US" sz="1800" dirty="0">
                          <a:solidFill>
                            <a:srgbClr val="5A6B87"/>
                          </a:solidFill>
                          <a:latin typeface="Calibri" pitchFamily="34" charset="0"/>
                          <a:ea typeface="Calibri" pitchFamily="34" charset="-122"/>
                          <a:cs typeface="Calibri" pitchFamily="34" charset="-120"/>
                        </a:rPr>
                        <a:t>Current traded price — may sit at a discount, premium, or par to face value.</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extLst>
                  <a:ext uri="{0D108BD9-81ED-4DB2-BD59-A6C34878D82A}">
                    <a16:rowId xmlns:a16="http://schemas.microsoft.com/office/drawing/2014/main" val="10006"/>
                  </a:ext>
                </a:extLst>
              </a:tr>
              <a:tr h="64008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Yield to Maturity (YTM)</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800" dirty="0">
                          <a:solidFill>
                            <a:srgbClr val="5A6B87"/>
                          </a:solidFill>
                          <a:latin typeface="Calibri" pitchFamily="34" charset="0"/>
                          <a:ea typeface="Calibri" pitchFamily="34" charset="-122"/>
                          <a:cs typeface="Calibri" pitchFamily="34" charset="-120"/>
                        </a:rPr>
                        <a:t>Total return earned if bought at market price and held to redemption.</a:t>
                      </a:r>
                      <a:endParaRPr lang="en-US" sz="18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2"/>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6" name="Text 3"/>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Coupon (Plain Vanilla) Bond</a:t>
            </a:r>
            <a:endParaRPr lang="en-US" sz="3000" dirty="0"/>
          </a:p>
        </p:txBody>
      </p:sp>
      <p:sp>
        <p:nvSpPr>
          <p:cNvPr id="4" name="Shape 2"/>
          <p:cNvSpPr/>
          <p:nvPr/>
        </p:nvSpPr>
        <p:spPr>
          <a:xfrm>
            <a:off x="1737360" y="1554480"/>
            <a:ext cx="8686800" cy="914400"/>
          </a:xfrm>
          <a:prstGeom prst="roundRect">
            <a:avLst>
              <a:gd name="adj" fmla="val 8000"/>
            </a:avLst>
          </a:prstGeom>
          <a:solidFill>
            <a:srgbClr val="1E2761"/>
          </a:solidFill>
          <a:ln/>
        </p:spPr>
        <p:txBody>
          <a:bodyPr/>
          <a:lstStyle/>
          <a:p>
            <a:endParaRPr lang="en-IN"/>
          </a:p>
        </p:txBody>
      </p:sp>
      <p:sp>
        <p:nvSpPr>
          <p:cNvPr id="5" name="Text 3"/>
          <p:cNvSpPr txBox="1"/>
          <p:nvPr/>
        </p:nvSpPr>
        <p:spPr>
          <a:xfrm>
            <a:off x="1920240" y="1554480"/>
            <a:ext cx="8321040" cy="658368"/>
          </a:xfrm>
          <a:prstGeom prst="rect">
            <a:avLst/>
          </a:prstGeom>
          <a:noFill/>
          <a:ln/>
        </p:spPr>
        <p:txBody>
          <a:bodyPr wrap="square" lIns="0" tIns="0" rIns="0" bIns="0" rtlCol="0" anchor="ctr"/>
          <a:lstStyle/>
          <a:p>
            <a:pPr marL="0" indent="0" algn="ctr">
              <a:buNone/>
            </a:pPr>
            <a:r>
              <a:rPr lang="en-US" sz="2000" dirty="0">
                <a:solidFill>
                  <a:srgbClr val="FFFFFF"/>
                </a:solidFill>
                <a:latin typeface="Cambria Math" pitchFamily="34" charset="0"/>
                <a:ea typeface="Cambria Math" pitchFamily="34" charset="-122"/>
                <a:cs typeface="Cambria Math" pitchFamily="34" charset="-120"/>
              </a:rPr>
              <a:t>P  =  C/(1+r)¹ + C/(1+r)² + … + (C + F)/(1+r)ᵀ</a:t>
            </a:r>
            <a:endParaRPr lang="en-US" sz="2000" dirty="0"/>
          </a:p>
        </p:txBody>
      </p:sp>
      <p:sp>
        <p:nvSpPr>
          <p:cNvPr id="6" name="Text 4"/>
          <p:cNvSpPr txBox="1"/>
          <p:nvPr/>
        </p:nvSpPr>
        <p:spPr>
          <a:xfrm>
            <a:off x="1920240" y="2176272"/>
            <a:ext cx="8321040" cy="256032"/>
          </a:xfrm>
          <a:prstGeom prst="rect">
            <a:avLst/>
          </a:prstGeom>
          <a:noFill/>
          <a:ln/>
        </p:spPr>
        <p:txBody>
          <a:bodyPr wrap="square" lIns="0" tIns="0" rIns="0" bIns="0" rtlCol="0" anchor="ctr"/>
          <a:lstStyle/>
          <a:p>
            <a:pPr marL="0" indent="0" algn="ctr">
              <a:buNone/>
            </a:pPr>
            <a:r>
              <a:rPr lang="en-US" sz="1600" i="1" dirty="0">
                <a:solidFill>
                  <a:schemeClr val="accent2"/>
                </a:solidFill>
                <a:latin typeface="Calibri" pitchFamily="34" charset="0"/>
                <a:ea typeface="Calibri" pitchFamily="34" charset="-122"/>
                <a:cs typeface="Calibri" pitchFamily="34" charset="-120"/>
              </a:rPr>
              <a:t>Present value of periodic coupons plus the face value repaid at maturity</a:t>
            </a:r>
            <a:endParaRPr lang="en-US" sz="1600" dirty="0">
              <a:solidFill>
                <a:schemeClr val="accent2"/>
              </a:solidFill>
            </a:endParaRPr>
          </a:p>
        </p:txBody>
      </p:sp>
      <p:sp>
        <p:nvSpPr>
          <p:cNvPr id="7" name="Text 5"/>
          <p:cNvSpPr txBox="1"/>
          <p:nvPr/>
        </p:nvSpPr>
        <p:spPr>
          <a:xfrm>
            <a:off x="1280160" y="2697480"/>
            <a:ext cx="9601200" cy="548640"/>
          </a:xfrm>
          <a:prstGeom prst="rect">
            <a:avLst/>
          </a:prstGeom>
          <a:noFill/>
          <a:ln/>
        </p:spPr>
        <p:txBody>
          <a:bodyPr wrap="square" lIns="0" tIns="0" rIns="0" bIns="0" rtlCol="0" anchor="ctr"/>
          <a:lstStyle/>
          <a:p>
            <a:pPr marL="0" indent="0" algn="ctr">
              <a:buNone/>
            </a:pPr>
            <a:r>
              <a:rPr lang="en-US" sz="1600" dirty="0">
                <a:solidFill>
                  <a:srgbClr val="5A6B87"/>
                </a:solidFill>
                <a:latin typeface="Calibri" pitchFamily="34" charset="0"/>
                <a:ea typeface="Calibri" pitchFamily="34" charset="-122"/>
                <a:cs typeface="Calibri" pitchFamily="34" charset="-120"/>
              </a:rPr>
              <a:t>A </a:t>
            </a:r>
            <a:r>
              <a:rPr lang="en-US" sz="1600" b="1" dirty="0">
                <a:solidFill>
                  <a:srgbClr val="1E2761"/>
                </a:solidFill>
                <a:latin typeface="Calibri" pitchFamily="34" charset="0"/>
                <a:ea typeface="Calibri" pitchFamily="34" charset="-122"/>
                <a:cs typeface="Calibri" pitchFamily="34" charset="-120"/>
              </a:rPr>
              <a:t>plain vanilla bond</a:t>
            </a:r>
            <a:r>
              <a:rPr lang="en-US" sz="1600" dirty="0">
                <a:solidFill>
                  <a:srgbClr val="5A6B87"/>
                </a:solidFill>
                <a:latin typeface="Calibri" pitchFamily="34" charset="0"/>
                <a:ea typeface="Calibri" pitchFamily="34" charset="-122"/>
                <a:cs typeface="Calibri" pitchFamily="34" charset="-120"/>
              </a:rPr>
              <a:t> pays a fixed coupon each year and returns the full nominal (face) value on the redemption date.</a:t>
            </a:r>
            <a:endParaRPr lang="en-US" sz="1600" dirty="0"/>
          </a:p>
        </p:txBody>
      </p:sp>
      <p:sp>
        <p:nvSpPr>
          <p:cNvPr id="8" name="Shape 6"/>
          <p:cNvSpPr/>
          <p:nvPr/>
        </p:nvSpPr>
        <p:spPr>
          <a:xfrm>
            <a:off x="914400" y="3566160"/>
            <a:ext cx="5120640" cy="2103120"/>
          </a:xfrm>
          <a:prstGeom prst="roundRect">
            <a:avLst>
              <a:gd name="adj" fmla="val 3043"/>
            </a:avLst>
          </a:prstGeom>
          <a:solidFill>
            <a:srgbClr val="EEF3FD"/>
          </a:solidFill>
          <a:ln/>
        </p:spPr>
        <p:txBody>
          <a:bodyPr/>
          <a:lstStyle/>
          <a:p>
            <a:endParaRPr lang="en-IN"/>
          </a:p>
        </p:txBody>
      </p:sp>
      <p:sp>
        <p:nvSpPr>
          <p:cNvPr id="9" name="Shape 7"/>
          <p:cNvSpPr/>
          <p:nvPr/>
        </p:nvSpPr>
        <p:spPr>
          <a:xfrm>
            <a:off x="1188720" y="3840480"/>
            <a:ext cx="502920" cy="502920"/>
          </a:xfrm>
          <a:prstGeom prst="ellipse">
            <a:avLst/>
          </a:prstGeom>
          <a:solidFill>
            <a:srgbClr val="B8912F"/>
          </a:solidFill>
          <a:ln/>
        </p:spPr>
        <p:txBody>
          <a:bodyPr/>
          <a:lstStyle/>
          <a:p>
            <a:endParaRPr lang="en-IN"/>
          </a:p>
        </p:txBody>
      </p:sp>
      <p:sp>
        <p:nvSpPr>
          <p:cNvPr id="10" name="Text 8"/>
          <p:cNvSpPr txBox="1"/>
          <p:nvPr/>
        </p:nvSpPr>
        <p:spPr>
          <a:xfrm>
            <a:off x="1188720" y="38404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874520" y="3858768"/>
            <a:ext cx="3931920" cy="45720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Coupon Rate vs YTM</a:t>
            </a:r>
            <a:endParaRPr lang="en-US" sz="1600" dirty="0"/>
          </a:p>
        </p:txBody>
      </p:sp>
      <p:sp>
        <p:nvSpPr>
          <p:cNvPr id="12" name="Text 10"/>
          <p:cNvSpPr txBox="1"/>
          <p:nvPr/>
        </p:nvSpPr>
        <p:spPr>
          <a:xfrm>
            <a:off x="1188720" y="4480560"/>
            <a:ext cx="4572000" cy="1005840"/>
          </a:xfrm>
          <a:prstGeom prst="rect">
            <a:avLst/>
          </a:prstGeom>
          <a:noFill/>
          <a:ln/>
        </p:spPr>
        <p:txBody>
          <a:bodyPr wrap="square" lIns="0" tIns="0" rIns="0" bIns="0" rtlCol="0" anchor="ctr"/>
          <a:lstStyle/>
          <a:p>
            <a:pPr marL="0" indent="0">
              <a:buNone/>
            </a:pPr>
            <a:r>
              <a:rPr lang="en-US" dirty="0">
                <a:solidFill>
                  <a:srgbClr val="5A6B87"/>
                </a:solidFill>
                <a:latin typeface="Calibri" pitchFamily="34" charset="0"/>
                <a:ea typeface="Calibri" pitchFamily="34" charset="-122"/>
                <a:cs typeface="Calibri" pitchFamily="34" charset="-120"/>
              </a:rPr>
              <a:t>If the coupon rate is below the market's required yield, the bond trades at a discount — and vice-versa.</a:t>
            </a:r>
            <a:endParaRPr lang="en-US" dirty="0"/>
          </a:p>
        </p:txBody>
      </p:sp>
      <p:sp>
        <p:nvSpPr>
          <p:cNvPr id="13" name="Shape 11"/>
          <p:cNvSpPr/>
          <p:nvPr/>
        </p:nvSpPr>
        <p:spPr>
          <a:xfrm>
            <a:off x="6309360" y="3566160"/>
            <a:ext cx="5120640" cy="2103120"/>
          </a:xfrm>
          <a:prstGeom prst="roundRect">
            <a:avLst>
              <a:gd name="adj" fmla="val 3043"/>
            </a:avLst>
          </a:prstGeom>
          <a:solidFill>
            <a:srgbClr val="EEF3FD"/>
          </a:solidFill>
          <a:ln/>
        </p:spPr>
        <p:txBody>
          <a:bodyPr/>
          <a:lstStyle/>
          <a:p>
            <a:endParaRPr lang="en-IN"/>
          </a:p>
        </p:txBody>
      </p:sp>
      <p:sp>
        <p:nvSpPr>
          <p:cNvPr id="14" name="Shape 12"/>
          <p:cNvSpPr/>
          <p:nvPr/>
        </p:nvSpPr>
        <p:spPr>
          <a:xfrm>
            <a:off x="6583680" y="3840480"/>
            <a:ext cx="502920" cy="502920"/>
          </a:xfrm>
          <a:prstGeom prst="ellipse">
            <a:avLst/>
          </a:prstGeom>
          <a:solidFill>
            <a:srgbClr val="B8912F"/>
          </a:solidFill>
          <a:ln/>
        </p:spPr>
        <p:txBody>
          <a:bodyPr/>
          <a:lstStyle/>
          <a:p>
            <a:endParaRPr lang="en-IN"/>
          </a:p>
        </p:txBody>
      </p:sp>
      <p:sp>
        <p:nvSpPr>
          <p:cNvPr id="15" name="Text 13"/>
          <p:cNvSpPr txBox="1"/>
          <p:nvPr/>
        </p:nvSpPr>
        <p:spPr>
          <a:xfrm>
            <a:off x="6583680" y="38404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7269480" y="3858768"/>
            <a:ext cx="3931920" cy="45720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Redemption is Fixed</a:t>
            </a:r>
            <a:endParaRPr lang="en-US" sz="1600" dirty="0"/>
          </a:p>
        </p:txBody>
      </p:sp>
      <p:sp>
        <p:nvSpPr>
          <p:cNvPr id="17" name="Text 15"/>
          <p:cNvSpPr txBox="1"/>
          <p:nvPr/>
        </p:nvSpPr>
        <p:spPr>
          <a:xfrm>
            <a:off x="6583680" y="4480560"/>
            <a:ext cx="4572000" cy="1005840"/>
          </a:xfrm>
          <a:prstGeom prst="rect">
            <a:avLst/>
          </a:prstGeom>
          <a:noFill/>
          <a:ln/>
        </p:spPr>
        <p:txBody>
          <a:bodyPr wrap="square" lIns="0" tIns="0" rIns="0" bIns="0" rtlCol="0" anchor="ctr"/>
          <a:lstStyle/>
          <a:p>
            <a:pPr marL="0" indent="0">
              <a:buNone/>
            </a:pPr>
            <a:r>
              <a:rPr lang="en-US" dirty="0">
                <a:solidFill>
                  <a:srgbClr val="5A6B87"/>
                </a:solidFill>
                <a:latin typeface="Calibri" pitchFamily="34" charset="0"/>
                <a:ea typeface="Calibri" pitchFamily="34" charset="-122"/>
                <a:cs typeface="Calibri" pitchFamily="34" charset="-120"/>
              </a:rPr>
              <a:t>Regardless of the price paid, the investor always receives the full-face value at maturity.</a:t>
            </a:r>
            <a:endParaRPr lang="en-US" dirty="0"/>
          </a:p>
        </p:txBody>
      </p:sp>
      <p:sp>
        <p:nvSpPr>
          <p:cNvPr id="18" name="Text 1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19" name="Text 17"/>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Coupon Bond: Examples</a:t>
            </a:r>
            <a:endParaRPr lang="en-US" sz="3000" dirty="0"/>
          </a:p>
        </p:txBody>
      </p:sp>
      <p:sp>
        <p:nvSpPr>
          <p:cNvPr id="4" name="Shape 2"/>
          <p:cNvSpPr/>
          <p:nvPr/>
        </p:nvSpPr>
        <p:spPr>
          <a:xfrm>
            <a:off x="54864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5" name="Shape 3"/>
          <p:cNvSpPr/>
          <p:nvPr/>
        </p:nvSpPr>
        <p:spPr>
          <a:xfrm>
            <a:off x="777240" y="1600200"/>
            <a:ext cx="1737360" cy="310896"/>
          </a:xfrm>
          <a:prstGeom prst="roundRect">
            <a:avLst>
              <a:gd name="adj" fmla="val 50000"/>
            </a:avLst>
          </a:prstGeom>
          <a:solidFill>
            <a:srgbClr val="1E2761"/>
          </a:solidFill>
          <a:ln/>
        </p:spPr>
        <p:txBody>
          <a:bodyPr/>
          <a:lstStyle/>
          <a:p>
            <a:endParaRPr lang="en-IN"/>
          </a:p>
        </p:txBody>
      </p:sp>
      <p:sp>
        <p:nvSpPr>
          <p:cNvPr id="6" name="Text 4"/>
          <p:cNvSpPr txBox="1"/>
          <p:nvPr/>
        </p:nvSpPr>
        <p:spPr>
          <a:xfrm>
            <a:off x="777240" y="1600200"/>
            <a:ext cx="1737360"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EXAMPLE 1</a:t>
            </a:r>
            <a:endParaRPr lang="en-US" dirty="0"/>
          </a:p>
        </p:txBody>
      </p:sp>
      <p:sp>
        <p:nvSpPr>
          <p:cNvPr id="7" name="Text 5"/>
          <p:cNvSpPr txBox="1"/>
          <p:nvPr/>
        </p:nvSpPr>
        <p:spPr>
          <a:xfrm>
            <a:off x="77724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Tata Steel Bond (Discount)</a:t>
            </a:r>
            <a:endParaRPr lang="en-US" dirty="0"/>
          </a:p>
        </p:txBody>
      </p:sp>
      <p:sp>
        <p:nvSpPr>
          <p:cNvPr id="8" name="Text 6"/>
          <p:cNvSpPr txBox="1"/>
          <p:nvPr/>
        </p:nvSpPr>
        <p:spPr>
          <a:xfrm>
            <a:off x="777240" y="2404872"/>
            <a:ext cx="4983480" cy="1161288"/>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Face value, F = ₹1,000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Coupon rate 8% → C = ₹80 / yr</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Maturity, T = 3 years</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yield, r = 9%</a:t>
            </a:r>
            <a:endParaRPr lang="en-US" dirty="0"/>
          </a:p>
        </p:txBody>
      </p:sp>
      <p:sp>
        <p:nvSpPr>
          <p:cNvPr id="9" name="Shape 7"/>
          <p:cNvSpPr/>
          <p:nvPr/>
        </p:nvSpPr>
        <p:spPr>
          <a:xfrm>
            <a:off x="777240" y="3630168"/>
            <a:ext cx="4983480" cy="0"/>
          </a:xfrm>
          <a:prstGeom prst="line">
            <a:avLst/>
          </a:prstGeom>
          <a:noFill/>
          <a:ln w="12700">
            <a:solidFill>
              <a:srgbClr val="CADCFC"/>
            </a:solidFill>
            <a:prstDash val="solid"/>
          </a:ln>
        </p:spPr>
        <p:txBody>
          <a:bodyPr/>
          <a:lstStyle/>
          <a:p>
            <a:endParaRPr lang="en-IN"/>
          </a:p>
        </p:txBody>
      </p:sp>
      <p:sp>
        <p:nvSpPr>
          <p:cNvPr id="10" name="Text 8"/>
          <p:cNvSpPr txBox="1"/>
          <p:nvPr/>
        </p:nvSpPr>
        <p:spPr>
          <a:xfrm>
            <a:off x="777240" y="3739896"/>
            <a:ext cx="4983480" cy="1837944"/>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 = 80/1.09 + 80/1.09² + 1080/1.09³</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P = 73.39 + 67.34 + 833.83</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₹974.56</a:t>
            </a:r>
            <a:endParaRPr lang="en-US" dirty="0"/>
          </a:p>
        </p:txBody>
      </p:sp>
      <p:sp>
        <p:nvSpPr>
          <p:cNvPr id="11" name="Text 9"/>
          <p:cNvSpPr txBox="1"/>
          <p:nvPr/>
        </p:nvSpPr>
        <p:spPr>
          <a:xfrm>
            <a:off x="777240" y="5614416"/>
            <a:ext cx="4983480" cy="457200"/>
          </a:xfrm>
          <a:prstGeom prst="rect">
            <a:avLst/>
          </a:prstGeom>
          <a:noFill/>
          <a:ln/>
        </p:spPr>
        <p:txBody>
          <a:bodyPr wrap="square" lIns="0" tIns="0" rIns="0" bIns="0" rtlCol="0" anchor="t"/>
          <a:lstStyle/>
          <a:p>
            <a:pPr marL="0" indent="0">
              <a:buNone/>
            </a:pPr>
            <a:r>
              <a:rPr lang="en-US" sz="1400" i="1" dirty="0">
                <a:solidFill>
                  <a:schemeClr val="accent2"/>
                </a:solidFill>
                <a:latin typeface="Calibri" pitchFamily="34" charset="0"/>
                <a:ea typeface="Calibri" pitchFamily="34" charset="-122"/>
                <a:cs typeface="Calibri" pitchFamily="34" charset="-120"/>
              </a:rPr>
              <a:t>Coupon rate (8%) &lt; YTM (9%) → bond trades at a discount; ₹1,000 is still repaid at redemption.</a:t>
            </a:r>
            <a:endParaRPr lang="en-US" sz="1400" dirty="0">
              <a:solidFill>
                <a:schemeClr val="accent2"/>
              </a:solidFill>
            </a:endParaRPr>
          </a:p>
        </p:txBody>
      </p:sp>
      <p:sp>
        <p:nvSpPr>
          <p:cNvPr id="12" name="Shape 10"/>
          <p:cNvSpPr/>
          <p:nvPr/>
        </p:nvSpPr>
        <p:spPr>
          <a:xfrm>
            <a:off x="617220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13" name="Shape 11"/>
          <p:cNvSpPr/>
          <p:nvPr/>
        </p:nvSpPr>
        <p:spPr>
          <a:xfrm>
            <a:off x="6400800" y="1600200"/>
            <a:ext cx="1737360" cy="310896"/>
          </a:xfrm>
          <a:prstGeom prst="roundRect">
            <a:avLst>
              <a:gd name="adj" fmla="val 50000"/>
            </a:avLst>
          </a:prstGeom>
          <a:solidFill>
            <a:srgbClr val="B8912F"/>
          </a:solidFill>
          <a:ln/>
        </p:spPr>
        <p:txBody>
          <a:bodyPr/>
          <a:lstStyle/>
          <a:p>
            <a:endParaRPr lang="en-IN"/>
          </a:p>
        </p:txBody>
      </p:sp>
      <p:sp>
        <p:nvSpPr>
          <p:cNvPr id="14" name="Text 12"/>
          <p:cNvSpPr txBox="1"/>
          <p:nvPr/>
        </p:nvSpPr>
        <p:spPr>
          <a:xfrm>
            <a:off x="6400800" y="1600200"/>
            <a:ext cx="1737360"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EXAMPLE 2</a:t>
            </a:r>
            <a:endParaRPr lang="en-US" dirty="0"/>
          </a:p>
        </p:txBody>
      </p:sp>
      <p:sp>
        <p:nvSpPr>
          <p:cNvPr id="15" name="Text 13"/>
          <p:cNvSpPr txBox="1"/>
          <p:nvPr/>
        </p:nvSpPr>
        <p:spPr>
          <a:xfrm>
            <a:off x="640080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Mahindra &amp; Mahindra Bond (Premium)</a:t>
            </a:r>
            <a:endParaRPr lang="en-US" dirty="0"/>
          </a:p>
        </p:txBody>
      </p:sp>
      <p:sp>
        <p:nvSpPr>
          <p:cNvPr id="16" name="Text 14"/>
          <p:cNvSpPr txBox="1"/>
          <p:nvPr/>
        </p:nvSpPr>
        <p:spPr>
          <a:xfrm>
            <a:off x="6400800" y="2404872"/>
            <a:ext cx="4983480" cy="1161288"/>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Face value, F = ₹1,000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Coupon rate 10% → C = ₹100 / yr</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Maturity, T = 2 years</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yield, r = 8%</a:t>
            </a:r>
            <a:endParaRPr lang="en-US" dirty="0"/>
          </a:p>
        </p:txBody>
      </p:sp>
      <p:sp>
        <p:nvSpPr>
          <p:cNvPr id="17" name="Shape 15"/>
          <p:cNvSpPr/>
          <p:nvPr/>
        </p:nvSpPr>
        <p:spPr>
          <a:xfrm>
            <a:off x="6400800" y="3630168"/>
            <a:ext cx="4983480" cy="0"/>
          </a:xfrm>
          <a:prstGeom prst="line">
            <a:avLst/>
          </a:prstGeom>
          <a:noFill/>
          <a:ln w="12700">
            <a:solidFill>
              <a:srgbClr val="CADCFC"/>
            </a:solidFill>
            <a:prstDash val="solid"/>
          </a:ln>
        </p:spPr>
        <p:txBody>
          <a:bodyPr/>
          <a:lstStyle/>
          <a:p>
            <a:endParaRPr lang="en-IN"/>
          </a:p>
        </p:txBody>
      </p:sp>
      <p:sp>
        <p:nvSpPr>
          <p:cNvPr id="18" name="Text 16"/>
          <p:cNvSpPr txBox="1"/>
          <p:nvPr/>
        </p:nvSpPr>
        <p:spPr>
          <a:xfrm>
            <a:off x="6400800" y="3739896"/>
            <a:ext cx="4983480" cy="1837944"/>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 = 100/1.08 + 1100/1.08²</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P = 92.59 + 943.07</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₹1,035.66</a:t>
            </a:r>
            <a:endParaRPr lang="en-US" dirty="0"/>
          </a:p>
        </p:txBody>
      </p:sp>
      <p:sp>
        <p:nvSpPr>
          <p:cNvPr id="19" name="Text 17"/>
          <p:cNvSpPr txBox="1"/>
          <p:nvPr/>
        </p:nvSpPr>
        <p:spPr>
          <a:xfrm>
            <a:off x="6231971" y="5577840"/>
            <a:ext cx="5321137" cy="457200"/>
          </a:xfrm>
          <a:prstGeom prst="rect">
            <a:avLst/>
          </a:prstGeom>
          <a:noFill/>
          <a:ln/>
        </p:spPr>
        <p:txBody>
          <a:bodyPr wrap="square" lIns="0" tIns="0" rIns="0" bIns="0" rtlCol="0" anchor="t"/>
          <a:lstStyle/>
          <a:p>
            <a:pPr marL="0" indent="0">
              <a:buNone/>
            </a:pPr>
            <a:r>
              <a:rPr lang="en-US" sz="1400" i="1" dirty="0">
                <a:solidFill>
                  <a:schemeClr val="accent2"/>
                </a:solidFill>
                <a:latin typeface="Calibri" pitchFamily="34" charset="0"/>
                <a:ea typeface="Calibri" pitchFamily="34" charset="-122"/>
                <a:cs typeface="Calibri" pitchFamily="34" charset="-120"/>
              </a:rPr>
              <a:t>Coupon rate (10%) &gt; YTM (8%) → bond trades at a premium; redemption value is still ₹1,000.</a:t>
            </a:r>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1" name="Text 19"/>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Zero-Coupon Bond</a:t>
            </a:r>
            <a:endParaRPr lang="en-US" sz="3000" dirty="0"/>
          </a:p>
        </p:txBody>
      </p:sp>
      <p:sp>
        <p:nvSpPr>
          <p:cNvPr id="4" name="Shape 2"/>
          <p:cNvSpPr/>
          <p:nvPr/>
        </p:nvSpPr>
        <p:spPr>
          <a:xfrm>
            <a:off x="2926080" y="1554480"/>
            <a:ext cx="6400800" cy="914400"/>
          </a:xfrm>
          <a:prstGeom prst="roundRect">
            <a:avLst>
              <a:gd name="adj" fmla="val 8000"/>
            </a:avLst>
          </a:prstGeom>
          <a:solidFill>
            <a:srgbClr val="1E2761"/>
          </a:solidFill>
          <a:ln/>
        </p:spPr>
        <p:txBody>
          <a:bodyPr/>
          <a:lstStyle/>
          <a:p>
            <a:endParaRPr lang="en-IN"/>
          </a:p>
        </p:txBody>
      </p:sp>
      <p:sp>
        <p:nvSpPr>
          <p:cNvPr id="5" name="Text 3"/>
          <p:cNvSpPr txBox="1"/>
          <p:nvPr/>
        </p:nvSpPr>
        <p:spPr>
          <a:xfrm>
            <a:off x="3108960" y="1554480"/>
            <a:ext cx="6035040" cy="658368"/>
          </a:xfrm>
          <a:prstGeom prst="rect">
            <a:avLst/>
          </a:prstGeom>
          <a:noFill/>
          <a:ln/>
        </p:spPr>
        <p:txBody>
          <a:bodyPr wrap="square" lIns="0" tIns="0" rIns="0" bIns="0" rtlCol="0" anchor="ctr"/>
          <a:lstStyle/>
          <a:p>
            <a:pPr marL="0" indent="0" algn="ctr">
              <a:buNone/>
            </a:pPr>
            <a:r>
              <a:rPr lang="en-US" sz="2000" dirty="0">
                <a:solidFill>
                  <a:srgbClr val="FFFFFF"/>
                </a:solidFill>
                <a:latin typeface="Cambria Math" pitchFamily="34" charset="0"/>
                <a:ea typeface="Cambria Math" pitchFamily="34" charset="-122"/>
                <a:cs typeface="Cambria Math" pitchFamily="34" charset="-120"/>
              </a:rPr>
              <a:t>P  =  F / (1+r)ᵀ</a:t>
            </a:r>
            <a:endParaRPr lang="en-US" sz="2000" dirty="0"/>
          </a:p>
        </p:txBody>
      </p:sp>
      <p:sp>
        <p:nvSpPr>
          <p:cNvPr id="6" name="Text 4"/>
          <p:cNvSpPr txBox="1"/>
          <p:nvPr/>
        </p:nvSpPr>
        <p:spPr>
          <a:xfrm>
            <a:off x="3108960" y="2176272"/>
            <a:ext cx="6035040" cy="256032"/>
          </a:xfrm>
          <a:prstGeom prst="rect">
            <a:avLst/>
          </a:prstGeom>
          <a:noFill/>
          <a:ln/>
        </p:spPr>
        <p:txBody>
          <a:bodyPr wrap="square" lIns="0" tIns="0" rIns="0" bIns="0" rtlCol="0" anchor="ctr"/>
          <a:lstStyle/>
          <a:p>
            <a:pPr marL="0" indent="0" algn="ctr">
              <a:buNone/>
            </a:pPr>
            <a:r>
              <a:rPr lang="en-US" sz="1600" i="1" dirty="0">
                <a:solidFill>
                  <a:schemeClr val="accent2"/>
                </a:solidFill>
                <a:latin typeface="Calibri" pitchFamily="34" charset="0"/>
                <a:ea typeface="Calibri" pitchFamily="34" charset="-122"/>
                <a:cs typeface="Calibri" pitchFamily="34" charset="-120"/>
              </a:rPr>
              <a:t>Price is simply the present value of the redemption (face) value</a:t>
            </a:r>
            <a:endParaRPr lang="en-US" sz="1600" dirty="0">
              <a:solidFill>
                <a:schemeClr val="accent2"/>
              </a:solidFill>
            </a:endParaRPr>
          </a:p>
        </p:txBody>
      </p:sp>
      <p:sp>
        <p:nvSpPr>
          <p:cNvPr id="7" name="Text 5"/>
          <p:cNvSpPr txBox="1"/>
          <p:nvPr/>
        </p:nvSpPr>
        <p:spPr>
          <a:xfrm>
            <a:off x="1097280" y="2697480"/>
            <a:ext cx="10058400" cy="822960"/>
          </a:xfrm>
          <a:prstGeom prst="rect">
            <a:avLst/>
          </a:prstGeom>
          <a:noFill/>
          <a:ln/>
        </p:spPr>
        <p:txBody>
          <a:bodyPr wrap="square" lIns="0" tIns="0" rIns="0" bIns="0" rtlCol="0" anchor="ctr"/>
          <a:lstStyle/>
          <a:p>
            <a:pPr marL="0" indent="0">
              <a:lnSpc>
                <a:spcPct val="120000"/>
              </a:lnSpc>
              <a:buNone/>
            </a:pPr>
            <a:r>
              <a:rPr lang="en-US" dirty="0">
                <a:solidFill>
                  <a:srgbClr val="5A6B87"/>
                </a:solidFill>
                <a:latin typeface="Calibri" pitchFamily="34" charset="0"/>
                <a:ea typeface="Calibri" pitchFamily="34" charset="-122"/>
                <a:cs typeface="Calibri" pitchFamily="34" charset="-120"/>
              </a:rPr>
              <a:t>A zero-coupon bond pays </a:t>
            </a:r>
            <a:r>
              <a:rPr lang="en-US" b="1" dirty="0">
                <a:solidFill>
                  <a:srgbClr val="1E2761"/>
                </a:solidFill>
                <a:latin typeface="Calibri" pitchFamily="34" charset="0"/>
                <a:ea typeface="Calibri" pitchFamily="34" charset="-122"/>
                <a:cs typeface="Calibri" pitchFamily="34" charset="-120"/>
              </a:rPr>
              <a:t>no periodic interest</a:t>
            </a:r>
            <a:r>
              <a:rPr lang="en-US" dirty="0">
                <a:solidFill>
                  <a:srgbClr val="5A6B87"/>
                </a:solidFill>
                <a:latin typeface="Calibri" pitchFamily="34" charset="0"/>
                <a:ea typeface="Calibri" pitchFamily="34" charset="-122"/>
                <a:cs typeface="Calibri" pitchFamily="34" charset="-120"/>
              </a:rPr>
              <a:t>. It is bought at a deep discount, and the entire investor return comes from the gap between purchase price and the nominal value received at redemption.</a:t>
            </a:r>
            <a:endParaRPr lang="en-US" dirty="0"/>
          </a:p>
        </p:txBody>
      </p:sp>
      <p:sp>
        <p:nvSpPr>
          <p:cNvPr id="8" name="Shape 6"/>
          <p:cNvSpPr/>
          <p:nvPr/>
        </p:nvSpPr>
        <p:spPr>
          <a:xfrm>
            <a:off x="548640" y="3749040"/>
            <a:ext cx="3474720" cy="1920240"/>
          </a:xfrm>
          <a:prstGeom prst="roundRect">
            <a:avLst>
              <a:gd name="adj" fmla="val 3333"/>
            </a:avLst>
          </a:prstGeom>
          <a:solidFill>
            <a:srgbClr val="EEF3FD"/>
          </a:solidFill>
          <a:ln/>
        </p:spPr>
        <p:txBody>
          <a:bodyPr/>
          <a:lstStyle/>
          <a:p>
            <a:endParaRPr lang="en-IN"/>
          </a:p>
        </p:txBody>
      </p:sp>
      <p:sp>
        <p:nvSpPr>
          <p:cNvPr id="9" name="Shape 7"/>
          <p:cNvSpPr/>
          <p:nvPr/>
        </p:nvSpPr>
        <p:spPr>
          <a:xfrm>
            <a:off x="2039112" y="3950208"/>
            <a:ext cx="493776" cy="493776"/>
          </a:xfrm>
          <a:prstGeom prst="ellipse">
            <a:avLst/>
          </a:prstGeom>
          <a:solidFill>
            <a:srgbClr val="B8912F"/>
          </a:solidFill>
          <a:ln/>
        </p:spPr>
        <p:txBody>
          <a:bodyPr/>
          <a:lstStyle/>
          <a:p>
            <a:endParaRPr lang="en-IN"/>
          </a:p>
        </p:txBody>
      </p:sp>
      <p:sp>
        <p:nvSpPr>
          <p:cNvPr id="10" name="Text 8"/>
          <p:cNvSpPr txBox="1"/>
          <p:nvPr/>
        </p:nvSpPr>
        <p:spPr>
          <a:xfrm>
            <a:off x="2039112" y="3950208"/>
            <a:ext cx="493776" cy="493776"/>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1</a:t>
            </a:r>
            <a:endParaRPr lang="en-US" sz="1800" dirty="0">
              <a:solidFill>
                <a:schemeClr val="bg1"/>
              </a:solidFill>
            </a:endParaRPr>
          </a:p>
        </p:txBody>
      </p:sp>
      <p:sp>
        <p:nvSpPr>
          <p:cNvPr id="11" name="Text 9"/>
          <p:cNvSpPr txBox="1"/>
          <p:nvPr/>
        </p:nvSpPr>
        <p:spPr>
          <a:xfrm>
            <a:off x="731520" y="4572000"/>
            <a:ext cx="3108960" cy="365760"/>
          </a:xfrm>
          <a:prstGeom prst="rect">
            <a:avLst/>
          </a:prstGeom>
          <a:noFill/>
          <a:ln/>
        </p:spPr>
        <p:txBody>
          <a:bodyPr wrap="square" lIns="0" tIns="0" rIns="0" bIns="0" rtlCol="0" anchor="ctr"/>
          <a:lstStyle/>
          <a:p>
            <a:pPr marL="0" indent="0" algn="ctr">
              <a:buNone/>
            </a:pPr>
            <a:r>
              <a:rPr lang="en-US" b="1" dirty="0">
                <a:solidFill>
                  <a:srgbClr val="1E2761"/>
                </a:solidFill>
                <a:latin typeface="Cambria" pitchFamily="34" charset="0"/>
                <a:ea typeface="Cambria" pitchFamily="34" charset="-122"/>
                <a:cs typeface="Cambria" pitchFamily="34" charset="-120"/>
              </a:rPr>
              <a:t>No Coupon Rate</a:t>
            </a:r>
            <a:endParaRPr lang="en-US" dirty="0"/>
          </a:p>
        </p:txBody>
      </p:sp>
      <p:sp>
        <p:nvSpPr>
          <p:cNvPr id="12" name="Text 10"/>
          <p:cNvSpPr txBox="1"/>
          <p:nvPr/>
        </p:nvSpPr>
        <p:spPr>
          <a:xfrm>
            <a:off x="731520" y="4937760"/>
            <a:ext cx="3108960" cy="685800"/>
          </a:xfrm>
          <a:prstGeom prst="rect">
            <a:avLst/>
          </a:prstGeom>
          <a:noFill/>
          <a:ln/>
        </p:spPr>
        <p:txBody>
          <a:bodyPr wrap="square" lIns="0" tIns="0" rIns="0" bIns="0" rtlCol="0" anchor="ctr"/>
          <a:lstStyle/>
          <a:p>
            <a:pPr marL="0" indent="0">
              <a:buNone/>
            </a:pPr>
            <a:r>
              <a:rPr lang="en-US" sz="1600" dirty="0">
                <a:solidFill>
                  <a:schemeClr val="accent2"/>
                </a:solidFill>
                <a:latin typeface="Calibri" pitchFamily="34" charset="0"/>
                <a:ea typeface="Calibri" pitchFamily="34" charset="-122"/>
                <a:cs typeface="Calibri" pitchFamily="34" charset="-120"/>
              </a:rPr>
              <a:t>There is no periodic coupon at all — hence 'zero-coupon'.</a:t>
            </a:r>
            <a:endParaRPr lang="en-US" sz="1600" dirty="0">
              <a:solidFill>
                <a:schemeClr val="accent2"/>
              </a:solidFill>
            </a:endParaRPr>
          </a:p>
        </p:txBody>
      </p:sp>
      <p:sp>
        <p:nvSpPr>
          <p:cNvPr id="13" name="Shape 11"/>
          <p:cNvSpPr/>
          <p:nvPr/>
        </p:nvSpPr>
        <p:spPr>
          <a:xfrm>
            <a:off x="4251960" y="3749040"/>
            <a:ext cx="3474720" cy="1920240"/>
          </a:xfrm>
          <a:prstGeom prst="roundRect">
            <a:avLst>
              <a:gd name="adj" fmla="val 3333"/>
            </a:avLst>
          </a:prstGeom>
          <a:solidFill>
            <a:srgbClr val="EEF3FD"/>
          </a:solidFill>
          <a:ln/>
        </p:spPr>
        <p:txBody>
          <a:bodyPr/>
          <a:lstStyle/>
          <a:p>
            <a:endParaRPr lang="en-IN"/>
          </a:p>
        </p:txBody>
      </p:sp>
      <p:sp>
        <p:nvSpPr>
          <p:cNvPr id="14" name="Shape 12"/>
          <p:cNvSpPr/>
          <p:nvPr/>
        </p:nvSpPr>
        <p:spPr>
          <a:xfrm>
            <a:off x="5742432" y="3950208"/>
            <a:ext cx="493776" cy="493776"/>
          </a:xfrm>
          <a:prstGeom prst="ellipse">
            <a:avLst/>
          </a:prstGeom>
          <a:solidFill>
            <a:srgbClr val="B8912F"/>
          </a:solidFill>
          <a:ln/>
        </p:spPr>
        <p:txBody>
          <a:bodyPr/>
          <a:lstStyle/>
          <a:p>
            <a:endParaRPr lang="en-IN"/>
          </a:p>
        </p:txBody>
      </p:sp>
      <p:sp>
        <p:nvSpPr>
          <p:cNvPr id="15" name="Text 13"/>
          <p:cNvSpPr txBox="1"/>
          <p:nvPr/>
        </p:nvSpPr>
        <p:spPr>
          <a:xfrm>
            <a:off x="5742432" y="3950208"/>
            <a:ext cx="493776" cy="493776"/>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2</a:t>
            </a:r>
            <a:endParaRPr lang="en-US" sz="1800" dirty="0">
              <a:solidFill>
                <a:schemeClr val="bg1"/>
              </a:solidFill>
            </a:endParaRPr>
          </a:p>
        </p:txBody>
      </p:sp>
      <p:sp>
        <p:nvSpPr>
          <p:cNvPr id="16" name="Text 14"/>
          <p:cNvSpPr txBox="1"/>
          <p:nvPr/>
        </p:nvSpPr>
        <p:spPr>
          <a:xfrm>
            <a:off x="4434840" y="4572000"/>
            <a:ext cx="3108960" cy="365760"/>
          </a:xfrm>
          <a:prstGeom prst="rect">
            <a:avLst/>
          </a:prstGeom>
          <a:noFill/>
          <a:ln/>
        </p:spPr>
        <p:txBody>
          <a:bodyPr wrap="square" lIns="0" tIns="0" rIns="0" bIns="0" rtlCol="0" anchor="ctr"/>
          <a:lstStyle/>
          <a:p>
            <a:pPr marL="0" indent="0" algn="ctr">
              <a:buNone/>
            </a:pPr>
            <a:r>
              <a:rPr lang="en-US" b="1" dirty="0">
                <a:solidFill>
                  <a:srgbClr val="1E2761"/>
                </a:solidFill>
                <a:latin typeface="Cambria" pitchFamily="34" charset="0"/>
                <a:ea typeface="Cambria" pitchFamily="34" charset="-122"/>
                <a:cs typeface="Cambria" pitchFamily="34" charset="-120"/>
              </a:rPr>
              <a:t>No Reinvestment Risk</a:t>
            </a:r>
            <a:endParaRPr lang="en-US" dirty="0"/>
          </a:p>
        </p:txBody>
      </p:sp>
      <p:sp>
        <p:nvSpPr>
          <p:cNvPr id="17" name="Text 15"/>
          <p:cNvSpPr txBox="1"/>
          <p:nvPr/>
        </p:nvSpPr>
        <p:spPr>
          <a:xfrm>
            <a:off x="4434840" y="4937760"/>
            <a:ext cx="3337560" cy="685800"/>
          </a:xfrm>
          <a:prstGeom prst="rect">
            <a:avLst/>
          </a:prstGeom>
          <a:noFill/>
          <a:ln/>
        </p:spPr>
        <p:txBody>
          <a:bodyPr wrap="square" lIns="0" tIns="0" rIns="0" bIns="0" rtlCol="0" anchor="ctr"/>
          <a:lstStyle/>
          <a:p>
            <a:pPr marL="0" indent="0">
              <a:buNone/>
            </a:pPr>
            <a:r>
              <a:rPr lang="en-US" sz="1600" dirty="0">
                <a:solidFill>
                  <a:schemeClr val="accent2"/>
                </a:solidFill>
                <a:latin typeface="Calibri" pitchFamily="34" charset="0"/>
                <a:ea typeface="Calibri" pitchFamily="34" charset="-122"/>
                <a:cs typeface="Calibri" pitchFamily="34" charset="-120"/>
              </a:rPr>
              <a:t>No coupons to reinvest, unlike a regular coupon bond.</a:t>
            </a:r>
            <a:endParaRPr lang="en-US" sz="1600" dirty="0">
              <a:solidFill>
                <a:schemeClr val="accent2"/>
              </a:solidFill>
            </a:endParaRPr>
          </a:p>
        </p:txBody>
      </p:sp>
      <p:sp>
        <p:nvSpPr>
          <p:cNvPr id="18" name="Shape 16"/>
          <p:cNvSpPr/>
          <p:nvPr/>
        </p:nvSpPr>
        <p:spPr>
          <a:xfrm>
            <a:off x="7955280" y="3749040"/>
            <a:ext cx="3474720" cy="1920240"/>
          </a:xfrm>
          <a:prstGeom prst="roundRect">
            <a:avLst>
              <a:gd name="adj" fmla="val 3333"/>
            </a:avLst>
          </a:prstGeom>
          <a:solidFill>
            <a:srgbClr val="EEF3FD"/>
          </a:solidFill>
          <a:ln/>
        </p:spPr>
        <p:txBody>
          <a:bodyPr/>
          <a:lstStyle/>
          <a:p>
            <a:endParaRPr lang="en-IN"/>
          </a:p>
        </p:txBody>
      </p:sp>
      <p:sp>
        <p:nvSpPr>
          <p:cNvPr id="19" name="Shape 17"/>
          <p:cNvSpPr/>
          <p:nvPr/>
        </p:nvSpPr>
        <p:spPr>
          <a:xfrm>
            <a:off x="9445752" y="3950208"/>
            <a:ext cx="493776" cy="493776"/>
          </a:xfrm>
          <a:prstGeom prst="ellipse">
            <a:avLst/>
          </a:prstGeom>
          <a:solidFill>
            <a:srgbClr val="B8912F"/>
          </a:solidFill>
          <a:ln/>
        </p:spPr>
        <p:txBody>
          <a:bodyPr/>
          <a:lstStyle/>
          <a:p>
            <a:endParaRPr lang="en-IN"/>
          </a:p>
        </p:txBody>
      </p:sp>
      <p:sp>
        <p:nvSpPr>
          <p:cNvPr id="20" name="Text 18"/>
          <p:cNvSpPr txBox="1"/>
          <p:nvPr/>
        </p:nvSpPr>
        <p:spPr>
          <a:xfrm>
            <a:off x="9445752" y="3950208"/>
            <a:ext cx="493776" cy="493776"/>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3</a:t>
            </a:r>
            <a:endParaRPr lang="en-US" sz="1800" dirty="0">
              <a:solidFill>
                <a:schemeClr val="bg1"/>
              </a:solidFill>
            </a:endParaRPr>
          </a:p>
        </p:txBody>
      </p:sp>
      <p:sp>
        <p:nvSpPr>
          <p:cNvPr id="21" name="Text 19"/>
          <p:cNvSpPr txBox="1"/>
          <p:nvPr/>
        </p:nvSpPr>
        <p:spPr>
          <a:xfrm>
            <a:off x="8138160" y="4572000"/>
            <a:ext cx="3108960" cy="365760"/>
          </a:xfrm>
          <a:prstGeom prst="rect">
            <a:avLst/>
          </a:prstGeom>
          <a:noFill/>
          <a:ln/>
        </p:spPr>
        <p:txBody>
          <a:bodyPr wrap="square" lIns="0" tIns="0" rIns="0" bIns="0" rtlCol="0" anchor="ctr"/>
          <a:lstStyle/>
          <a:p>
            <a:pPr marL="0" indent="0" algn="ctr">
              <a:buNone/>
            </a:pPr>
            <a:r>
              <a:rPr lang="en-US" b="1" dirty="0">
                <a:solidFill>
                  <a:srgbClr val="1E2761"/>
                </a:solidFill>
                <a:latin typeface="Cambria" pitchFamily="34" charset="0"/>
                <a:ea typeface="Cambria" pitchFamily="34" charset="-122"/>
                <a:cs typeface="Cambria" pitchFamily="34" charset="-120"/>
              </a:rPr>
              <a:t>Full Return at Redemption</a:t>
            </a:r>
            <a:endParaRPr lang="en-US" dirty="0"/>
          </a:p>
        </p:txBody>
      </p:sp>
      <p:sp>
        <p:nvSpPr>
          <p:cNvPr id="22" name="Text 20"/>
          <p:cNvSpPr txBox="1"/>
          <p:nvPr/>
        </p:nvSpPr>
        <p:spPr>
          <a:xfrm>
            <a:off x="8138160" y="4937760"/>
            <a:ext cx="3108960" cy="685800"/>
          </a:xfrm>
          <a:prstGeom prst="rect">
            <a:avLst/>
          </a:prstGeom>
          <a:noFill/>
          <a:ln/>
        </p:spPr>
        <p:txBody>
          <a:bodyPr wrap="square" lIns="0" tIns="0" rIns="0" bIns="0" rtlCol="0" anchor="ctr"/>
          <a:lstStyle/>
          <a:p>
            <a:r>
              <a:rPr lang="en-US" sz="1600" dirty="0">
                <a:solidFill>
                  <a:schemeClr val="accent2"/>
                </a:solidFill>
                <a:latin typeface="Calibri" pitchFamily="34" charset="0"/>
                <a:ea typeface="Calibri" pitchFamily="34" charset="-122"/>
                <a:cs typeface="Calibri" pitchFamily="34" charset="-120"/>
              </a:rPr>
              <a:t>Return = Redemption value − Purchase price.</a:t>
            </a:r>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4" name="Text 22"/>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Zero-Coupon Bond: Examples</a:t>
            </a:r>
            <a:endParaRPr lang="en-US" sz="3000" dirty="0"/>
          </a:p>
        </p:txBody>
      </p:sp>
      <p:sp>
        <p:nvSpPr>
          <p:cNvPr id="4" name="Shape 2"/>
          <p:cNvSpPr/>
          <p:nvPr/>
        </p:nvSpPr>
        <p:spPr>
          <a:xfrm>
            <a:off x="54864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5" name="Shape 3"/>
          <p:cNvSpPr/>
          <p:nvPr/>
        </p:nvSpPr>
        <p:spPr>
          <a:xfrm>
            <a:off x="777240" y="1600200"/>
            <a:ext cx="1737360" cy="310896"/>
          </a:xfrm>
          <a:prstGeom prst="roundRect">
            <a:avLst>
              <a:gd name="adj" fmla="val 50000"/>
            </a:avLst>
          </a:prstGeom>
          <a:solidFill>
            <a:srgbClr val="1E2761"/>
          </a:solidFill>
          <a:ln/>
        </p:spPr>
        <p:txBody>
          <a:bodyPr/>
          <a:lstStyle/>
          <a:p>
            <a:endParaRPr lang="en-IN"/>
          </a:p>
        </p:txBody>
      </p:sp>
      <p:sp>
        <p:nvSpPr>
          <p:cNvPr id="6" name="Text 4"/>
          <p:cNvSpPr txBox="1"/>
          <p:nvPr/>
        </p:nvSpPr>
        <p:spPr>
          <a:xfrm>
            <a:off x="777240" y="1600200"/>
            <a:ext cx="1737360" cy="310896"/>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EXAMPLE 1</a:t>
            </a:r>
            <a:endParaRPr lang="en-US" dirty="0"/>
          </a:p>
        </p:txBody>
      </p:sp>
      <p:sp>
        <p:nvSpPr>
          <p:cNvPr id="7" name="Text 5"/>
          <p:cNvSpPr txBox="1"/>
          <p:nvPr/>
        </p:nvSpPr>
        <p:spPr>
          <a:xfrm>
            <a:off x="77724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NHAI Zero-Coupon Bond</a:t>
            </a:r>
            <a:endParaRPr lang="en-US" dirty="0"/>
          </a:p>
        </p:txBody>
      </p:sp>
      <p:sp>
        <p:nvSpPr>
          <p:cNvPr id="8" name="Text 6"/>
          <p:cNvSpPr txBox="1"/>
          <p:nvPr/>
        </p:nvSpPr>
        <p:spPr>
          <a:xfrm>
            <a:off x="777240" y="2404872"/>
            <a:ext cx="4983480" cy="905256"/>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Nominal (redemption) value, F = ₹1,00,000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yield, r = 7% p.a.</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Maturity, T = 5 years</a:t>
            </a:r>
            <a:endParaRPr lang="en-US" dirty="0"/>
          </a:p>
        </p:txBody>
      </p:sp>
      <p:sp>
        <p:nvSpPr>
          <p:cNvPr id="9" name="Shape 7"/>
          <p:cNvSpPr/>
          <p:nvPr/>
        </p:nvSpPr>
        <p:spPr>
          <a:xfrm>
            <a:off x="777240" y="3374136"/>
            <a:ext cx="4983480" cy="0"/>
          </a:xfrm>
          <a:prstGeom prst="line">
            <a:avLst/>
          </a:prstGeom>
          <a:noFill/>
          <a:ln w="12700">
            <a:solidFill>
              <a:srgbClr val="CADCFC"/>
            </a:solidFill>
            <a:prstDash val="solid"/>
          </a:ln>
        </p:spPr>
        <p:txBody>
          <a:bodyPr/>
          <a:lstStyle/>
          <a:p>
            <a:endParaRPr lang="en-IN"/>
          </a:p>
        </p:txBody>
      </p:sp>
      <p:sp>
        <p:nvSpPr>
          <p:cNvPr id="10" name="Text 8"/>
          <p:cNvSpPr txBox="1"/>
          <p:nvPr/>
        </p:nvSpPr>
        <p:spPr>
          <a:xfrm>
            <a:off x="777240" y="3483864"/>
            <a:ext cx="4983480" cy="2093976"/>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 = 1,00,000 / (1.07)⁵</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P = 1,00,000 / 1.4026</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₹71,299</a:t>
            </a:r>
            <a:endParaRPr lang="en-US" dirty="0"/>
          </a:p>
        </p:txBody>
      </p:sp>
      <p:sp>
        <p:nvSpPr>
          <p:cNvPr id="11" name="Text 9"/>
          <p:cNvSpPr txBox="1"/>
          <p:nvPr/>
        </p:nvSpPr>
        <p:spPr>
          <a:xfrm>
            <a:off x="777240" y="5614416"/>
            <a:ext cx="4983480" cy="457200"/>
          </a:xfrm>
          <a:prstGeom prst="rect">
            <a:avLst/>
          </a:prstGeom>
          <a:noFill/>
          <a:ln/>
        </p:spPr>
        <p:txBody>
          <a:bodyPr wrap="square" lIns="0" tIns="0" rIns="0" bIns="0" rtlCol="0" anchor="t"/>
          <a:lstStyle/>
          <a:p>
            <a:pPr marL="0" indent="0">
              <a:buNone/>
            </a:pPr>
            <a:r>
              <a:rPr lang="en-US" sz="1600" i="1" dirty="0">
                <a:solidFill>
                  <a:schemeClr val="accent2"/>
                </a:solidFill>
                <a:latin typeface="Calibri" pitchFamily="34" charset="0"/>
                <a:ea typeface="Calibri" pitchFamily="34" charset="-122"/>
                <a:cs typeface="Calibri" pitchFamily="34" charset="-120"/>
              </a:rPr>
              <a:t>Investor pays ₹71,299 today; no coupons; receives full ₹1,00,000 at redemption after 5 years (gain ≈ ₹28,701).</a:t>
            </a:r>
            <a:endParaRPr lang="en-US" sz="1600" dirty="0">
              <a:solidFill>
                <a:schemeClr val="accent2"/>
              </a:solidFill>
            </a:endParaRPr>
          </a:p>
        </p:txBody>
      </p:sp>
      <p:sp>
        <p:nvSpPr>
          <p:cNvPr id="12" name="Shape 10"/>
          <p:cNvSpPr/>
          <p:nvPr/>
        </p:nvSpPr>
        <p:spPr>
          <a:xfrm>
            <a:off x="617220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13" name="Shape 11"/>
          <p:cNvSpPr/>
          <p:nvPr/>
        </p:nvSpPr>
        <p:spPr>
          <a:xfrm>
            <a:off x="6400800" y="1600200"/>
            <a:ext cx="1737360" cy="310896"/>
          </a:xfrm>
          <a:prstGeom prst="roundRect">
            <a:avLst>
              <a:gd name="adj" fmla="val 50000"/>
            </a:avLst>
          </a:prstGeom>
          <a:solidFill>
            <a:srgbClr val="B8912F"/>
          </a:solidFill>
          <a:ln/>
        </p:spPr>
        <p:txBody>
          <a:bodyPr/>
          <a:lstStyle/>
          <a:p>
            <a:endParaRPr lang="en-IN"/>
          </a:p>
        </p:txBody>
      </p:sp>
      <p:sp>
        <p:nvSpPr>
          <p:cNvPr id="14" name="Text 12"/>
          <p:cNvSpPr txBox="1"/>
          <p:nvPr/>
        </p:nvSpPr>
        <p:spPr>
          <a:xfrm>
            <a:off x="6400800" y="160020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2</a:t>
            </a:r>
            <a:endParaRPr lang="en-US" dirty="0">
              <a:solidFill>
                <a:schemeClr val="bg1"/>
              </a:solidFill>
            </a:endParaRPr>
          </a:p>
        </p:txBody>
      </p:sp>
      <p:sp>
        <p:nvSpPr>
          <p:cNvPr id="15" name="Text 13"/>
          <p:cNvSpPr txBox="1"/>
          <p:nvPr/>
        </p:nvSpPr>
        <p:spPr>
          <a:xfrm>
            <a:off x="640080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REC Ltd Zero-Coupon Bond</a:t>
            </a:r>
            <a:endParaRPr lang="en-US" dirty="0"/>
          </a:p>
        </p:txBody>
      </p:sp>
      <p:sp>
        <p:nvSpPr>
          <p:cNvPr id="16" name="Text 14"/>
          <p:cNvSpPr txBox="1"/>
          <p:nvPr/>
        </p:nvSpPr>
        <p:spPr>
          <a:xfrm>
            <a:off x="6400800" y="2404872"/>
            <a:ext cx="4983480" cy="905256"/>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Nominal (redemption) value, F = ₹10,000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yield, r = 8% p.a.</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Maturity, T = 10 years</a:t>
            </a:r>
            <a:endParaRPr lang="en-US" dirty="0"/>
          </a:p>
        </p:txBody>
      </p:sp>
      <p:sp>
        <p:nvSpPr>
          <p:cNvPr id="17" name="Shape 15"/>
          <p:cNvSpPr/>
          <p:nvPr/>
        </p:nvSpPr>
        <p:spPr>
          <a:xfrm>
            <a:off x="6400800" y="3374136"/>
            <a:ext cx="4983480" cy="0"/>
          </a:xfrm>
          <a:prstGeom prst="line">
            <a:avLst/>
          </a:prstGeom>
          <a:noFill/>
          <a:ln w="12700">
            <a:solidFill>
              <a:srgbClr val="CADCFC"/>
            </a:solidFill>
            <a:prstDash val="solid"/>
          </a:ln>
        </p:spPr>
        <p:txBody>
          <a:bodyPr/>
          <a:lstStyle/>
          <a:p>
            <a:endParaRPr lang="en-IN"/>
          </a:p>
        </p:txBody>
      </p:sp>
      <p:sp>
        <p:nvSpPr>
          <p:cNvPr id="18" name="Text 16"/>
          <p:cNvSpPr txBox="1"/>
          <p:nvPr/>
        </p:nvSpPr>
        <p:spPr>
          <a:xfrm>
            <a:off x="6400800" y="3483864"/>
            <a:ext cx="4983480" cy="2093976"/>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 = 10,000 / (1.08)¹⁰</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P = 10,000 / 2.1589</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₹4,632</a:t>
            </a:r>
            <a:endParaRPr lang="en-US" dirty="0"/>
          </a:p>
        </p:txBody>
      </p:sp>
      <p:sp>
        <p:nvSpPr>
          <p:cNvPr id="19" name="Text 17"/>
          <p:cNvSpPr txBox="1"/>
          <p:nvPr/>
        </p:nvSpPr>
        <p:spPr>
          <a:xfrm>
            <a:off x="6400800" y="5614416"/>
            <a:ext cx="4983480" cy="457200"/>
          </a:xfrm>
          <a:prstGeom prst="rect">
            <a:avLst/>
          </a:prstGeom>
          <a:noFill/>
          <a:ln/>
        </p:spPr>
        <p:txBody>
          <a:bodyPr wrap="square" lIns="0" tIns="0" rIns="0" bIns="0" rtlCol="0" anchor="t"/>
          <a:lstStyle/>
          <a:p>
            <a:pPr marL="0" indent="0">
              <a:buNone/>
            </a:pPr>
            <a:r>
              <a:rPr lang="en-US" sz="1600" i="1" dirty="0">
                <a:solidFill>
                  <a:schemeClr val="accent2"/>
                </a:solidFill>
                <a:latin typeface="Calibri" pitchFamily="34" charset="0"/>
                <a:ea typeface="Calibri" pitchFamily="34" charset="-122"/>
                <a:cs typeface="Calibri" pitchFamily="34" charset="-120"/>
              </a:rPr>
              <a:t>Useful for goal-based saving — buy at ₹4,632, receive ₹10,000 after 10 years, with nothing to reinvest in between.</a:t>
            </a:r>
            <a:endParaRPr lang="en-US" sz="1600" dirty="0">
              <a:solidFill>
                <a:schemeClr val="accent2"/>
              </a:solidFill>
            </a:endParaRPr>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1" name="Text 19"/>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Perpetual Bond</a:t>
            </a:r>
            <a:endParaRPr lang="en-US" sz="3000" dirty="0"/>
          </a:p>
        </p:txBody>
      </p:sp>
      <p:sp>
        <p:nvSpPr>
          <p:cNvPr id="4" name="Shape 2"/>
          <p:cNvSpPr/>
          <p:nvPr/>
        </p:nvSpPr>
        <p:spPr>
          <a:xfrm>
            <a:off x="3291840" y="1554480"/>
            <a:ext cx="5577840" cy="914400"/>
          </a:xfrm>
          <a:prstGeom prst="roundRect">
            <a:avLst>
              <a:gd name="adj" fmla="val 8000"/>
            </a:avLst>
          </a:prstGeom>
          <a:solidFill>
            <a:srgbClr val="1E2761"/>
          </a:solidFill>
          <a:ln/>
        </p:spPr>
        <p:txBody>
          <a:bodyPr/>
          <a:lstStyle/>
          <a:p>
            <a:endParaRPr lang="en-IN"/>
          </a:p>
        </p:txBody>
      </p:sp>
      <p:sp>
        <p:nvSpPr>
          <p:cNvPr id="5" name="Text 3"/>
          <p:cNvSpPr txBox="1"/>
          <p:nvPr/>
        </p:nvSpPr>
        <p:spPr>
          <a:xfrm>
            <a:off x="3474720" y="1554480"/>
            <a:ext cx="5212080" cy="658368"/>
          </a:xfrm>
          <a:prstGeom prst="rect">
            <a:avLst/>
          </a:prstGeom>
          <a:noFill/>
          <a:ln/>
        </p:spPr>
        <p:txBody>
          <a:bodyPr wrap="square" lIns="0" tIns="0" rIns="0" bIns="0" rtlCol="0" anchor="ctr"/>
          <a:lstStyle/>
          <a:p>
            <a:pPr marL="0" indent="0" algn="ctr">
              <a:buNone/>
            </a:pPr>
            <a:r>
              <a:rPr lang="en-US" sz="2000" dirty="0">
                <a:solidFill>
                  <a:srgbClr val="FFFFFF"/>
                </a:solidFill>
                <a:latin typeface="Cambria Math" pitchFamily="34" charset="0"/>
                <a:ea typeface="Cambria Math" pitchFamily="34" charset="-122"/>
                <a:cs typeface="Cambria Math" pitchFamily="34" charset="-120"/>
              </a:rPr>
              <a:t>P  =  C / r</a:t>
            </a:r>
            <a:endParaRPr lang="en-US" sz="2000" dirty="0"/>
          </a:p>
        </p:txBody>
      </p:sp>
      <p:sp>
        <p:nvSpPr>
          <p:cNvPr id="6" name="Text 4"/>
          <p:cNvSpPr txBox="1"/>
          <p:nvPr/>
        </p:nvSpPr>
        <p:spPr>
          <a:xfrm>
            <a:off x="3474720" y="2176272"/>
            <a:ext cx="5212080" cy="256032"/>
          </a:xfrm>
          <a:prstGeom prst="rect">
            <a:avLst/>
          </a:prstGeom>
          <a:noFill/>
          <a:ln/>
        </p:spPr>
        <p:txBody>
          <a:bodyPr wrap="square" lIns="0" tIns="0" rIns="0" bIns="0" rtlCol="0" anchor="ctr"/>
          <a:lstStyle/>
          <a:p>
            <a:pPr marL="0" indent="0" algn="ctr">
              <a:buNone/>
            </a:pPr>
            <a:r>
              <a:rPr lang="en-US" sz="1600" i="1" dirty="0">
                <a:solidFill>
                  <a:schemeClr val="accent2"/>
                </a:solidFill>
                <a:latin typeface="Calibri" pitchFamily="34" charset="0"/>
                <a:ea typeface="Calibri" pitchFamily="34" charset="-122"/>
                <a:cs typeface="Calibri" pitchFamily="34" charset="-120"/>
              </a:rPr>
              <a:t>Present value of a coupon stream that never stops</a:t>
            </a:r>
            <a:endParaRPr lang="en-US" sz="1600" dirty="0">
              <a:solidFill>
                <a:schemeClr val="accent2"/>
              </a:solidFill>
            </a:endParaRPr>
          </a:p>
        </p:txBody>
      </p:sp>
      <p:sp>
        <p:nvSpPr>
          <p:cNvPr id="7" name="Text 5"/>
          <p:cNvSpPr txBox="1"/>
          <p:nvPr/>
        </p:nvSpPr>
        <p:spPr>
          <a:xfrm>
            <a:off x="914400" y="2697480"/>
            <a:ext cx="10332720" cy="822960"/>
          </a:xfrm>
          <a:prstGeom prst="rect">
            <a:avLst/>
          </a:prstGeom>
          <a:noFill/>
          <a:ln/>
        </p:spPr>
        <p:txBody>
          <a:bodyPr wrap="square" lIns="0" tIns="0" rIns="0" bIns="0" rtlCol="0" anchor="ctr"/>
          <a:lstStyle/>
          <a:p>
            <a:pPr marL="0" indent="0">
              <a:lnSpc>
                <a:spcPct val="120000"/>
              </a:lnSpc>
              <a:buNone/>
            </a:pPr>
            <a:r>
              <a:rPr lang="en-US" sz="1500" dirty="0">
                <a:solidFill>
                  <a:srgbClr val="5A6B87"/>
                </a:solidFill>
                <a:latin typeface="Calibri" pitchFamily="34" charset="0"/>
                <a:ea typeface="Calibri" pitchFamily="34" charset="-122"/>
                <a:cs typeface="Calibri" pitchFamily="34" charset="-120"/>
              </a:rPr>
              <a:t>A perpetual bond has </a:t>
            </a:r>
            <a:r>
              <a:rPr lang="en-US" sz="1500" b="1" dirty="0">
                <a:solidFill>
                  <a:srgbClr val="1E2761"/>
                </a:solidFill>
                <a:latin typeface="Calibri" pitchFamily="34" charset="0"/>
                <a:ea typeface="Calibri" pitchFamily="34" charset="-122"/>
                <a:cs typeface="Calibri" pitchFamily="34" charset="-120"/>
              </a:rPr>
              <a:t>no maturity date</a:t>
            </a:r>
            <a:r>
              <a:rPr lang="en-US" sz="1500" dirty="0">
                <a:solidFill>
                  <a:srgbClr val="5A6B87"/>
                </a:solidFill>
                <a:latin typeface="Calibri" pitchFamily="34" charset="0"/>
                <a:ea typeface="Calibri" pitchFamily="34" charset="-122"/>
                <a:cs typeface="Calibri" pitchFamily="34" charset="-120"/>
              </a:rPr>
              <a:t> — the issuer pays the coupon forever (subject to a call option) and the </a:t>
            </a:r>
            <a:r>
              <a:rPr lang="en-US" sz="1500" b="1" dirty="0">
                <a:solidFill>
                  <a:srgbClr val="1E2761"/>
                </a:solidFill>
                <a:latin typeface="Calibri" pitchFamily="34" charset="0"/>
                <a:ea typeface="Calibri" pitchFamily="34" charset="-122"/>
                <a:cs typeface="Calibri" pitchFamily="34" charset="-120"/>
              </a:rPr>
              <a:t>face value is never redeemed</a:t>
            </a:r>
            <a:r>
              <a:rPr lang="en-US" sz="1500" dirty="0">
                <a:solidFill>
                  <a:srgbClr val="5A6B87"/>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1280160" y="3657600"/>
            <a:ext cx="9601200" cy="2011680"/>
          </a:xfrm>
          <a:prstGeom prst="roundRect">
            <a:avLst>
              <a:gd name="adj" fmla="val 3182"/>
            </a:avLst>
          </a:prstGeom>
          <a:solidFill>
            <a:srgbClr val="F1E4BE"/>
          </a:solidFill>
          <a:ln/>
        </p:spPr>
        <p:txBody>
          <a:bodyPr/>
          <a:lstStyle/>
          <a:p>
            <a:endParaRPr lang="en-IN"/>
          </a:p>
        </p:txBody>
      </p:sp>
      <p:sp>
        <p:nvSpPr>
          <p:cNvPr id="9" name="Text 7"/>
          <p:cNvSpPr txBox="1"/>
          <p:nvPr/>
        </p:nvSpPr>
        <p:spPr>
          <a:xfrm>
            <a:off x="1554480" y="3840480"/>
            <a:ext cx="914400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In India: Additional Tier-1 (AT1) Bonds</a:t>
            </a:r>
            <a:endParaRPr lang="en-US" dirty="0"/>
          </a:p>
        </p:txBody>
      </p:sp>
      <p:sp>
        <p:nvSpPr>
          <p:cNvPr id="10" name="Text 8"/>
          <p:cNvSpPr txBox="1"/>
          <p:nvPr/>
        </p:nvSpPr>
        <p:spPr>
          <a:xfrm>
            <a:off x="1554480" y="4224528"/>
            <a:ext cx="9144000" cy="1280160"/>
          </a:xfrm>
          <a:prstGeom prst="rect">
            <a:avLst/>
          </a:prstGeom>
          <a:noFill/>
          <a:ln/>
        </p:spPr>
        <p:txBody>
          <a:bodyPr wrap="square" lIns="0" tIns="0" rIns="0" bIns="0" rtlCol="0" anchor="ctr"/>
          <a:lstStyle/>
          <a:p>
            <a:pPr marL="0" indent="0">
              <a:lnSpc>
                <a:spcPct val="120000"/>
              </a:lnSpc>
              <a:buNone/>
            </a:pPr>
            <a:r>
              <a:rPr lang="en-US" sz="1600" dirty="0">
                <a:solidFill>
                  <a:srgbClr val="1E2761"/>
                </a:solidFill>
                <a:latin typeface="Calibri" pitchFamily="34" charset="0"/>
                <a:ea typeface="Calibri" pitchFamily="34" charset="-122"/>
                <a:cs typeface="Calibri" pitchFamily="34" charset="-120"/>
              </a:rPr>
              <a:t>Issued by banks such as SBI, HDFC Bank, ICICI Bank, and PNB under Basel III norms. AT1 bonds rank just above equity and can even be written down under regulatory stress — as happened with Yes Bank's AT1 bonds in 2020 (~₹8,400 crore written off on RBI's direction). This shows that a bond's safety depends on where it sits in the capital structure — not just on being called a 'bond'.</a:t>
            </a:r>
            <a:endParaRPr lang="en-US" sz="1600" dirty="0"/>
          </a:p>
        </p:txBody>
      </p:sp>
      <p:sp>
        <p:nvSpPr>
          <p:cNvPr id="11" name="Text 9"/>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12" name="Text 10"/>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Perpetual Bond: Examples</a:t>
            </a:r>
            <a:endParaRPr lang="en-US" sz="3000" dirty="0"/>
          </a:p>
        </p:txBody>
      </p:sp>
      <p:sp>
        <p:nvSpPr>
          <p:cNvPr id="4" name="Shape 2"/>
          <p:cNvSpPr/>
          <p:nvPr/>
        </p:nvSpPr>
        <p:spPr>
          <a:xfrm>
            <a:off x="54864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5" name="Shape 3"/>
          <p:cNvSpPr/>
          <p:nvPr/>
        </p:nvSpPr>
        <p:spPr>
          <a:xfrm>
            <a:off x="777240" y="1600200"/>
            <a:ext cx="1737360" cy="310896"/>
          </a:xfrm>
          <a:prstGeom prst="roundRect">
            <a:avLst>
              <a:gd name="adj" fmla="val 50000"/>
            </a:avLst>
          </a:prstGeom>
          <a:solidFill>
            <a:srgbClr val="1E2761"/>
          </a:solidFill>
          <a:ln/>
        </p:spPr>
        <p:txBody>
          <a:bodyPr/>
          <a:lstStyle/>
          <a:p>
            <a:endParaRPr lang="en-IN"/>
          </a:p>
        </p:txBody>
      </p:sp>
      <p:sp>
        <p:nvSpPr>
          <p:cNvPr id="6" name="Text 4"/>
          <p:cNvSpPr txBox="1"/>
          <p:nvPr/>
        </p:nvSpPr>
        <p:spPr>
          <a:xfrm>
            <a:off x="777240" y="160020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1</a:t>
            </a:r>
            <a:endParaRPr lang="en-US" dirty="0">
              <a:solidFill>
                <a:schemeClr val="bg1"/>
              </a:solidFill>
            </a:endParaRPr>
          </a:p>
        </p:txBody>
      </p:sp>
      <p:sp>
        <p:nvSpPr>
          <p:cNvPr id="7" name="Text 5"/>
          <p:cNvSpPr txBox="1"/>
          <p:nvPr/>
        </p:nvSpPr>
        <p:spPr>
          <a:xfrm>
            <a:off x="77724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Bank of Baroda AT1 (Perpetual) Bond</a:t>
            </a:r>
            <a:endParaRPr lang="en-US" dirty="0"/>
          </a:p>
        </p:txBody>
      </p:sp>
      <p:sp>
        <p:nvSpPr>
          <p:cNvPr id="8" name="Text 6"/>
          <p:cNvSpPr txBox="1"/>
          <p:nvPr/>
        </p:nvSpPr>
        <p:spPr>
          <a:xfrm>
            <a:off x="777240" y="2404872"/>
            <a:ext cx="4983480" cy="905256"/>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Face value, F = ₹100 (never redeemed)</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Coupon rate 8% → C = ₹8 / yr, forever</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yield, r = 8.5%</a:t>
            </a:r>
            <a:endParaRPr lang="en-US" dirty="0"/>
          </a:p>
        </p:txBody>
      </p:sp>
      <p:sp>
        <p:nvSpPr>
          <p:cNvPr id="9" name="Shape 7"/>
          <p:cNvSpPr/>
          <p:nvPr/>
        </p:nvSpPr>
        <p:spPr>
          <a:xfrm>
            <a:off x="777240" y="3374136"/>
            <a:ext cx="4983480" cy="0"/>
          </a:xfrm>
          <a:prstGeom prst="line">
            <a:avLst/>
          </a:prstGeom>
          <a:noFill/>
          <a:ln w="12700">
            <a:solidFill>
              <a:srgbClr val="CADCFC"/>
            </a:solidFill>
            <a:prstDash val="solid"/>
          </a:ln>
        </p:spPr>
        <p:txBody>
          <a:bodyPr/>
          <a:lstStyle/>
          <a:p>
            <a:endParaRPr lang="en-IN"/>
          </a:p>
        </p:txBody>
      </p:sp>
      <p:sp>
        <p:nvSpPr>
          <p:cNvPr id="10" name="Text 8"/>
          <p:cNvSpPr txBox="1"/>
          <p:nvPr/>
        </p:nvSpPr>
        <p:spPr>
          <a:xfrm>
            <a:off x="777240" y="3483864"/>
            <a:ext cx="4983480" cy="2093976"/>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 = 8 / 0.085</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₹94.12</a:t>
            </a:r>
            <a:endParaRPr lang="en-US" dirty="0"/>
          </a:p>
        </p:txBody>
      </p:sp>
      <p:sp>
        <p:nvSpPr>
          <p:cNvPr id="11" name="Text 9"/>
          <p:cNvSpPr txBox="1"/>
          <p:nvPr/>
        </p:nvSpPr>
        <p:spPr>
          <a:xfrm>
            <a:off x="777240" y="5614416"/>
            <a:ext cx="4983480" cy="457200"/>
          </a:xfrm>
          <a:prstGeom prst="rect">
            <a:avLst/>
          </a:prstGeom>
          <a:noFill/>
          <a:ln/>
        </p:spPr>
        <p:txBody>
          <a:bodyPr wrap="square" lIns="0" tIns="0" rIns="0" bIns="0" rtlCol="0" anchor="t"/>
          <a:lstStyle/>
          <a:p>
            <a:pPr marL="0" indent="0">
              <a:buNone/>
            </a:pPr>
            <a:r>
              <a:rPr lang="en-US" sz="1600" i="1" dirty="0">
                <a:solidFill>
                  <a:srgbClr val="5A6B87"/>
                </a:solidFill>
                <a:latin typeface="Calibri" pitchFamily="34" charset="0"/>
                <a:ea typeface="Calibri" pitchFamily="34" charset="-122"/>
                <a:cs typeface="Calibri" pitchFamily="34" charset="-120"/>
              </a:rPr>
              <a:t>No maturity date, no redemption of the ₹100 face value — only the perpetual coupon stream is priced.</a:t>
            </a:r>
            <a:endParaRPr lang="en-US" sz="1600" dirty="0"/>
          </a:p>
        </p:txBody>
      </p:sp>
      <p:sp>
        <p:nvSpPr>
          <p:cNvPr id="12" name="Shape 10"/>
          <p:cNvSpPr/>
          <p:nvPr/>
        </p:nvSpPr>
        <p:spPr>
          <a:xfrm>
            <a:off x="617220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13" name="Shape 11"/>
          <p:cNvSpPr/>
          <p:nvPr/>
        </p:nvSpPr>
        <p:spPr>
          <a:xfrm>
            <a:off x="6400800" y="1600200"/>
            <a:ext cx="1737360" cy="310896"/>
          </a:xfrm>
          <a:prstGeom prst="roundRect">
            <a:avLst>
              <a:gd name="adj" fmla="val 50000"/>
            </a:avLst>
          </a:prstGeom>
          <a:solidFill>
            <a:srgbClr val="B8912F"/>
          </a:solidFill>
          <a:ln/>
        </p:spPr>
        <p:txBody>
          <a:bodyPr/>
          <a:lstStyle/>
          <a:p>
            <a:endParaRPr lang="en-IN"/>
          </a:p>
        </p:txBody>
      </p:sp>
      <p:sp>
        <p:nvSpPr>
          <p:cNvPr id="14" name="Text 12"/>
          <p:cNvSpPr txBox="1"/>
          <p:nvPr/>
        </p:nvSpPr>
        <p:spPr>
          <a:xfrm>
            <a:off x="6400800" y="1600200"/>
            <a:ext cx="1737360" cy="310896"/>
          </a:xfrm>
          <a:prstGeom prst="rect">
            <a:avLst/>
          </a:prstGeom>
          <a:noFill/>
          <a:ln/>
        </p:spPr>
        <p:txBody>
          <a:bodyPr wrap="square" lIns="0" tIns="0" rIns="0" bIns="0" rtlCol="0" anchor="ctr"/>
          <a:lstStyle/>
          <a:p>
            <a:pPr algn="ctr"/>
            <a:r>
              <a:rPr lang="en-US" b="1" dirty="0">
                <a:solidFill>
                  <a:schemeClr val="bg1"/>
                </a:solidFill>
                <a:latin typeface="Calibri" pitchFamily="34" charset="0"/>
                <a:ea typeface="Calibri" pitchFamily="34" charset="-122"/>
                <a:cs typeface="Calibri" pitchFamily="34" charset="-120"/>
              </a:rPr>
              <a:t>EXAMPLE 2</a:t>
            </a:r>
          </a:p>
        </p:txBody>
      </p:sp>
      <p:sp>
        <p:nvSpPr>
          <p:cNvPr id="15" name="Text 13"/>
          <p:cNvSpPr txBox="1"/>
          <p:nvPr/>
        </p:nvSpPr>
        <p:spPr>
          <a:xfrm>
            <a:off x="640080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Power Finance Corp (PFC) Perpetual Bond</a:t>
            </a:r>
            <a:endParaRPr lang="en-US" dirty="0"/>
          </a:p>
        </p:txBody>
      </p:sp>
      <p:sp>
        <p:nvSpPr>
          <p:cNvPr id="16" name="Text 14"/>
          <p:cNvSpPr txBox="1"/>
          <p:nvPr/>
        </p:nvSpPr>
        <p:spPr>
          <a:xfrm>
            <a:off x="6400800" y="2404872"/>
            <a:ext cx="4983480" cy="905256"/>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Face value, F = ₹100 (never redeemed)</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Coupon rate 9% → C = ₹9 / yr, forever</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yield, r = 9.5%</a:t>
            </a:r>
            <a:endParaRPr lang="en-US" dirty="0"/>
          </a:p>
        </p:txBody>
      </p:sp>
      <p:sp>
        <p:nvSpPr>
          <p:cNvPr id="17" name="Shape 15"/>
          <p:cNvSpPr/>
          <p:nvPr/>
        </p:nvSpPr>
        <p:spPr>
          <a:xfrm>
            <a:off x="6400800" y="3374136"/>
            <a:ext cx="4983480" cy="0"/>
          </a:xfrm>
          <a:prstGeom prst="line">
            <a:avLst/>
          </a:prstGeom>
          <a:noFill/>
          <a:ln w="12700">
            <a:solidFill>
              <a:srgbClr val="CADCFC"/>
            </a:solidFill>
            <a:prstDash val="solid"/>
          </a:ln>
        </p:spPr>
        <p:txBody>
          <a:bodyPr/>
          <a:lstStyle/>
          <a:p>
            <a:endParaRPr lang="en-IN"/>
          </a:p>
        </p:txBody>
      </p:sp>
      <p:sp>
        <p:nvSpPr>
          <p:cNvPr id="18" name="Text 16"/>
          <p:cNvSpPr txBox="1"/>
          <p:nvPr/>
        </p:nvSpPr>
        <p:spPr>
          <a:xfrm>
            <a:off x="6400800" y="3483864"/>
            <a:ext cx="4983480" cy="2093976"/>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 = 9 / 0.095</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₹94.74</a:t>
            </a:r>
            <a:endParaRPr lang="en-US" dirty="0"/>
          </a:p>
        </p:txBody>
      </p:sp>
      <p:sp>
        <p:nvSpPr>
          <p:cNvPr id="19" name="Text 17"/>
          <p:cNvSpPr txBox="1"/>
          <p:nvPr/>
        </p:nvSpPr>
        <p:spPr>
          <a:xfrm>
            <a:off x="6400800" y="5614416"/>
            <a:ext cx="4983480" cy="457200"/>
          </a:xfrm>
          <a:prstGeom prst="rect">
            <a:avLst/>
          </a:prstGeom>
          <a:noFill/>
          <a:ln/>
        </p:spPr>
        <p:txBody>
          <a:bodyPr wrap="square" lIns="0" tIns="0" rIns="0" bIns="0" rtlCol="0" anchor="t"/>
          <a:lstStyle/>
          <a:p>
            <a:r>
              <a:rPr lang="en-US" sz="1600" i="1" dirty="0">
                <a:solidFill>
                  <a:srgbClr val="5A6B87"/>
                </a:solidFill>
                <a:latin typeface="Calibri" pitchFamily="34" charset="0"/>
                <a:ea typeface="Calibri" pitchFamily="34" charset="-122"/>
                <a:cs typeface="Calibri" pitchFamily="34" charset="-120"/>
              </a:rPr>
              <a:t>'Redemption value' plays no role in the formula at all — only the coupon and required yield matter.</a:t>
            </a:r>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1" name="Text 19"/>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Yield to Maturity (YTM)</a:t>
            </a:r>
            <a:endParaRPr lang="en-US" sz="3000" dirty="0"/>
          </a:p>
        </p:txBody>
      </p:sp>
      <p:sp>
        <p:nvSpPr>
          <p:cNvPr id="4" name="Shape 2"/>
          <p:cNvSpPr/>
          <p:nvPr/>
        </p:nvSpPr>
        <p:spPr>
          <a:xfrm>
            <a:off x="2194560" y="1554480"/>
            <a:ext cx="7772400" cy="914400"/>
          </a:xfrm>
          <a:prstGeom prst="roundRect">
            <a:avLst>
              <a:gd name="adj" fmla="val 8000"/>
            </a:avLst>
          </a:prstGeom>
          <a:solidFill>
            <a:srgbClr val="1E2761"/>
          </a:solidFill>
          <a:ln/>
        </p:spPr>
        <p:txBody>
          <a:bodyPr/>
          <a:lstStyle/>
          <a:p>
            <a:endParaRPr lang="en-IN"/>
          </a:p>
        </p:txBody>
      </p:sp>
      <p:sp>
        <p:nvSpPr>
          <p:cNvPr id="5" name="Text 3"/>
          <p:cNvSpPr txBox="1"/>
          <p:nvPr/>
        </p:nvSpPr>
        <p:spPr>
          <a:xfrm>
            <a:off x="2377440" y="1554480"/>
            <a:ext cx="7406640" cy="658368"/>
          </a:xfrm>
          <a:prstGeom prst="rect">
            <a:avLst/>
          </a:prstGeom>
          <a:noFill/>
          <a:ln/>
        </p:spPr>
        <p:txBody>
          <a:bodyPr wrap="square" lIns="0" tIns="0" rIns="0" bIns="0" rtlCol="0" anchor="ctr"/>
          <a:lstStyle/>
          <a:p>
            <a:pPr marL="0" indent="0" algn="ctr">
              <a:buNone/>
            </a:pPr>
            <a:r>
              <a:rPr lang="en-US" sz="2000" dirty="0">
                <a:solidFill>
                  <a:schemeClr val="bg1"/>
                </a:solidFill>
                <a:latin typeface="Cambria Math" pitchFamily="34" charset="0"/>
                <a:ea typeface="Cambria Math" pitchFamily="34" charset="-122"/>
                <a:cs typeface="Cambria Math" pitchFamily="34" charset="-120"/>
              </a:rPr>
              <a:t>YTM  ≈  [ C + (F − P)/n ]  /  [ (F + P)/2 ]</a:t>
            </a:r>
            <a:endParaRPr lang="en-US" sz="2000" dirty="0">
              <a:solidFill>
                <a:schemeClr val="bg1"/>
              </a:solidFill>
            </a:endParaRPr>
          </a:p>
        </p:txBody>
      </p:sp>
      <p:sp>
        <p:nvSpPr>
          <p:cNvPr id="6" name="Text 4"/>
          <p:cNvSpPr txBox="1"/>
          <p:nvPr/>
        </p:nvSpPr>
        <p:spPr>
          <a:xfrm>
            <a:off x="2377440" y="2176272"/>
            <a:ext cx="7406640" cy="256032"/>
          </a:xfrm>
          <a:prstGeom prst="rect">
            <a:avLst/>
          </a:prstGeom>
          <a:noFill/>
          <a:ln/>
        </p:spPr>
        <p:txBody>
          <a:bodyPr wrap="square" lIns="0" tIns="0" rIns="0" bIns="0" rtlCol="0" anchor="ctr"/>
          <a:lstStyle/>
          <a:p>
            <a:pPr marL="0" indent="0" algn="ctr">
              <a:buNone/>
            </a:pPr>
            <a:r>
              <a:rPr lang="en-US" sz="1600" i="1" dirty="0">
                <a:solidFill>
                  <a:schemeClr val="accent2"/>
                </a:solidFill>
                <a:latin typeface="Calibri" pitchFamily="34" charset="0"/>
                <a:ea typeface="Calibri" pitchFamily="34" charset="-122"/>
                <a:cs typeface="Calibri" pitchFamily="34" charset="-120"/>
              </a:rPr>
              <a:t>A quick hand-calculation approximation of the true (IRR-based) yield</a:t>
            </a:r>
            <a:endParaRPr lang="en-US" sz="1600" dirty="0">
              <a:solidFill>
                <a:schemeClr val="accent2"/>
              </a:solidFill>
            </a:endParaRPr>
          </a:p>
        </p:txBody>
      </p:sp>
      <p:sp>
        <p:nvSpPr>
          <p:cNvPr id="7" name="Text 5"/>
          <p:cNvSpPr txBox="1"/>
          <p:nvPr/>
        </p:nvSpPr>
        <p:spPr>
          <a:xfrm>
            <a:off x="1005840" y="2697480"/>
            <a:ext cx="10241280" cy="731520"/>
          </a:xfrm>
          <a:prstGeom prst="rect">
            <a:avLst/>
          </a:prstGeom>
          <a:noFill/>
          <a:ln/>
        </p:spPr>
        <p:txBody>
          <a:bodyPr wrap="square" lIns="0" tIns="0" rIns="0" bIns="0" rtlCol="0" anchor="ctr"/>
          <a:lstStyle/>
          <a:p>
            <a:pPr marL="0" indent="0">
              <a:lnSpc>
                <a:spcPct val="120000"/>
              </a:lnSpc>
              <a:buNone/>
            </a:pPr>
            <a:r>
              <a:rPr lang="en-US" b="1" dirty="0">
                <a:solidFill>
                  <a:srgbClr val="1E2761"/>
                </a:solidFill>
                <a:latin typeface="Calibri" pitchFamily="34" charset="0"/>
                <a:ea typeface="Calibri" pitchFamily="34" charset="-122"/>
                <a:cs typeface="Calibri" pitchFamily="34" charset="-120"/>
              </a:rPr>
              <a:t>YTM</a:t>
            </a:r>
            <a:r>
              <a:rPr lang="en-US" dirty="0">
                <a:solidFill>
                  <a:srgbClr val="5A6B87"/>
                </a:solidFill>
                <a:latin typeface="Calibri" pitchFamily="34" charset="0"/>
                <a:ea typeface="Calibri" pitchFamily="34" charset="-122"/>
                <a:cs typeface="Calibri" pitchFamily="34" charset="-120"/>
              </a:rPr>
              <a:t> is the total return an investor earns if the bond is bought at its </a:t>
            </a:r>
            <a:r>
              <a:rPr lang="en-US" b="1" dirty="0">
                <a:solidFill>
                  <a:srgbClr val="1E2761"/>
                </a:solidFill>
                <a:latin typeface="Calibri" pitchFamily="34" charset="0"/>
                <a:ea typeface="Calibri" pitchFamily="34" charset="-122"/>
                <a:cs typeface="Calibri" pitchFamily="34" charset="-120"/>
              </a:rPr>
              <a:t>current market price</a:t>
            </a:r>
            <a:r>
              <a:rPr lang="en-US" dirty="0">
                <a:solidFill>
                  <a:srgbClr val="5A6B87"/>
                </a:solidFill>
                <a:latin typeface="Calibri" pitchFamily="34" charset="0"/>
                <a:ea typeface="Calibri" pitchFamily="34" charset="-122"/>
                <a:cs typeface="Calibri" pitchFamily="34" charset="-120"/>
              </a:rPr>
              <a:t> and held to redemption — combining coupon income and any capital gain or loss versus the nominal value.</a:t>
            </a:r>
            <a:endParaRPr lang="en-US" dirty="0"/>
          </a:p>
        </p:txBody>
      </p:sp>
      <p:sp>
        <p:nvSpPr>
          <p:cNvPr id="8" name="Shape 6"/>
          <p:cNvSpPr/>
          <p:nvPr/>
        </p:nvSpPr>
        <p:spPr>
          <a:xfrm>
            <a:off x="914400" y="3657600"/>
            <a:ext cx="5120640" cy="1920240"/>
          </a:xfrm>
          <a:prstGeom prst="roundRect">
            <a:avLst>
              <a:gd name="adj" fmla="val 3333"/>
            </a:avLst>
          </a:prstGeom>
          <a:solidFill>
            <a:srgbClr val="EEF3FD"/>
          </a:solidFill>
          <a:ln/>
        </p:spPr>
        <p:txBody>
          <a:bodyPr/>
          <a:lstStyle/>
          <a:p>
            <a:endParaRPr lang="en-IN"/>
          </a:p>
        </p:txBody>
      </p:sp>
      <p:sp>
        <p:nvSpPr>
          <p:cNvPr id="9" name="Shape 7"/>
          <p:cNvSpPr/>
          <p:nvPr/>
        </p:nvSpPr>
        <p:spPr>
          <a:xfrm>
            <a:off x="1188720" y="3931920"/>
            <a:ext cx="457200" cy="457200"/>
          </a:xfrm>
          <a:prstGeom prst="ellipse">
            <a:avLst/>
          </a:prstGeom>
          <a:solidFill>
            <a:srgbClr val="B8912F"/>
          </a:solidFill>
          <a:ln/>
        </p:spPr>
        <p:txBody>
          <a:bodyPr/>
          <a:lstStyle/>
          <a:p>
            <a:endParaRPr lang="en-IN"/>
          </a:p>
        </p:txBody>
      </p:sp>
      <p:sp>
        <p:nvSpPr>
          <p:cNvPr id="10" name="Text 8"/>
          <p:cNvSpPr txBox="1"/>
          <p:nvPr/>
        </p:nvSpPr>
        <p:spPr>
          <a:xfrm>
            <a:off x="1188720" y="393192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a:t>
            </a:r>
            <a:endParaRPr lang="en-US" sz="2000" dirty="0">
              <a:solidFill>
                <a:schemeClr val="bg1"/>
              </a:solidFill>
            </a:endParaRPr>
          </a:p>
        </p:txBody>
      </p:sp>
      <p:sp>
        <p:nvSpPr>
          <p:cNvPr id="11" name="Text 9"/>
          <p:cNvSpPr txBox="1"/>
          <p:nvPr/>
        </p:nvSpPr>
        <p:spPr>
          <a:xfrm>
            <a:off x="1828800" y="3931920"/>
            <a:ext cx="4023360" cy="45720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Price below face value</a:t>
            </a:r>
            <a:endParaRPr lang="en-US" dirty="0"/>
          </a:p>
        </p:txBody>
      </p:sp>
      <p:sp>
        <p:nvSpPr>
          <p:cNvPr id="12" name="Text 10"/>
          <p:cNvSpPr txBox="1"/>
          <p:nvPr/>
        </p:nvSpPr>
        <p:spPr>
          <a:xfrm>
            <a:off x="1188720" y="4572000"/>
            <a:ext cx="4572000" cy="822960"/>
          </a:xfrm>
          <a:prstGeom prst="rect">
            <a:avLst/>
          </a:prstGeom>
          <a:noFill/>
          <a:ln/>
        </p:spPr>
        <p:txBody>
          <a:bodyPr wrap="square" lIns="0" tIns="0" rIns="0" bIns="0" rtlCol="0" anchor="ctr"/>
          <a:lstStyle/>
          <a:p>
            <a:pPr marL="0" indent="0">
              <a:buNone/>
            </a:pPr>
            <a:r>
              <a:rPr lang="en-US" sz="1600" dirty="0">
                <a:solidFill>
                  <a:schemeClr val="accent2"/>
                </a:solidFill>
                <a:latin typeface="Calibri" pitchFamily="34" charset="0"/>
                <a:ea typeface="Calibri" pitchFamily="34" charset="-122"/>
                <a:cs typeface="Calibri" pitchFamily="34" charset="-120"/>
              </a:rPr>
              <a:t>YTM &gt; coupon rate — investor gains on redemption.</a:t>
            </a:r>
            <a:endParaRPr lang="en-US" sz="1600" dirty="0">
              <a:solidFill>
                <a:schemeClr val="accent2"/>
              </a:solidFill>
            </a:endParaRPr>
          </a:p>
        </p:txBody>
      </p:sp>
      <p:sp>
        <p:nvSpPr>
          <p:cNvPr id="13" name="Shape 11"/>
          <p:cNvSpPr/>
          <p:nvPr/>
        </p:nvSpPr>
        <p:spPr>
          <a:xfrm>
            <a:off x="6309360" y="3657600"/>
            <a:ext cx="5120640" cy="1920240"/>
          </a:xfrm>
          <a:prstGeom prst="roundRect">
            <a:avLst>
              <a:gd name="adj" fmla="val 3333"/>
            </a:avLst>
          </a:prstGeom>
          <a:solidFill>
            <a:srgbClr val="EEF3FD"/>
          </a:solidFill>
          <a:ln/>
        </p:spPr>
        <p:txBody>
          <a:bodyPr/>
          <a:lstStyle/>
          <a:p>
            <a:endParaRPr lang="en-IN"/>
          </a:p>
        </p:txBody>
      </p:sp>
      <p:sp>
        <p:nvSpPr>
          <p:cNvPr id="14" name="Shape 12"/>
          <p:cNvSpPr/>
          <p:nvPr/>
        </p:nvSpPr>
        <p:spPr>
          <a:xfrm>
            <a:off x="6583680" y="3931920"/>
            <a:ext cx="457200" cy="457200"/>
          </a:xfrm>
          <a:prstGeom prst="ellipse">
            <a:avLst/>
          </a:prstGeom>
          <a:solidFill>
            <a:srgbClr val="B8912F"/>
          </a:solidFill>
          <a:ln/>
        </p:spPr>
        <p:txBody>
          <a:bodyPr/>
          <a:lstStyle/>
          <a:p>
            <a:endParaRPr lang="en-IN"/>
          </a:p>
        </p:txBody>
      </p:sp>
      <p:sp>
        <p:nvSpPr>
          <p:cNvPr id="15" name="Text 13"/>
          <p:cNvSpPr txBox="1"/>
          <p:nvPr/>
        </p:nvSpPr>
        <p:spPr>
          <a:xfrm>
            <a:off x="6583680" y="393192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a:t>
            </a:r>
            <a:endParaRPr lang="en-US" sz="2000" dirty="0">
              <a:solidFill>
                <a:schemeClr val="bg1"/>
              </a:solidFill>
            </a:endParaRPr>
          </a:p>
        </p:txBody>
      </p:sp>
      <p:sp>
        <p:nvSpPr>
          <p:cNvPr id="16" name="Text 14"/>
          <p:cNvSpPr txBox="1"/>
          <p:nvPr/>
        </p:nvSpPr>
        <p:spPr>
          <a:xfrm>
            <a:off x="7223760" y="3931920"/>
            <a:ext cx="4023360" cy="45720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Price above face value</a:t>
            </a:r>
            <a:endParaRPr lang="en-US" dirty="0"/>
          </a:p>
        </p:txBody>
      </p:sp>
      <p:sp>
        <p:nvSpPr>
          <p:cNvPr id="17" name="Text 15"/>
          <p:cNvSpPr txBox="1"/>
          <p:nvPr/>
        </p:nvSpPr>
        <p:spPr>
          <a:xfrm>
            <a:off x="6583680" y="4572000"/>
            <a:ext cx="4572000" cy="822960"/>
          </a:xfrm>
          <a:prstGeom prst="rect">
            <a:avLst/>
          </a:prstGeom>
          <a:noFill/>
          <a:ln/>
        </p:spPr>
        <p:txBody>
          <a:bodyPr wrap="square" lIns="0" tIns="0" rIns="0" bIns="0" rtlCol="0" anchor="ctr"/>
          <a:lstStyle/>
          <a:p>
            <a:pPr marL="0" indent="0">
              <a:buNone/>
            </a:pPr>
            <a:r>
              <a:rPr lang="en-US" sz="1600" dirty="0">
                <a:solidFill>
                  <a:schemeClr val="accent2"/>
                </a:solidFill>
                <a:latin typeface="Calibri" pitchFamily="34" charset="0"/>
                <a:ea typeface="Calibri" pitchFamily="34" charset="-122"/>
                <a:cs typeface="Calibri" pitchFamily="34" charset="-120"/>
              </a:rPr>
              <a:t>YTM &lt; coupon rate — investor loses a little on redemption.</a:t>
            </a:r>
            <a:endParaRPr lang="en-US" sz="1600" dirty="0">
              <a:solidFill>
                <a:schemeClr val="accent2"/>
              </a:solidFill>
            </a:endParaRPr>
          </a:p>
        </p:txBody>
      </p:sp>
      <p:sp>
        <p:nvSpPr>
          <p:cNvPr id="18" name="Text 1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19" name="Text 17"/>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BONDS</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Yield to Maturity: Examples</a:t>
            </a:r>
            <a:endParaRPr lang="en-US" sz="3000" dirty="0"/>
          </a:p>
        </p:txBody>
      </p:sp>
      <p:sp>
        <p:nvSpPr>
          <p:cNvPr id="4" name="Shape 2"/>
          <p:cNvSpPr/>
          <p:nvPr/>
        </p:nvSpPr>
        <p:spPr>
          <a:xfrm>
            <a:off x="54864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5" name="Shape 3"/>
          <p:cNvSpPr/>
          <p:nvPr/>
        </p:nvSpPr>
        <p:spPr>
          <a:xfrm>
            <a:off x="777240" y="1600200"/>
            <a:ext cx="1737360" cy="310896"/>
          </a:xfrm>
          <a:prstGeom prst="roundRect">
            <a:avLst>
              <a:gd name="adj" fmla="val 50000"/>
            </a:avLst>
          </a:prstGeom>
          <a:solidFill>
            <a:srgbClr val="1E2761"/>
          </a:solidFill>
          <a:ln/>
        </p:spPr>
        <p:txBody>
          <a:bodyPr/>
          <a:lstStyle/>
          <a:p>
            <a:endParaRPr lang="en-IN"/>
          </a:p>
        </p:txBody>
      </p:sp>
      <p:sp>
        <p:nvSpPr>
          <p:cNvPr id="6" name="Text 4"/>
          <p:cNvSpPr txBox="1"/>
          <p:nvPr/>
        </p:nvSpPr>
        <p:spPr>
          <a:xfrm>
            <a:off x="777240" y="160020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1</a:t>
            </a:r>
            <a:endParaRPr lang="en-US" dirty="0">
              <a:solidFill>
                <a:schemeClr val="bg1"/>
              </a:solidFill>
            </a:endParaRPr>
          </a:p>
        </p:txBody>
      </p:sp>
      <p:sp>
        <p:nvSpPr>
          <p:cNvPr id="7" name="Text 5"/>
          <p:cNvSpPr txBox="1"/>
          <p:nvPr/>
        </p:nvSpPr>
        <p:spPr>
          <a:xfrm>
            <a:off x="77724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Infosys-style Corporate Bond</a:t>
            </a:r>
            <a:endParaRPr lang="en-US" dirty="0"/>
          </a:p>
        </p:txBody>
      </p:sp>
      <p:sp>
        <p:nvSpPr>
          <p:cNvPr id="8" name="Text 6"/>
          <p:cNvSpPr txBox="1"/>
          <p:nvPr/>
        </p:nvSpPr>
        <p:spPr>
          <a:xfrm>
            <a:off x="777240" y="2404872"/>
            <a:ext cx="4983480" cy="1161288"/>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Face value, F = ₹1,000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Coupon rate 9% → C = ₹90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Years to maturity, n = 2</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Market price, P = ₹980</a:t>
            </a:r>
            <a:endParaRPr lang="en-US" dirty="0"/>
          </a:p>
        </p:txBody>
      </p:sp>
      <p:sp>
        <p:nvSpPr>
          <p:cNvPr id="9" name="Shape 7"/>
          <p:cNvSpPr/>
          <p:nvPr/>
        </p:nvSpPr>
        <p:spPr>
          <a:xfrm>
            <a:off x="777240" y="3630168"/>
            <a:ext cx="4983480" cy="0"/>
          </a:xfrm>
          <a:prstGeom prst="line">
            <a:avLst/>
          </a:prstGeom>
          <a:noFill/>
          <a:ln w="12700">
            <a:solidFill>
              <a:srgbClr val="CADCFC"/>
            </a:solidFill>
            <a:prstDash val="solid"/>
          </a:ln>
        </p:spPr>
        <p:txBody>
          <a:bodyPr/>
          <a:lstStyle/>
          <a:p>
            <a:endParaRPr lang="en-IN"/>
          </a:p>
        </p:txBody>
      </p:sp>
      <p:sp>
        <p:nvSpPr>
          <p:cNvPr id="10" name="Text 8"/>
          <p:cNvSpPr txBox="1"/>
          <p:nvPr/>
        </p:nvSpPr>
        <p:spPr>
          <a:xfrm>
            <a:off x="777240" y="3739896"/>
            <a:ext cx="4983480" cy="1837944"/>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YTM ≈ [90 + (1000−980)/2] / [(1000+980)/2]</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YTM ≈ 100 / 990</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YTM  ≈  10.10%</a:t>
            </a:r>
            <a:endParaRPr lang="en-US" dirty="0"/>
          </a:p>
        </p:txBody>
      </p:sp>
      <p:sp>
        <p:nvSpPr>
          <p:cNvPr id="11" name="Text 9"/>
          <p:cNvSpPr txBox="1"/>
          <p:nvPr/>
        </p:nvSpPr>
        <p:spPr>
          <a:xfrm>
            <a:off x="777240" y="5614416"/>
            <a:ext cx="4983480" cy="457200"/>
          </a:xfrm>
          <a:prstGeom prst="rect">
            <a:avLst/>
          </a:prstGeom>
          <a:noFill/>
          <a:ln/>
        </p:spPr>
        <p:txBody>
          <a:bodyPr wrap="square" lIns="0" tIns="0" rIns="0" bIns="0" rtlCol="0" anchor="t"/>
          <a:lstStyle/>
          <a:p>
            <a:pPr marL="0" indent="0">
              <a:buNone/>
            </a:pPr>
            <a:r>
              <a:rPr lang="en-US" sz="1600" i="1" dirty="0">
                <a:solidFill>
                  <a:schemeClr val="accent2"/>
                </a:solidFill>
                <a:latin typeface="Calibri" pitchFamily="34" charset="0"/>
                <a:ea typeface="Calibri" pitchFamily="34" charset="-122"/>
                <a:cs typeface="Calibri" pitchFamily="34" charset="-120"/>
              </a:rPr>
              <a:t>Coupon rate is 9%, but true YTM is ~10.10% — bought below face value, so YTM &gt; coupon rate.</a:t>
            </a:r>
            <a:endParaRPr lang="en-US" sz="1600" dirty="0">
              <a:solidFill>
                <a:schemeClr val="accent2"/>
              </a:solidFill>
            </a:endParaRPr>
          </a:p>
        </p:txBody>
      </p:sp>
      <p:sp>
        <p:nvSpPr>
          <p:cNvPr id="12" name="Shape 10"/>
          <p:cNvSpPr/>
          <p:nvPr/>
        </p:nvSpPr>
        <p:spPr>
          <a:xfrm>
            <a:off x="6172200" y="1417320"/>
            <a:ext cx="5440680" cy="4709160"/>
          </a:xfrm>
          <a:prstGeom prst="roundRect">
            <a:avLst>
              <a:gd name="adj" fmla="val 1165"/>
            </a:avLst>
          </a:prstGeom>
          <a:solidFill>
            <a:srgbClr val="EEF3FD"/>
          </a:solidFill>
          <a:ln w="12700">
            <a:solidFill>
              <a:srgbClr val="CADCFC"/>
            </a:solidFill>
            <a:prstDash val="solid"/>
          </a:ln>
        </p:spPr>
        <p:txBody>
          <a:bodyPr/>
          <a:lstStyle/>
          <a:p>
            <a:endParaRPr lang="en-IN"/>
          </a:p>
        </p:txBody>
      </p:sp>
      <p:sp>
        <p:nvSpPr>
          <p:cNvPr id="13" name="Shape 11"/>
          <p:cNvSpPr/>
          <p:nvPr/>
        </p:nvSpPr>
        <p:spPr>
          <a:xfrm>
            <a:off x="6400800" y="1600200"/>
            <a:ext cx="1737360" cy="310896"/>
          </a:xfrm>
          <a:prstGeom prst="roundRect">
            <a:avLst>
              <a:gd name="adj" fmla="val 50000"/>
            </a:avLst>
          </a:prstGeom>
          <a:solidFill>
            <a:srgbClr val="B8912F"/>
          </a:solidFill>
          <a:ln/>
        </p:spPr>
        <p:txBody>
          <a:bodyPr/>
          <a:lstStyle/>
          <a:p>
            <a:endParaRPr lang="en-IN"/>
          </a:p>
        </p:txBody>
      </p:sp>
      <p:sp>
        <p:nvSpPr>
          <p:cNvPr id="14" name="Text 12"/>
          <p:cNvSpPr txBox="1"/>
          <p:nvPr/>
        </p:nvSpPr>
        <p:spPr>
          <a:xfrm>
            <a:off x="6400800" y="160020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2</a:t>
            </a:r>
            <a:endParaRPr lang="en-US" dirty="0">
              <a:solidFill>
                <a:schemeClr val="bg1"/>
              </a:solidFill>
            </a:endParaRPr>
          </a:p>
        </p:txBody>
      </p:sp>
      <p:sp>
        <p:nvSpPr>
          <p:cNvPr id="15" name="Text 13"/>
          <p:cNvSpPr txBox="1"/>
          <p:nvPr/>
        </p:nvSpPr>
        <p:spPr>
          <a:xfrm>
            <a:off x="6400800" y="198424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L&amp;T-style Corporate Bond</a:t>
            </a:r>
            <a:endParaRPr lang="en-US" dirty="0"/>
          </a:p>
        </p:txBody>
      </p:sp>
      <p:sp>
        <p:nvSpPr>
          <p:cNvPr id="16" name="Text 14"/>
          <p:cNvSpPr txBox="1"/>
          <p:nvPr/>
        </p:nvSpPr>
        <p:spPr>
          <a:xfrm>
            <a:off x="6400800" y="2404872"/>
            <a:ext cx="4983480" cy="1161288"/>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Face value, F = ₹1,000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Coupon rate 7% → C = ₹70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Years to maturity, n = 3</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Market price, P = ₹950</a:t>
            </a:r>
            <a:endParaRPr lang="en-US" dirty="0"/>
          </a:p>
        </p:txBody>
      </p:sp>
      <p:sp>
        <p:nvSpPr>
          <p:cNvPr id="17" name="Shape 15"/>
          <p:cNvSpPr/>
          <p:nvPr/>
        </p:nvSpPr>
        <p:spPr>
          <a:xfrm>
            <a:off x="6400800" y="3630168"/>
            <a:ext cx="4983480" cy="0"/>
          </a:xfrm>
          <a:prstGeom prst="line">
            <a:avLst/>
          </a:prstGeom>
          <a:noFill/>
          <a:ln w="12700">
            <a:solidFill>
              <a:srgbClr val="CADCFC"/>
            </a:solidFill>
            <a:prstDash val="solid"/>
          </a:ln>
        </p:spPr>
        <p:txBody>
          <a:bodyPr/>
          <a:lstStyle/>
          <a:p>
            <a:endParaRPr lang="en-IN"/>
          </a:p>
        </p:txBody>
      </p:sp>
      <p:sp>
        <p:nvSpPr>
          <p:cNvPr id="18" name="Text 16"/>
          <p:cNvSpPr txBox="1"/>
          <p:nvPr/>
        </p:nvSpPr>
        <p:spPr>
          <a:xfrm>
            <a:off x="6400800" y="3739896"/>
            <a:ext cx="4983480" cy="1837944"/>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YTM ≈ [70 + (1000−950)/3] / [(1000+950)/2]</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YTM ≈ 86.67 / 975</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YTM  ≈  8.89%</a:t>
            </a:r>
            <a:endParaRPr lang="en-US" dirty="0"/>
          </a:p>
        </p:txBody>
      </p:sp>
      <p:sp>
        <p:nvSpPr>
          <p:cNvPr id="19" name="Text 17"/>
          <p:cNvSpPr txBox="1"/>
          <p:nvPr/>
        </p:nvSpPr>
        <p:spPr>
          <a:xfrm>
            <a:off x="6400800" y="5614416"/>
            <a:ext cx="4983480" cy="457200"/>
          </a:xfrm>
          <a:prstGeom prst="rect">
            <a:avLst/>
          </a:prstGeom>
          <a:noFill/>
          <a:ln/>
        </p:spPr>
        <p:txBody>
          <a:bodyPr wrap="square" lIns="0" tIns="0" rIns="0" bIns="0" rtlCol="0" anchor="t"/>
          <a:lstStyle/>
          <a:p>
            <a:r>
              <a:rPr lang="en-US" sz="1600" i="1" dirty="0">
                <a:solidFill>
                  <a:schemeClr val="accent2"/>
                </a:solidFill>
                <a:latin typeface="Calibri" pitchFamily="34" charset="0"/>
                <a:ea typeface="Calibri" pitchFamily="34" charset="-122"/>
                <a:cs typeface="Calibri" pitchFamily="34" charset="-120"/>
              </a:rPr>
              <a:t>Buying at a ₹50 discount to nominal value lifts YTM well above the stated 7% coupon rate.</a:t>
            </a:r>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1" name="Text 19"/>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41B47"/>
          </a:solidFill>
          <a:ln/>
        </p:spPr>
        <p:txBody>
          <a:bodyPr/>
          <a:lstStyle/>
          <a:p>
            <a:endParaRPr lang="en-IN"/>
          </a:p>
        </p:txBody>
      </p:sp>
      <p:sp>
        <p:nvSpPr>
          <p:cNvPr id="3" name="Shape 1"/>
          <p:cNvSpPr/>
          <p:nvPr/>
        </p:nvSpPr>
        <p:spPr>
          <a:xfrm>
            <a:off x="9601200" y="4114800"/>
            <a:ext cx="5029200" cy="5029200"/>
          </a:xfrm>
          <a:prstGeom prst="ellipse">
            <a:avLst/>
          </a:prstGeom>
          <a:solidFill>
            <a:srgbClr val="141B47"/>
          </a:solidFill>
          <a:ln/>
        </p:spPr>
        <p:txBody>
          <a:bodyPr/>
          <a:lstStyle/>
          <a:p>
            <a:endParaRPr lang="en-IN"/>
          </a:p>
        </p:txBody>
      </p:sp>
      <p:sp>
        <p:nvSpPr>
          <p:cNvPr id="4" name="Shape 2"/>
          <p:cNvSpPr/>
          <p:nvPr/>
        </p:nvSpPr>
        <p:spPr>
          <a:xfrm>
            <a:off x="5728716" y="2011680"/>
            <a:ext cx="731520" cy="731520"/>
          </a:xfrm>
          <a:prstGeom prst="ellipse">
            <a:avLst/>
          </a:prstGeom>
          <a:solidFill>
            <a:srgbClr val="B8912F"/>
          </a:solidFill>
          <a:ln/>
        </p:spPr>
        <p:txBody>
          <a:bodyPr/>
          <a:lstStyle/>
          <a:p>
            <a:endParaRPr lang="en-IN"/>
          </a:p>
        </p:txBody>
      </p:sp>
      <p:sp>
        <p:nvSpPr>
          <p:cNvPr id="5" name="Text 3"/>
          <p:cNvSpPr txBox="1"/>
          <p:nvPr/>
        </p:nvSpPr>
        <p:spPr>
          <a:xfrm>
            <a:off x="5728716" y="2011680"/>
            <a:ext cx="731520" cy="731520"/>
          </a:xfrm>
          <a:prstGeom prst="rect">
            <a:avLst/>
          </a:prstGeom>
          <a:noFill/>
          <a:ln/>
        </p:spPr>
        <p:txBody>
          <a:bodyPr wrap="square" lIns="0" tIns="0" rIns="0" bIns="0" rtlCol="0" anchor="ctr"/>
          <a:lstStyle/>
          <a:p>
            <a:pPr marL="0" indent="0" algn="ctr">
              <a:buNone/>
            </a:pPr>
            <a:r>
              <a:rPr lang="en-US" sz="3000" b="1" dirty="0">
                <a:solidFill>
                  <a:schemeClr val="bg1"/>
                </a:solidFill>
                <a:latin typeface="Calibri" pitchFamily="34" charset="0"/>
                <a:ea typeface="Calibri" pitchFamily="34" charset="-122"/>
                <a:cs typeface="Calibri" pitchFamily="34" charset="-120"/>
              </a:rPr>
              <a:t>↗</a:t>
            </a:r>
            <a:endParaRPr lang="en-US" sz="3000" dirty="0">
              <a:solidFill>
                <a:schemeClr val="bg1"/>
              </a:solidFill>
            </a:endParaRPr>
          </a:p>
        </p:txBody>
      </p:sp>
      <p:sp>
        <p:nvSpPr>
          <p:cNvPr id="6" name="Text 4"/>
          <p:cNvSpPr txBox="1"/>
          <p:nvPr/>
        </p:nvSpPr>
        <p:spPr>
          <a:xfrm>
            <a:off x="0" y="2880360"/>
            <a:ext cx="12188952" cy="320040"/>
          </a:xfrm>
          <a:prstGeom prst="rect">
            <a:avLst/>
          </a:prstGeom>
          <a:noFill/>
          <a:ln/>
        </p:spPr>
        <p:txBody>
          <a:bodyPr wrap="square" lIns="0" tIns="0" rIns="0" bIns="0" rtlCol="0" anchor="ctr"/>
          <a:lstStyle/>
          <a:p>
            <a:pPr marL="0" indent="0" algn="ctr">
              <a:buNone/>
            </a:pPr>
            <a:r>
              <a:rPr lang="en-US" b="1" kern="0" spc="300" dirty="0">
                <a:solidFill>
                  <a:srgbClr val="B8912F"/>
                </a:solidFill>
                <a:latin typeface="Calibri" pitchFamily="34" charset="0"/>
                <a:ea typeface="Calibri" pitchFamily="34" charset="-122"/>
                <a:cs typeface="Calibri" pitchFamily="34" charset="-120"/>
              </a:rPr>
              <a:t>PART TWO</a:t>
            </a:r>
            <a:endParaRPr lang="en-US" dirty="0"/>
          </a:p>
        </p:txBody>
      </p:sp>
      <p:sp>
        <p:nvSpPr>
          <p:cNvPr id="7" name="Text 5"/>
          <p:cNvSpPr txBox="1"/>
          <p:nvPr/>
        </p:nvSpPr>
        <p:spPr>
          <a:xfrm>
            <a:off x="0" y="3246120"/>
            <a:ext cx="12188952" cy="822960"/>
          </a:xfrm>
          <a:prstGeom prst="rect">
            <a:avLst/>
          </a:prstGeom>
          <a:noFill/>
          <a:ln/>
        </p:spPr>
        <p:txBody>
          <a:bodyPr wrap="square" lIns="0" tIns="0" rIns="0" bIns="0" rtlCol="0" anchor="ctr"/>
          <a:lstStyle/>
          <a:p>
            <a:pPr marL="0" indent="0" algn="ctr">
              <a:buNone/>
            </a:pPr>
            <a:r>
              <a:rPr lang="en-US" sz="3800" b="1" dirty="0">
                <a:solidFill>
                  <a:schemeClr val="bg1"/>
                </a:solidFill>
                <a:latin typeface="Cambria" pitchFamily="34" charset="0"/>
                <a:ea typeface="Cambria" pitchFamily="34" charset="-122"/>
                <a:cs typeface="Cambria" pitchFamily="34" charset="-120"/>
              </a:rPr>
              <a:t>Stock (Equity) Valuation Concepts</a:t>
            </a:r>
            <a:endParaRPr lang="en-US" sz="3800" dirty="0">
              <a:solidFill>
                <a:schemeClr val="bg1"/>
              </a:solidFill>
            </a:endParaRPr>
          </a:p>
        </p:txBody>
      </p:sp>
      <p:sp>
        <p:nvSpPr>
          <p:cNvPr id="8" name="Text 6"/>
          <p:cNvSpPr txBox="1"/>
          <p:nvPr/>
        </p:nvSpPr>
        <p:spPr>
          <a:xfrm>
            <a:off x="1979676" y="4160520"/>
            <a:ext cx="8229600" cy="5486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Using the Dividend Discount Model — dividends play the role of coupons, but equity has no redemption value.</a:t>
            </a:r>
            <a:endParaRPr lang="en-US" sz="1600" dirty="0">
              <a:solidFill>
                <a:schemeClr val="bg1"/>
              </a:solidFill>
            </a:endParaRPr>
          </a:p>
        </p:txBody>
      </p:sp>
      <p:sp>
        <p:nvSpPr>
          <p:cNvPr id="9" name="Text 7"/>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10" name="Text 8"/>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b="1" kern="0" spc="200" dirty="0">
                <a:solidFill>
                  <a:schemeClr val="accent2"/>
                </a:solidFill>
                <a:latin typeface="Calibri" pitchFamily="34" charset="0"/>
                <a:ea typeface="Calibri" pitchFamily="34" charset="-122"/>
                <a:cs typeface="Calibri" pitchFamily="34" charset="-120"/>
              </a:rPr>
              <a:t>EQUITY</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Zero Growth Dividend Discount Model</a:t>
            </a:r>
            <a:endParaRPr lang="en-US" sz="3000" dirty="0"/>
          </a:p>
        </p:txBody>
      </p:sp>
      <p:sp>
        <p:nvSpPr>
          <p:cNvPr id="4" name="Shape 2"/>
          <p:cNvSpPr/>
          <p:nvPr/>
        </p:nvSpPr>
        <p:spPr>
          <a:xfrm>
            <a:off x="3291840" y="1417320"/>
            <a:ext cx="5577840" cy="777240"/>
          </a:xfrm>
          <a:prstGeom prst="roundRect">
            <a:avLst>
              <a:gd name="adj" fmla="val 9412"/>
            </a:avLst>
          </a:prstGeom>
          <a:solidFill>
            <a:srgbClr val="1E2761"/>
          </a:solidFill>
          <a:ln/>
        </p:spPr>
        <p:txBody>
          <a:bodyPr/>
          <a:lstStyle/>
          <a:p>
            <a:endParaRPr lang="en-IN"/>
          </a:p>
        </p:txBody>
      </p:sp>
      <p:sp>
        <p:nvSpPr>
          <p:cNvPr id="5" name="Text 3"/>
          <p:cNvSpPr txBox="1"/>
          <p:nvPr/>
        </p:nvSpPr>
        <p:spPr>
          <a:xfrm>
            <a:off x="3474720" y="1417320"/>
            <a:ext cx="5212080" cy="521208"/>
          </a:xfrm>
          <a:prstGeom prst="rect">
            <a:avLst/>
          </a:prstGeom>
          <a:noFill/>
          <a:ln/>
        </p:spPr>
        <p:txBody>
          <a:bodyPr wrap="square" lIns="0" tIns="0" rIns="0" bIns="0" rtlCol="0" anchor="ctr"/>
          <a:lstStyle/>
          <a:p>
            <a:pPr marL="0" indent="0" algn="ctr">
              <a:buNone/>
            </a:pPr>
            <a:r>
              <a:rPr lang="en-US" sz="2000" dirty="0">
                <a:solidFill>
                  <a:srgbClr val="FFFFFF"/>
                </a:solidFill>
                <a:latin typeface="Cambria Math" pitchFamily="34" charset="0"/>
                <a:ea typeface="Cambria Math" pitchFamily="34" charset="-122"/>
                <a:cs typeface="Cambria Math" pitchFamily="34" charset="-120"/>
              </a:rPr>
              <a:t>P₀  =  D₁ / r</a:t>
            </a:r>
            <a:endParaRPr lang="en-US" sz="2000" dirty="0"/>
          </a:p>
        </p:txBody>
      </p:sp>
      <p:sp>
        <p:nvSpPr>
          <p:cNvPr id="6" name="Text 4"/>
          <p:cNvSpPr txBox="1"/>
          <p:nvPr/>
        </p:nvSpPr>
        <p:spPr>
          <a:xfrm>
            <a:off x="3474720" y="1901952"/>
            <a:ext cx="5212080" cy="256032"/>
          </a:xfrm>
          <a:prstGeom prst="rect">
            <a:avLst/>
          </a:prstGeom>
          <a:noFill/>
          <a:ln/>
        </p:spPr>
        <p:txBody>
          <a:bodyPr wrap="square" lIns="0" tIns="0" rIns="0" bIns="0" rtlCol="0" anchor="ctr"/>
          <a:lstStyle/>
          <a:p>
            <a:pPr marL="0" indent="0" algn="ctr">
              <a:buNone/>
            </a:pPr>
            <a:r>
              <a:rPr lang="en-US" sz="1400" i="1" dirty="0">
                <a:solidFill>
                  <a:schemeClr val="accent2"/>
                </a:solidFill>
                <a:latin typeface="Calibri" pitchFamily="34" charset="0"/>
                <a:ea typeface="Calibri" pitchFamily="34" charset="-122"/>
                <a:cs typeface="Calibri" pitchFamily="34" charset="-120"/>
              </a:rPr>
              <a:t>Dividend assumed constant forever — suited to mature, no-growth firms</a:t>
            </a:r>
            <a:endParaRPr lang="en-US" sz="1400" dirty="0">
              <a:solidFill>
                <a:schemeClr val="accent2"/>
              </a:solidFill>
            </a:endParaRPr>
          </a:p>
        </p:txBody>
      </p:sp>
      <p:sp>
        <p:nvSpPr>
          <p:cNvPr id="7" name="Shape 5"/>
          <p:cNvSpPr/>
          <p:nvPr/>
        </p:nvSpPr>
        <p:spPr>
          <a:xfrm>
            <a:off x="548640" y="2423160"/>
            <a:ext cx="5440680" cy="3611880"/>
          </a:xfrm>
          <a:prstGeom prst="roundRect">
            <a:avLst>
              <a:gd name="adj" fmla="val 1519"/>
            </a:avLst>
          </a:prstGeom>
          <a:solidFill>
            <a:srgbClr val="EEF3FD"/>
          </a:solidFill>
          <a:ln w="12700">
            <a:solidFill>
              <a:srgbClr val="CADCFC"/>
            </a:solidFill>
            <a:prstDash val="solid"/>
          </a:ln>
        </p:spPr>
        <p:txBody>
          <a:bodyPr/>
          <a:lstStyle/>
          <a:p>
            <a:endParaRPr lang="en-IN"/>
          </a:p>
        </p:txBody>
      </p:sp>
      <p:sp>
        <p:nvSpPr>
          <p:cNvPr id="8" name="Shape 6"/>
          <p:cNvSpPr/>
          <p:nvPr/>
        </p:nvSpPr>
        <p:spPr>
          <a:xfrm>
            <a:off x="777240" y="2606040"/>
            <a:ext cx="1737360" cy="310896"/>
          </a:xfrm>
          <a:prstGeom prst="roundRect">
            <a:avLst>
              <a:gd name="adj" fmla="val 50000"/>
            </a:avLst>
          </a:prstGeom>
          <a:solidFill>
            <a:srgbClr val="1E2761"/>
          </a:solidFill>
          <a:ln/>
        </p:spPr>
        <p:txBody>
          <a:bodyPr/>
          <a:lstStyle/>
          <a:p>
            <a:endParaRPr lang="en-IN"/>
          </a:p>
        </p:txBody>
      </p:sp>
      <p:sp>
        <p:nvSpPr>
          <p:cNvPr id="9" name="Text 7"/>
          <p:cNvSpPr txBox="1"/>
          <p:nvPr/>
        </p:nvSpPr>
        <p:spPr>
          <a:xfrm>
            <a:off x="777240" y="260604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1</a:t>
            </a:r>
            <a:endParaRPr lang="en-US" dirty="0">
              <a:solidFill>
                <a:schemeClr val="bg1"/>
              </a:solidFill>
            </a:endParaRPr>
          </a:p>
        </p:txBody>
      </p:sp>
      <p:sp>
        <p:nvSpPr>
          <p:cNvPr id="10" name="Text 8"/>
          <p:cNvSpPr txBox="1"/>
          <p:nvPr/>
        </p:nvSpPr>
        <p:spPr>
          <a:xfrm>
            <a:off x="777240" y="299008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Coal India Stock</a:t>
            </a:r>
            <a:endParaRPr lang="en-US" dirty="0"/>
          </a:p>
        </p:txBody>
      </p:sp>
      <p:sp>
        <p:nvSpPr>
          <p:cNvPr id="11" name="Text 9"/>
          <p:cNvSpPr txBox="1"/>
          <p:nvPr/>
        </p:nvSpPr>
        <p:spPr>
          <a:xfrm>
            <a:off x="777240" y="3410712"/>
            <a:ext cx="4983480" cy="649224"/>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Expected annual dividend, D₁ = ₹18 (constant forever)</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return on equity, r = 12%</a:t>
            </a:r>
            <a:endParaRPr lang="en-US" dirty="0"/>
          </a:p>
        </p:txBody>
      </p:sp>
      <p:sp>
        <p:nvSpPr>
          <p:cNvPr id="12" name="Shape 10"/>
          <p:cNvSpPr/>
          <p:nvPr/>
        </p:nvSpPr>
        <p:spPr>
          <a:xfrm>
            <a:off x="777240" y="4123944"/>
            <a:ext cx="4983480" cy="0"/>
          </a:xfrm>
          <a:prstGeom prst="line">
            <a:avLst/>
          </a:prstGeom>
          <a:noFill/>
          <a:ln w="12700">
            <a:solidFill>
              <a:srgbClr val="CADCFC"/>
            </a:solidFill>
            <a:prstDash val="solid"/>
          </a:ln>
        </p:spPr>
        <p:txBody>
          <a:bodyPr/>
          <a:lstStyle/>
          <a:p>
            <a:endParaRPr lang="en-IN"/>
          </a:p>
        </p:txBody>
      </p:sp>
      <p:sp>
        <p:nvSpPr>
          <p:cNvPr id="13" name="Text 11"/>
          <p:cNvSpPr txBox="1"/>
          <p:nvPr/>
        </p:nvSpPr>
        <p:spPr>
          <a:xfrm>
            <a:off x="777240" y="4352545"/>
            <a:ext cx="4983480" cy="1252728"/>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P₀ = 18 / 0.12</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₹150 per share</a:t>
            </a:r>
            <a:endParaRPr lang="en-US" dirty="0"/>
          </a:p>
        </p:txBody>
      </p:sp>
      <p:sp>
        <p:nvSpPr>
          <p:cNvPr id="14" name="Text 12"/>
          <p:cNvSpPr txBox="1"/>
          <p:nvPr/>
        </p:nvSpPr>
        <p:spPr>
          <a:xfrm>
            <a:off x="777240" y="5522976"/>
            <a:ext cx="4983480" cy="457200"/>
          </a:xfrm>
          <a:prstGeom prst="rect">
            <a:avLst/>
          </a:prstGeom>
          <a:noFill/>
          <a:ln/>
        </p:spPr>
        <p:txBody>
          <a:bodyPr wrap="square" lIns="0" tIns="0" rIns="0" bIns="0" rtlCol="0" anchor="t"/>
          <a:lstStyle/>
          <a:p>
            <a:pPr marL="0" indent="0">
              <a:buNone/>
            </a:pPr>
            <a:r>
              <a:rPr lang="en-US" sz="1600" i="1" dirty="0">
                <a:solidFill>
                  <a:schemeClr val="accent2"/>
                </a:solidFill>
                <a:latin typeface="Calibri" pitchFamily="34" charset="0"/>
                <a:ea typeface="Calibri" pitchFamily="34" charset="-122"/>
                <a:cs typeface="Calibri" pitchFamily="34" charset="-120"/>
              </a:rPr>
              <a:t>Stable, high-payout PSU — nearly all profit distributed rather than reinvested for growth.</a:t>
            </a:r>
            <a:endParaRPr lang="en-US" sz="1600" dirty="0">
              <a:solidFill>
                <a:schemeClr val="accent2"/>
              </a:solidFill>
            </a:endParaRPr>
          </a:p>
        </p:txBody>
      </p:sp>
      <p:sp>
        <p:nvSpPr>
          <p:cNvPr id="15" name="Shape 13"/>
          <p:cNvSpPr/>
          <p:nvPr/>
        </p:nvSpPr>
        <p:spPr>
          <a:xfrm>
            <a:off x="6172200" y="2423160"/>
            <a:ext cx="5440680" cy="3611880"/>
          </a:xfrm>
          <a:prstGeom prst="roundRect">
            <a:avLst>
              <a:gd name="adj" fmla="val 1519"/>
            </a:avLst>
          </a:prstGeom>
          <a:solidFill>
            <a:srgbClr val="EEF3FD"/>
          </a:solidFill>
          <a:ln w="12700">
            <a:solidFill>
              <a:srgbClr val="CADCFC"/>
            </a:solidFill>
            <a:prstDash val="solid"/>
          </a:ln>
        </p:spPr>
        <p:txBody>
          <a:bodyPr/>
          <a:lstStyle/>
          <a:p>
            <a:endParaRPr lang="en-IN"/>
          </a:p>
        </p:txBody>
      </p:sp>
      <p:sp>
        <p:nvSpPr>
          <p:cNvPr id="16" name="Shape 14"/>
          <p:cNvSpPr/>
          <p:nvPr/>
        </p:nvSpPr>
        <p:spPr>
          <a:xfrm>
            <a:off x="6400800" y="2606040"/>
            <a:ext cx="1737360" cy="310896"/>
          </a:xfrm>
          <a:prstGeom prst="roundRect">
            <a:avLst>
              <a:gd name="adj" fmla="val 50000"/>
            </a:avLst>
          </a:prstGeom>
          <a:solidFill>
            <a:srgbClr val="B8912F"/>
          </a:solidFill>
          <a:ln/>
        </p:spPr>
        <p:txBody>
          <a:bodyPr/>
          <a:lstStyle/>
          <a:p>
            <a:endParaRPr lang="en-IN"/>
          </a:p>
        </p:txBody>
      </p:sp>
      <p:sp>
        <p:nvSpPr>
          <p:cNvPr id="17" name="Text 15"/>
          <p:cNvSpPr txBox="1"/>
          <p:nvPr/>
        </p:nvSpPr>
        <p:spPr>
          <a:xfrm>
            <a:off x="6400800" y="260604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2</a:t>
            </a:r>
            <a:endParaRPr lang="en-US" dirty="0">
              <a:solidFill>
                <a:schemeClr val="bg1"/>
              </a:solidFill>
            </a:endParaRPr>
          </a:p>
        </p:txBody>
      </p:sp>
      <p:sp>
        <p:nvSpPr>
          <p:cNvPr id="18" name="Text 16"/>
          <p:cNvSpPr txBox="1"/>
          <p:nvPr/>
        </p:nvSpPr>
        <p:spPr>
          <a:xfrm>
            <a:off x="6400800" y="299008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NTPC Stock</a:t>
            </a:r>
            <a:endParaRPr lang="en-US" dirty="0"/>
          </a:p>
        </p:txBody>
      </p:sp>
      <p:sp>
        <p:nvSpPr>
          <p:cNvPr id="19" name="Text 17"/>
          <p:cNvSpPr txBox="1"/>
          <p:nvPr/>
        </p:nvSpPr>
        <p:spPr>
          <a:xfrm>
            <a:off x="6400800" y="3410712"/>
            <a:ext cx="4983480" cy="649224"/>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Expected annual dividend, D₁ = ₹9 (constant forever)</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return on equity, r = 10%</a:t>
            </a:r>
            <a:endParaRPr lang="en-US" dirty="0"/>
          </a:p>
        </p:txBody>
      </p:sp>
      <p:sp>
        <p:nvSpPr>
          <p:cNvPr id="20" name="Shape 18"/>
          <p:cNvSpPr/>
          <p:nvPr/>
        </p:nvSpPr>
        <p:spPr>
          <a:xfrm>
            <a:off x="6400800" y="4123944"/>
            <a:ext cx="4983480" cy="0"/>
          </a:xfrm>
          <a:prstGeom prst="line">
            <a:avLst/>
          </a:prstGeom>
          <a:noFill/>
          <a:ln w="12700">
            <a:solidFill>
              <a:srgbClr val="CADCFC"/>
            </a:solidFill>
            <a:prstDash val="solid"/>
          </a:ln>
        </p:spPr>
        <p:txBody>
          <a:bodyPr/>
          <a:lstStyle/>
          <a:p>
            <a:endParaRPr lang="en-IN"/>
          </a:p>
        </p:txBody>
      </p:sp>
      <p:sp>
        <p:nvSpPr>
          <p:cNvPr id="21" name="Text 19"/>
          <p:cNvSpPr txBox="1"/>
          <p:nvPr/>
        </p:nvSpPr>
        <p:spPr>
          <a:xfrm>
            <a:off x="6400800" y="4421124"/>
            <a:ext cx="4983480" cy="1252728"/>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P₀ = 9 / 0.10</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₹90 per share</a:t>
            </a:r>
            <a:endParaRPr lang="en-US" dirty="0"/>
          </a:p>
        </p:txBody>
      </p:sp>
      <p:sp>
        <p:nvSpPr>
          <p:cNvPr id="22" name="Text 20"/>
          <p:cNvSpPr txBox="1"/>
          <p:nvPr/>
        </p:nvSpPr>
        <p:spPr>
          <a:xfrm>
            <a:off x="6400800" y="5522976"/>
            <a:ext cx="4983480" cy="457200"/>
          </a:xfrm>
          <a:prstGeom prst="rect">
            <a:avLst/>
          </a:prstGeom>
          <a:noFill/>
          <a:ln/>
        </p:spPr>
        <p:txBody>
          <a:bodyPr wrap="square" lIns="0" tIns="0" rIns="0" bIns="0" rtlCol="0" anchor="t"/>
          <a:lstStyle/>
          <a:p>
            <a:pPr marL="0" indent="0">
              <a:buNone/>
            </a:pPr>
            <a:r>
              <a:rPr lang="en-US" sz="1600" i="1" dirty="0">
                <a:solidFill>
                  <a:schemeClr val="accent2"/>
                </a:solidFill>
                <a:latin typeface="Calibri" pitchFamily="34" charset="0"/>
                <a:ea typeface="Calibri" pitchFamily="34" charset="-122"/>
                <a:cs typeface="Calibri" pitchFamily="34" charset="-120"/>
              </a:rPr>
              <a:t>Model suits mature utilities with flat, dependable dividend payouts and minimal growth.</a:t>
            </a:r>
            <a:endParaRPr lang="en-US" sz="1600" dirty="0">
              <a:solidFill>
                <a:schemeClr val="accent2"/>
              </a:solidFill>
            </a:endParaRPr>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4" name="Text 22"/>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EQUITY</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Constant Growth (Gordon Growth) Model</a:t>
            </a:r>
            <a:endParaRPr lang="en-US" sz="3000" dirty="0"/>
          </a:p>
        </p:txBody>
      </p:sp>
      <p:sp>
        <p:nvSpPr>
          <p:cNvPr id="4" name="Shape 2"/>
          <p:cNvSpPr/>
          <p:nvPr/>
        </p:nvSpPr>
        <p:spPr>
          <a:xfrm>
            <a:off x="2651760" y="1417320"/>
            <a:ext cx="6858000" cy="777240"/>
          </a:xfrm>
          <a:prstGeom prst="roundRect">
            <a:avLst>
              <a:gd name="adj" fmla="val 9412"/>
            </a:avLst>
          </a:prstGeom>
          <a:solidFill>
            <a:srgbClr val="1E2761"/>
          </a:solidFill>
          <a:ln/>
        </p:spPr>
        <p:txBody>
          <a:bodyPr/>
          <a:lstStyle/>
          <a:p>
            <a:endParaRPr lang="en-IN"/>
          </a:p>
        </p:txBody>
      </p:sp>
      <p:sp>
        <p:nvSpPr>
          <p:cNvPr id="5" name="Text 3"/>
          <p:cNvSpPr txBox="1"/>
          <p:nvPr/>
        </p:nvSpPr>
        <p:spPr>
          <a:xfrm>
            <a:off x="2834640" y="1417320"/>
            <a:ext cx="6492240" cy="521208"/>
          </a:xfrm>
          <a:prstGeom prst="rect">
            <a:avLst/>
          </a:prstGeom>
          <a:noFill/>
          <a:ln/>
        </p:spPr>
        <p:txBody>
          <a:bodyPr wrap="square" lIns="0" tIns="0" rIns="0" bIns="0" rtlCol="0" anchor="ctr"/>
          <a:lstStyle/>
          <a:p>
            <a:pPr marL="0" indent="0" algn="ctr">
              <a:buNone/>
            </a:pPr>
            <a:r>
              <a:rPr lang="en-US" sz="2000" dirty="0">
                <a:solidFill>
                  <a:srgbClr val="FFFFFF"/>
                </a:solidFill>
                <a:latin typeface="Cambria Math" pitchFamily="34" charset="0"/>
                <a:ea typeface="Cambria Math" pitchFamily="34" charset="-122"/>
                <a:cs typeface="Cambria Math" pitchFamily="34" charset="-120"/>
              </a:rPr>
              <a:t>P₀  =  D₁ / (r − g)     where  D₁ = D₀(1+g)</a:t>
            </a:r>
            <a:endParaRPr lang="en-US" sz="2000" dirty="0"/>
          </a:p>
        </p:txBody>
      </p:sp>
      <p:sp>
        <p:nvSpPr>
          <p:cNvPr id="6" name="Text 4"/>
          <p:cNvSpPr txBox="1"/>
          <p:nvPr/>
        </p:nvSpPr>
        <p:spPr>
          <a:xfrm>
            <a:off x="2834640" y="1901952"/>
            <a:ext cx="6492240" cy="256032"/>
          </a:xfrm>
          <a:prstGeom prst="rect">
            <a:avLst/>
          </a:prstGeom>
          <a:noFill/>
          <a:ln/>
        </p:spPr>
        <p:txBody>
          <a:bodyPr wrap="square" lIns="0" tIns="0" rIns="0" bIns="0" rtlCol="0" anchor="ctr"/>
          <a:lstStyle/>
          <a:p>
            <a:pPr marL="0" indent="0" algn="ctr">
              <a:buNone/>
            </a:pPr>
            <a:r>
              <a:rPr lang="en-US" sz="1600" i="1" dirty="0">
                <a:solidFill>
                  <a:schemeClr val="accent2"/>
                </a:solidFill>
                <a:latin typeface="Calibri" pitchFamily="34" charset="0"/>
                <a:ea typeface="Calibri" pitchFamily="34" charset="-122"/>
                <a:cs typeface="Calibri" pitchFamily="34" charset="-120"/>
              </a:rPr>
              <a:t>Fits stable companies growing at a modest, sustainable rate forever</a:t>
            </a:r>
            <a:endParaRPr lang="en-US" sz="1600" dirty="0">
              <a:solidFill>
                <a:schemeClr val="accent2"/>
              </a:solidFill>
            </a:endParaRPr>
          </a:p>
        </p:txBody>
      </p:sp>
      <p:sp>
        <p:nvSpPr>
          <p:cNvPr id="7" name="Shape 5"/>
          <p:cNvSpPr/>
          <p:nvPr/>
        </p:nvSpPr>
        <p:spPr>
          <a:xfrm>
            <a:off x="548640" y="2423160"/>
            <a:ext cx="5440680" cy="3611880"/>
          </a:xfrm>
          <a:prstGeom prst="roundRect">
            <a:avLst>
              <a:gd name="adj" fmla="val 1519"/>
            </a:avLst>
          </a:prstGeom>
          <a:solidFill>
            <a:srgbClr val="EEF3FD"/>
          </a:solidFill>
          <a:ln w="12700">
            <a:solidFill>
              <a:srgbClr val="CADCFC"/>
            </a:solidFill>
            <a:prstDash val="solid"/>
          </a:ln>
        </p:spPr>
        <p:txBody>
          <a:bodyPr/>
          <a:lstStyle/>
          <a:p>
            <a:endParaRPr lang="en-IN"/>
          </a:p>
        </p:txBody>
      </p:sp>
      <p:sp>
        <p:nvSpPr>
          <p:cNvPr id="8" name="Shape 6"/>
          <p:cNvSpPr/>
          <p:nvPr/>
        </p:nvSpPr>
        <p:spPr>
          <a:xfrm>
            <a:off x="777240" y="2606040"/>
            <a:ext cx="1737360" cy="310896"/>
          </a:xfrm>
          <a:prstGeom prst="roundRect">
            <a:avLst>
              <a:gd name="adj" fmla="val 50000"/>
            </a:avLst>
          </a:prstGeom>
          <a:solidFill>
            <a:srgbClr val="1E2761"/>
          </a:solidFill>
          <a:ln/>
        </p:spPr>
        <p:txBody>
          <a:bodyPr/>
          <a:lstStyle/>
          <a:p>
            <a:endParaRPr lang="en-IN"/>
          </a:p>
        </p:txBody>
      </p:sp>
      <p:sp>
        <p:nvSpPr>
          <p:cNvPr id="9" name="Text 7"/>
          <p:cNvSpPr txBox="1"/>
          <p:nvPr/>
        </p:nvSpPr>
        <p:spPr>
          <a:xfrm>
            <a:off x="777240" y="260604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1</a:t>
            </a:r>
            <a:endParaRPr lang="en-US" dirty="0">
              <a:solidFill>
                <a:schemeClr val="bg1"/>
              </a:solidFill>
            </a:endParaRPr>
          </a:p>
        </p:txBody>
      </p:sp>
      <p:sp>
        <p:nvSpPr>
          <p:cNvPr id="10" name="Text 8"/>
          <p:cNvSpPr txBox="1"/>
          <p:nvPr/>
        </p:nvSpPr>
        <p:spPr>
          <a:xfrm>
            <a:off x="777240" y="299008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HDFC Bank Stock</a:t>
            </a:r>
            <a:endParaRPr lang="en-US" dirty="0"/>
          </a:p>
        </p:txBody>
      </p:sp>
      <p:sp>
        <p:nvSpPr>
          <p:cNvPr id="11" name="Text 9"/>
          <p:cNvSpPr txBox="1"/>
          <p:nvPr/>
        </p:nvSpPr>
        <p:spPr>
          <a:xfrm>
            <a:off x="777240" y="3410712"/>
            <a:ext cx="4983480" cy="905256"/>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Last dividend, D₀ = ₹19</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Growth rate, g = 10%</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return, r = 14%</a:t>
            </a:r>
            <a:endParaRPr lang="en-US" dirty="0"/>
          </a:p>
        </p:txBody>
      </p:sp>
      <p:sp>
        <p:nvSpPr>
          <p:cNvPr id="12" name="Shape 10"/>
          <p:cNvSpPr/>
          <p:nvPr/>
        </p:nvSpPr>
        <p:spPr>
          <a:xfrm>
            <a:off x="777240" y="4379976"/>
            <a:ext cx="4983480" cy="0"/>
          </a:xfrm>
          <a:prstGeom prst="line">
            <a:avLst/>
          </a:prstGeom>
          <a:noFill/>
          <a:ln w="12700">
            <a:solidFill>
              <a:srgbClr val="CADCFC"/>
            </a:solidFill>
            <a:prstDash val="solid"/>
          </a:ln>
        </p:spPr>
        <p:txBody>
          <a:bodyPr/>
          <a:lstStyle/>
          <a:p>
            <a:endParaRPr lang="en-IN"/>
          </a:p>
        </p:txBody>
      </p:sp>
      <p:sp>
        <p:nvSpPr>
          <p:cNvPr id="13" name="Text 11"/>
          <p:cNvSpPr txBox="1"/>
          <p:nvPr/>
        </p:nvSpPr>
        <p:spPr>
          <a:xfrm>
            <a:off x="777240" y="4489704"/>
            <a:ext cx="4983480" cy="996696"/>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D₁ = 19 × 1.10 = ₹20.90</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P₀ = 20.90 / (0.14 − 0.10)</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₹522.50 per share</a:t>
            </a:r>
            <a:endParaRPr lang="en-US" dirty="0"/>
          </a:p>
        </p:txBody>
      </p:sp>
      <p:sp>
        <p:nvSpPr>
          <p:cNvPr id="14" name="Text 12"/>
          <p:cNvSpPr txBox="1"/>
          <p:nvPr/>
        </p:nvSpPr>
        <p:spPr>
          <a:xfrm>
            <a:off x="777240" y="5522976"/>
            <a:ext cx="4983480" cy="457200"/>
          </a:xfrm>
          <a:prstGeom prst="rect">
            <a:avLst/>
          </a:prstGeom>
          <a:noFill/>
          <a:ln/>
        </p:spPr>
        <p:txBody>
          <a:bodyPr wrap="square" lIns="0" tIns="0" rIns="0" bIns="0" rtlCol="0" anchor="t"/>
          <a:lstStyle/>
          <a:p>
            <a:pPr marL="0" indent="0">
              <a:buNone/>
            </a:pPr>
            <a:r>
              <a:rPr lang="en-US" sz="1600" i="1" dirty="0">
                <a:solidFill>
                  <a:schemeClr val="accent2"/>
                </a:solidFill>
                <a:latin typeface="Calibri" pitchFamily="34" charset="0"/>
                <a:ea typeface="Calibri" pitchFamily="34" charset="-122"/>
                <a:cs typeface="Calibri" pitchFamily="34" charset="-120"/>
              </a:rPr>
              <a:t>Only valid while r &gt; g — breaks down for high-growth-phase companies.</a:t>
            </a:r>
            <a:endParaRPr lang="en-US" sz="1600" dirty="0">
              <a:solidFill>
                <a:schemeClr val="accent2"/>
              </a:solidFill>
            </a:endParaRPr>
          </a:p>
        </p:txBody>
      </p:sp>
      <p:sp>
        <p:nvSpPr>
          <p:cNvPr id="15" name="Shape 13"/>
          <p:cNvSpPr/>
          <p:nvPr/>
        </p:nvSpPr>
        <p:spPr>
          <a:xfrm>
            <a:off x="6172200" y="2423160"/>
            <a:ext cx="5440680" cy="3611880"/>
          </a:xfrm>
          <a:prstGeom prst="roundRect">
            <a:avLst>
              <a:gd name="adj" fmla="val 1519"/>
            </a:avLst>
          </a:prstGeom>
          <a:solidFill>
            <a:srgbClr val="EEF3FD"/>
          </a:solidFill>
          <a:ln w="12700">
            <a:solidFill>
              <a:srgbClr val="CADCFC"/>
            </a:solidFill>
            <a:prstDash val="solid"/>
          </a:ln>
        </p:spPr>
        <p:txBody>
          <a:bodyPr/>
          <a:lstStyle/>
          <a:p>
            <a:endParaRPr lang="en-IN"/>
          </a:p>
        </p:txBody>
      </p:sp>
      <p:sp>
        <p:nvSpPr>
          <p:cNvPr id="16" name="Shape 14"/>
          <p:cNvSpPr/>
          <p:nvPr/>
        </p:nvSpPr>
        <p:spPr>
          <a:xfrm>
            <a:off x="6400800" y="2606040"/>
            <a:ext cx="1737360" cy="310896"/>
          </a:xfrm>
          <a:prstGeom prst="roundRect">
            <a:avLst>
              <a:gd name="adj" fmla="val 50000"/>
            </a:avLst>
          </a:prstGeom>
          <a:solidFill>
            <a:srgbClr val="B8912F"/>
          </a:solidFill>
          <a:ln/>
        </p:spPr>
        <p:txBody>
          <a:bodyPr/>
          <a:lstStyle/>
          <a:p>
            <a:endParaRPr lang="en-IN"/>
          </a:p>
        </p:txBody>
      </p:sp>
      <p:sp>
        <p:nvSpPr>
          <p:cNvPr id="17" name="Text 15"/>
          <p:cNvSpPr txBox="1"/>
          <p:nvPr/>
        </p:nvSpPr>
        <p:spPr>
          <a:xfrm>
            <a:off x="6400800" y="2606040"/>
            <a:ext cx="1737360" cy="310896"/>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EXAMPLE 2</a:t>
            </a:r>
            <a:endParaRPr lang="en-US" dirty="0">
              <a:solidFill>
                <a:schemeClr val="bg1"/>
              </a:solidFill>
            </a:endParaRPr>
          </a:p>
        </p:txBody>
      </p:sp>
      <p:sp>
        <p:nvSpPr>
          <p:cNvPr id="18" name="Text 16"/>
          <p:cNvSpPr txBox="1"/>
          <p:nvPr/>
        </p:nvSpPr>
        <p:spPr>
          <a:xfrm>
            <a:off x="6400800" y="2990088"/>
            <a:ext cx="4983480" cy="36576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Asian Paints Stock</a:t>
            </a:r>
            <a:endParaRPr lang="en-US" dirty="0"/>
          </a:p>
        </p:txBody>
      </p:sp>
      <p:sp>
        <p:nvSpPr>
          <p:cNvPr id="19" name="Text 17"/>
          <p:cNvSpPr txBox="1"/>
          <p:nvPr/>
        </p:nvSpPr>
        <p:spPr>
          <a:xfrm>
            <a:off x="6400800" y="3410712"/>
            <a:ext cx="4983480" cy="905256"/>
          </a:xfrm>
          <a:prstGeom prst="rect">
            <a:avLst/>
          </a:prstGeom>
          <a:noFill/>
          <a:ln/>
        </p:spPr>
        <p:txBody>
          <a:bodyPr wrap="square" lIns="0" tIns="0" rIns="0" bIns="0" rtlCol="0" anchor="t"/>
          <a:lstStyle/>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Last dividend, D₀ = ₹15</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Growth rate, g = 8%</a:t>
            </a:r>
            <a:endParaRPr lang="en-US" dirty="0"/>
          </a:p>
          <a:p>
            <a:pPr marL="152400" indent="-152400">
              <a:spcAft>
                <a:spcPts val="200"/>
              </a:spcAft>
              <a:buSzPct val="100000"/>
              <a:buChar char="•"/>
            </a:pPr>
            <a:r>
              <a:rPr lang="en-US" dirty="0">
                <a:solidFill>
                  <a:srgbClr val="5A6B87"/>
                </a:solidFill>
                <a:latin typeface="Calibri" pitchFamily="34" charset="0"/>
                <a:ea typeface="Calibri" pitchFamily="34" charset="-122"/>
                <a:cs typeface="Calibri" pitchFamily="34" charset="-120"/>
              </a:rPr>
              <a:t>Required return, r = 12%</a:t>
            </a:r>
            <a:endParaRPr lang="en-US" dirty="0"/>
          </a:p>
        </p:txBody>
      </p:sp>
      <p:sp>
        <p:nvSpPr>
          <p:cNvPr id="20" name="Shape 18"/>
          <p:cNvSpPr/>
          <p:nvPr/>
        </p:nvSpPr>
        <p:spPr>
          <a:xfrm>
            <a:off x="6400800" y="4379976"/>
            <a:ext cx="4983480" cy="0"/>
          </a:xfrm>
          <a:prstGeom prst="line">
            <a:avLst/>
          </a:prstGeom>
          <a:noFill/>
          <a:ln w="12700">
            <a:solidFill>
              <a:srgbClr val="CADCFC"/>
            </a:solidFill>
            <a:prstDash val="solid"/>
          </a:ln>
        </p:spPr>
        <p:txBody>
          <a:bodyPr/>
          <a:lstStyle/>
          <a:p>
            <a:endParaRPr lang="en-IN"/>
          </a:p>
        </p:txBody>
      </p:sp>
      <p:sp>
        <p:nvSpPr>
          <p:cNvPr id="21" name="Text 19"/>
          <p:cNvSpPr txBox="1"/>
          <p:nvPr/>
        </p:nvSpPr>
        <p:spPr>
          <a:xfrm>
            <a:off x="6400800" y="4489704"/>
            <a:ext cx="4983480" cy="996696"/>
          </a:xfrm>
          <a:prstGeom prst="rect">
            <a:avLst/>
          </a:prstGeom>
          <a:noFill/>
          <a:ln/>
        </p:spPr>
        <p:txBody>
          <a:bodyPr wrap="square" lIns="0" tIns="0" rIns="0" bIns="0" rtlCol="0" anchor="t"/>
          <a:lstStyle/>
          <a:p>
            <a:pPr marL="0" indent="0">
              <a:spcAft>
                <a:spcPts val="300"/>
              </a:spcAft>
              <a:buNone/>
            </a:pPr>
            <a:r>
              <a:rPr lang="en-US" dirty="0">
                <a:solidFill>
                  <a:srgbClr val="1E2761"/>
                </a:solidFill>
                <a:latin typeface="Calibri" pitchFamily="34" charset="0"/>
                <a:ea typeface="Calibri" pitchFamily="34" charset="-122"/>
                <a:cs typeface="Calibri" pitchFamily="34" charset="-120"/>
              </a:rPr>
              <a:t>D₁ = 15 × 1.08 = ₹16.20</a:t>
            </a:r>
            <a:endParaRPr lang="en-US" dirty="0"/>
          </a:p>
          <a:p>
            <a:pPr marL="0" indent="0">
              <a:spcAft>
                <a:spcPts val="300"/>
              </a:spcAft>
              <a:buNone/>
            </a:pPr>
            <a:r>
              <a:rPr lang="en-US" dirty="0">
                <a:solidFill>
                  <a:srgbClr val="1E2761"/>
                </a:solidFill>
                <a:latin typeface="Calibri" pitchFamily="34" charset="0"/>
                <a:ea typeface="Calibri" pitchFamily="34" charset="-122"/>
                <a:cs typeface="Calibri" pitchFamily="34" charset="-120"/>
              </a:rPr>
              <a:t>P₀ = 16.20 / (0.12 − 0.08)</a:t>
            </a:r>
            <a:endParaRPr lang="en-US" dirty="0"/>
          </a:p>
          <a:p>
            <a:pPr marL="0" indent="0">
              <a:spcAft>
                <a:spcPts val="300"/>
              </a:spcAft>
              <a:buNone/>
            </a:pPr>
            <a:r>
              <a:rPr lang="en-US" b="1" dirty="0">
                <a:solidFill>
                  <a:srgbClr val="2C6E49"/>
                </a:solidFill>
                <a:latin typeface="Calibri" pitchFamily="34" charset="0"/>
                <a:ea typeface="Calibri" pitchFamily="34" charset="-122"/>
                <a:cs typeface="Calibri" pitchFamily="34" charset="-120"/>
              </a:rPr>
              <a:t>Price  =  ₹405.00 per share</a:t>
            </a:r>
            <a:endParaRPr lang="en-US" dirty="0"/>
          </a:p>
        </p:txBody>
      </p:sp>
      <p:sp>
        <p:nvSpPr>
          <p:cNvPr id="22" name="Text 20"/>
          <p:cNvSpPr txBox="1"/>
          <p:nvPr/>
        </p:nvSpPr>
        <p:spPr>
          <a:xfrm>
            <a:off x="6400800" y="5522976"/>
            <a:ext cx="4983480" cy="457200"/>
          </a:xfrm>
          <a:prstGeom prst="rect">
            <a:avLst/>
          </a:prstGeom>
          <a:noFill/>
          <a:ln/>
        </p:spPr>
        <p:txBody>
          <a:bodyPr wrap="square" lIns="0" tIns="0" rIns="0" bIns="0" rtlCol="0" anchor="t"/>
          <a:lstStyle/>
          <a:p>
            <a:pPr marL="0" indent="0">
              <a:buNone/>
            </a:pPr>
            <a:r>
              <a:rPr lang="en-US" sz="1600" i="1" dirty="0">
                <a:solidFill>
                  <a:schemeClr val="accent2"/>
                </a:solidFill>
                <a:latin typeface="Calibri" pitchFamily="34" charset="0"/>
                <a:ea typeface="Calibri" pitchFamily="34" charset="-122"/>
                <a:cs typeface="Calibri" pitchFamily="34" charset="-120"/>
              </a:rPr>
              <a:t>Suited to a mature market leader growing dividends steadily, in line with the economy</a:t>
            </a:r>
            <a:r>
              <a:rPr lang="en-US" sz="1000" i="1" dirty="0">
                <a:solidFill>
                  <a:srgbClr val="5A6B87"/>
                </a:solidFill>
                <a:latin typeface="Calibri" pitchFamily="34" charset="0"/>
                <a:ea typeface="Calibri" pitchFamily="34" charset="-122"/>
                <a:cs typeface="Calibri" pitchFamily="34" charset="-120"/>
              </a:rPr>
              <a:t>.</a:t>
            </a:r>
            <a:endParaRPr lang="en-US" sz="100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4" name="Text 22"/>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EQUITY</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Two-Stage Growth Model</a:t>
            </a:r>
            <a:endParaRPr lang="en-US" sz="3000" dirty="0"/>
          </a:p>
        </p:txBody>
      </p:sp>
      <p:sp>
        <p:nvSpPr>
          <p:cNvPr id="4" name="Shape 2"/>
          <p:cNvSpPr/>
          <p:nvPr/>
        </p:nvSpPr>
        <p:spPr>
          <a:xfrm>
            <a:off x="1188720" y="1508760"/>
            <a:ext cx="9784080" cy="960120"/>
          </a:xfrm>
          <a:prstGeom prst="roundRect">
            <a:avLst>
              <a:gd name="adj" fmla="val 7619"/>
            </a:avLst>
          </a:prstGeom>
          <a:solidFill>
            <a:srgbClr val="1E2761"/>
          </a:solidFill>
          <a:ln/>
        </p:spPr>
        <p:txBody>
          <a:bodyPr/>
          <a:lstStyle/>
          <a:p>
            <a:endParaRPr lang="en-IN"/>
          </a:p>
        </p:txBody>
      </p:sp>
      <p:sp>
        <p:nvSpPr>
          <p:cNvPr id="5" name="Text 3"/>
          <p:cNvSpPr txBox="1"/>
          <p:nvPr/>
        </p:nvSpPr>
        <p:spPr>
          <a:xfrm>
            <a:off x="1371600" y="1508760"/>
            <a:ext cx="9418320" cy="704088"/>
          </a:xfrm>
          <a:prstGeom prst="rect">
            <a:avLst/>
          </a:prstGeom>
          <a:noFill/>
          <a:ln/>
        </p:spPr>
        <p:txBody>
          <a:bodyPr wrap="square" lIns="0" tIns="0" rIns="0" bIns="0" rtlCol="0" anchor="ctr"/>
          <a:lstStyle/>
          <a:p>
            <a:pPr marL="0" indent="0" algn="ctr">
              <a:buNone/>
            </a:pPr>
            <a:r>
              <a:rPr lang="en-US" sz="2000" dirty="0">
                <a:solidFill>
                  <a:srgbClr val="FFFFFF"/>
                </a:solidFill>
                <a:latin typeface="Cambria Math" pitchFamily="34" charset="0"/>
                <a:ea typeface="Cambria Math" pitchFamily="34" charset="-122"/>
                <a:cs typeface="Cambria Math" pitchFamily="34" charset="-120"/>
              </a:rPr>
              <a:t>P₀ = D₁[ 1 − ((1+g₁)/(1+r))ⁿ ] / (r − g₁)  +  Pₙ /(1+r)ᵗ ,   Pₙ = D_(n+1)/(r − g₂)</a:t>
            </a:r>
            <a:endParaRPr lang="en-US" sz="2000" dirty="0"/>
          </a:p>
        </p:txBody>
      </p:sp>
      <p:sp>
        <p:nvSpPr>
          <p:cNvPr id="6" name="Text 4"/>
          <p:cNvSpPr txBox="1"/>
          <p:nvPr/>
        </p:nvSpPr>
        <p:spPr>
          <a:xfrm>
            <a:off x="1371600" y="2176272"/>
            <a:ext cx="9418320" cy="256032"/>
          </a:xfrm>
          <a:prstGeom prst="rect">
            <a:avLst/>
          </a:prstGeom>
          <a:noFill/>
          <a:ln/>
        </p:spPr>
        <p:txBody>
          <a:bodyPr wrap="square" lIns="0" tIns="0" rIns="0" bIns="0" rtlCol="0" anchor="ctr"/>
          <a:lstStyle/>
          <a:p>
            <a:pPr marL="0" indent="0" algn="ctr">
              <a:buNone/>
            </a:pPr>
            <a:r>
              <a:rPr lang="en-US" sz="1050" i="1" dirty="0">
                <a:solidFill>
                  <a:schemeClr val="accent2"/>
                </a:solidFill>
                <a:latin typeface="Calibri" pitchFamily="34" charset="0"/>
                <a:ea typeface="Calibri" pitchFamily="34" charset="-122"/>
                <a:cs typeface="Calibri" pitchFamily="34" charset="-120"/>
              </a:rPr>
              <a:t>Value = PV of high-growth dividends  +  PV of the eventual steady-state selling price</a:t>
            </a:r>
            <a:endParaRPr lang="en-US" sz="1050" dirty="0">
              <a:solidFill>
                <a:schemeClr val="accent2"/>
              </a:solidFill>
            </a:endParaRPr>
          </a:p>
        </p:txBody>
      </p:sp>
      <p:sp>
        <p:nvSpPr>
          <p:cNvPr id="7" name="Shape 5"/>
          <p:cNvSpPr/>
          <p:nvPr/>
        </p:nvSpPr>
        <p:spPr>
          <a:xfrm>
            <a:off x="914400" y="2880360"/>
            <a:ext cx="5120640" cy="2286000"/>
          </a:xfrm>
          <a:prstGeom prst="roundRect">
            <a:avLst>
              <a:gd name="adj" fmla="val 2800"/>
            </a:avLst>
          </a:prstGeom>
          <a:solidFill>
            <a:srgbClr val="EEF3FD"/>
          </a:solidFill>
          <a:ln/>
        </p:spPr>
        <p:txBody>
          <a:bodyPr/>
          <a:lstStyle/>
          <a:p>
            <a:endParaRPr lang="en-IN"/>
          </a:p>
        </p:txBody>
      </p:sp>
      <p:sp>
        <p:nvSpPr>
          <p:cNvPr id="8" name="Shape 6"/>
          <p:cNvSpPr/>
          <p:nvPr/>
        </p:nvSpPr>
        <p:spPr>
          <a:xfrm>
            <a:off x="1188720" y="3154680"/>
            <a:ext cx="502920" cy="502920"/>
          </a:xfrm>
          <a:prstGeom prst="ellipse">
            <a:avLst/>
          </a:prstGeom>
          <a:solidFill>
            <a:srgbClr val="B8912F"/>
          </a:solidFill>
          <a:ln/>
        </p:spPr>
        <p:txBody>
          <a:bodyPr/>
          <a:lstStyle/>
          <a:p>
            <a:endParaRPr lang="en-IN"/>
          </a:p>
        </p:txBody>
      </p:sp>
      <p:sp>
        <p:nvSpPr>
          <p:cNvPr id="9" name="Text 7"/>
          <p:cNvSpPr txBox="1"/>
          <p:nvPr/>
        </p:nvSpPr>
        <p:spPr>
          <a:xfrm>
            <a:off x="1188720" y="315468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1</a:t>
            </a:r>
            <a:endParaRPr lang="en-US" sz="2000" dirty="0">
              <a:solidFill>
                <a:schemeClr val="bg1"/>
              </a:solidFill>
            </a:endParaRPr>
          </a:p>
        </p:txBody>
      </p:sp>
      <p:sp>
        <p:nvSpPr>
          <p:cNvPr id="10" name="Text 8"/>
          <p:cNvSpPr txBox="1"/>
          <p:nvPr/>
        </p:nvSpPr>
        <p:spPr>
          <a:xfrm>
            <a:off x="1874520" y="3172968"/>
            <a:ext cx="3931920" cy="45720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rPr>
              <a:t>Stage 1 — High Growth</a:t>
            </a:r>
          </a:p>
        </p:txBody>
      </p:sp>
      <p:sp>
        <p:nvSpPr>
          <p:cNvPr id="11" name="Text 9"/>
          <p:cNvSpPr txBox="1"/>
          <p:nvPr/>
        </p:nvSpPr>
        <p:spPr>
          <a:xfrm>
            <a:off x="1188720" y="3840480"/>
            <a:ext cx="4572000" cy="1097280"/>
          </a:xfrm>
          <a:prstGeom prst="rect">
            <a:avLst/>
          </a:prstGeom>
          <a:noFill/>
          <a:ln/>
        </p:spPr>
        <p:txBody>
          <a:bodyPr wrap="square" lIns="0" tIns="0" rIns="0" bIns="0" rtlCol="0" anchor="ctr"/>
          <a:lstStyle/>
          <a:p>
            <a:pPr marL="0" indent="0">
              <a:buNone/>
            </a:pPr>
            <a:r>
              <a:rPr lang="en-US" sz="1600" dirty="0">
                <a:solidFill>
                  <a:schemeClr val="accent2"/>
                </a:solidFill>
                <a:latin typeface="Calibri" pitchFamily="34" charset="0"/>
                <a:ea typeface="Calibri" pitchFamily="34" charset="-122"/>
                <a:cs typeface="Calibri" pitchFamily="34" charset="-120"/>
              </a:rPr>
              <a:t>Dividends grow fast at g₁ for a defined number of years (n).</a:t>
            </a:r>
            <a:endParaRPr lang="en-US" sz="1600" dirty="0">
              <a:solidFill>
                <a:schemeClr val="accent2"/>
              </a:solidFill>
            </a:endParaRPr>
          </a:p>
        </p:txBody>
      </p:sp>
      <p:sp>
        <p:nvSpPr>
          <p:cNvPr id="12" name="Shape 10"/>
          <p:cNvSpPr/>
          <p:nvPr/>
        </p:nvSpPr>
        <p:spPr>
          <a:xfrm>
            <a:off x="6309360" y="2880360"/>
            <a:ext cx="5120640" cy="2286000"/>
          </a:xfrm>
          <a:prstGeom prst="roundRect">
            <a:avLst>
              <a:gd name="adj" fmla="val 2800"/>
            </a:avLst>
          </a:prstGeom>
          <a:solidFill>
            <a:srgbClr val="EEF3FD"/>
          </a:solidFill>
          <a:ln/>
        </p:spPr>
        <p:txBody>
          <a:bodyPr/>
          <a:lstStyle/>
          <a:p>
            <a:endParaRPr lang="en-IN"/>
          </a:p>
        </p:txBody>
      </p:sp>
      <p:sp>
        <p:nvSpPr>
          <p:cNvPr id="13" name="Shape 11"/>
          <p:cNvSpPr/>
          <p:nvPr/>
        </p:nvSpPr>
        <p:spPr>
          <a:xfrm>
            <a:off x="6583680" y="3154680"/>
            <a:ext cx="502920" cy="502920"/>
          </a:xfrm>
          <a:prstGeom prst="ellipse">
            <a:avLst/>
          </a:prstGeom>
          <a:solidFill>
            <a:srgbClr val="B8912F"/>
          </a:solidFill>
          <a:ln/>
        </p:spPr>
        <p:txBody>
          <a:bodyPr/>
          <a:lstStyle/>
          <a:p>
            <a:endParaRPr lang="en-IN"/>
          </a:p>
        </p:txBody>
      </p:sp>
      <p:sp>
        <p:nvSpPr>
          <p:cNvPr id="14" name="Text 12"/>
          <p:cNvSpPr txBox="1"/>
          <p:nvPr/>
        </p:nvSpPr>
        <p:spPr>
          <a:xfrm>
            <a:off x="6583680" y="315468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2</a:t>
            </a:r>
            <a:endParaRPr lang="en-US" sz="2000" dirty="0">
              <a:solidFill>
                <a:schemeClr val="bg1"/>
              </a:solidFill>
            </a:endParaRPr>
          </a:p>
        </p:txBody>
      </p:sp>
      <p:sp>
        <p:nvSpPr>
          <p:cNvPr id="15" name="Text 13"/>
          <p:cNvSpPr txBox="1"/>
          <p:nvPr/>
        </p:nvSpPr>
        <p:spPr>
          <a:xfrm>
            <a:off x="7269480" y="3172968"/>
            <a:ext cx="3931920" cy="45720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Stage 2 — Stable Growth</a:t>
            </a:r>
            <a:endParaRPr lang="en-US" dirty="0"/>
          </a:p>
        </p:txBody>
      </p:sp>
      <p:sp>
        <p:nvSpPr>
          <p:cNvPr id="16" name="Text 14"/>
          <p:cNvSpPr txBox="1"/>
          <p:nvPr/>
        </p:nvSpPr>
        <p:spPr>
          <a:xfrm>
            <a:off x="6583680" y="3840480"/>
            <a:ext cx="4572000" cy="1097280"/>
          </a:xfrm>
          <a:prstGeom prst="rect">
            <a:avLst/>
          </a:prstGeom>
          <a:noFill/>
          <a:ln/>
        </p:spPr>
        <p:txBody>
          <a:bodyPr wrap="square" lIns="0" tIns="0" rIns="0" bIns="0" rtlCol="0" anchor="ctr"/>
          <a:lstStyle/>
          <a:p>
            <a:pPr marL="0" indent="0">
              <a:buNone/>
            </a:pPr>
            <a:r>
              <a:rPr lang="en-US" sz="1600" dirty="0">
                <a:solidFill>
                  <a:schemeClr val="accent2"/>
                </a:solidFill>
                <a:latin typeface="Calibri" pitchFamily="34" charset="0"/>
                <a:ea typeface="Calibri" pitchFamily="34" charset="-122"/>
                <a:cs typeface="Calibri" pitchFamily="34" charset="-120"/>
              </a:rPr>
              <a:t>Growth settles to a sustainable long-run rate g₂ forever after.</a:t>
            </a:r>
            <a:endParaRPr lang="en-US" sz="1600" dirty="0">
              <a:solidFill>
                <a:schemeClr val="accent2"/>
              </a:solidFill>
            </a:endParaRPr>
          </a:p>
        </p:txBody>
      </p:sp>
      <p:sp>
        <p:nvSpPr>
          <p:cNvPr id="17" name="Text 15"/>
          <p:cNvSpPr txBox="1"/>
          <p:nvPr/>
        </p:nvSpPr>
        <p:spPr>
          <a:xfrm>
            <a:off x="914400" y="5394960"/>
            <a:ext cx="10332720" cy="457200"/>
          </a:xfrm>
          <a:prstGeom prst="rect">
            <a:avLst/>
          </a:prstGeom>
          <a:noFill/>
          <a:ln/>
        </p:spPr>
        <p:txBody>
          <a:bodyPr wrap="square" lIns="0" tIns="0" rIns="0" bIns="0" rtlCol="0" anchor="ctr"/>
          <a:lstStyle/>
          <a:p>
            <a:pPr marL="0" indent="0" algn="ctr">
              <a:buNone/>
            </a:pPr>
            <a:r>
              <a:rPr lang="en-US" sz="1600" i="1" dirty="0">
                <a:solidFill>
                  <a:schemeClr val="accent2"/>
                </a:solidFill>
                <a:latin typeface="Calibri" pitchFamily="34" charset="0"/>
                <a:ea typeface="Calibri" pitchFamily="34" charset="-122"/>
                <a:cs typeface="Calibri" pitchFamily="34" charset="-120"/>
              </a:rPr>
              <a:t>Common for Indian IT / consumer companies expected to out-grow the economy for a few years before maturing.</a:t>
            </a:r>
            <a:endParaRPr lang="en-US" sz="1600" dirty="0">
              <a:solidFill>
                <a:schemeClr val="accent2"/>
              </a:solidFill>
            </a:endParaRPr>
          </a:p>
        </p:txBody>
      </p:sp>
      <p:sp>
        <p:nvSpPr>
          <p:cNvPr id="18" name="Text 1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19" name="Text 17"/>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EQUITY</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Two-Stage Growth Stock: Example</a:t>
            </a:r>
            <a:endParaRPr lang="en-US" sz="3000" dirty="0"/>
          </a:p>
        </p:txBody>
      </p:sp>
      <p:sp>
        <p:nvSpPr>
          <p:cNvPr id="4" name="Shape 2"/>
          <p:cNvSpPr/>
          <p:nvPr/>
        </p:nvSpPr>
        <p:spPr>
          <a:xfrm>
            <a:off x="548640" y="1371600"/>
            <a:ext cx="11064240" cy="685800"/>
          </a:xfrm>
          <a:prstGeom prst="roundRect">
            <a:avLst>
              <a:gd name="adj" fmla="val 8000"/>
            </a:avLst>
          </a:prstGeom>
          <a:solidFill>
            <a:srgbClr val="EEF3FD"/>
          </a:solidFill>
          <a:ln/>
        </p:spPr>
        <p:txBody>
          <a:bodyPr/>
          <a:lstStyle/>
          <a:p>
            <a:endParaRPr lang="en-IN"/>
          </a:p>
        </p:txBody>
      </p:sp>
      <p:sp>
        <p:nvSpPr>
          <p:cNvPr id="5" name="Text 3"/>
          <p:cNvSpPr txBox="1"/>
          <p:nvPr/>
        </p:nvSpPr>
        <p:spPr>
          <a:xfrm>
            <a:off x="777240" y="1371600"/>
            <a:ext cx="10607040" cy="685800"/>
          </a:xfrm>
          <a:prstGeom prst="rect">
            <a:avLst/>
          </a:prstGeom>
          <a:noFill/>
          <a:ln/>
        </p:spPr>
        <p:txBody>
          <a:bodyPr wrap="square" lIns="0" tIns="0" rIns="0" bIns="0" rtlCol="0" anchor="ctr"/>
          <a:lstStyle/>
          <a:p>
            <a:pPr marL="0" indent="0">
              <a:buNone/>
            </a:pPr>
            <a:r>
              <a:rPr lang="en-US" sz="1250" dirty="0">
                <a:solidFill>
                  <a:srgbClr val="1E2761"/>
                </a:solidFill>
                <a:latin typeface="Calibri" pitchFamily="34" charset="0"/>
                <a:ea typeface="Calibri" pitchFamily="34" charset="-122"/>
                <a:cs typeface="Calibri" pitchFamily="34" charset="-120"/>
              </a:rPr>
              <a:t>Given:  D₀ = ₹20   ·   High growth g₁ = 15% for 3 yrs   ·   Stable growth g₂ = 6% thereafter   ·   Required return r = 13%</a:t>
            </a:r>
            <a:endParaRPr lang="en-US" sz="1250" dirty="0"/>
          </a:p>
        </p:txBody>
      </p:sp>
      <p:sp>
        <p:nvSpPr>
          <p:cNvPr id="6" name="Shape 4"/>
          <p:cNvSpPr/>
          <p:nvPr/>
        </p:nvSpPr>
        <p:spPr>
          <a:xfrm>
            <a:off x="548640" y="2240280"/>
            <a:ext cx="2697480" cy="3017520"/>
          </a:xfrm>
          <a:prstGeom prst="roundRect">
            <a:avLst>
              <a:gd name="adj" fmla="val 2034"/>
            </a:avLst>
          </a:prstGeom>
          <a:solidFill>
            <a:srgbClr val="EEF3FD"/>
          </a:solidFill>
          <a:ln/>
        </p:spPr>
        <p:txBody>
          <a:bodyPr/>
          <a:lstStyle/>
          <a:p>
            <a:endParaRPr lang="en-IN"/>
          </a:p>
        </p:txBody>
      </p:sp>
      <p:sp>
        <p:nvSpPr>
          <p:cNvPr id="7" name="Shape 5"/>
          <p:cNvSpPr/>
          <p:nvPr/>
        </p:nvSpPr>
        <p:spPr>
          <a:xfrm>
            <a:off x="713232" y="2404872"/>
            <a:ext cx="384048" cy="384048"/>
          </a:xfrm>
          <a:prstGeom prst="ellipse">
            <a:avLst/>
          </a:prstGeom>
          <a:solidFill>
            <a:srgbClr val="1E2761"/>
          </a:solidFill>
          <a:ln/>
        </p:spPr>
        <p:txBody>
          <a:bodyPr/>
          <a:lstStyle/>
          <a:p>
            <a:endParaRPr lang="en-IN"/>
          </a:p>
        </p:txBody>
      </p:sp>
      <p:sp>
        <p:nvSpPr>
          <p:cNvPr id="8" name="Text 6"/>
          <p:cNvSpPr txBox="1"/>
          <p:nvPr/>
        </p:nvSpPr>
        <p:spPr>
          <a:xfrm>
            <a:off x="713232" y="2404872"/>
            <a:ext cx="384048" cy="384048"/>
          </a:xfrm>
          <a:prstGeom prst="rect">
            <a:avLst/>
          </a:prstGeom>
          <a:noFill/>
          <a:ln/>
        </p:spPr>
        <p:txBody>
          <a:bodyPr wrap="square" lIns="0" tIns="0" rIns="0" bIns="0" rtlCol="0" anchor="ctr"/>
          <a:lstStyle/>
          <a:p>
            <a:pPr algn="ctr"/>
            <a:r>
              <a:rPr lang="en-US" b="1" dirty="0">
                <a:solidFill>
                  <a:schemeClr val="bg1"/>
                </a:solidFill>
                <a:latin typeface="Calibri" pitchFamily="34" charset="0"/>
                <a:ea typeface="Calibri" pitchFamily="34" charset="-122"/>
                <a:cs typeface="Calibri" pitchFamily="34" charset="-120"/>
              </a:rPr>
              <a:t>1</a:t>
            </a:r>
          </a:p>
        </p:txBody>
      </p:sp>
      <p:sp>
        <p:nvSpPr>
          <p:cNvPr id="9" name="Text 7"/>
          <p:cNvSpPr txBox="1"/>
          <p:nvPr/>
        </p:nvSpPr>
        <p:spPr>
          <a:xfrm>
            <a:off x="713232" y="2898648"/>
            <a:ext cx="2368296" cy="5029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Forecast high-growth dividends</a:t>
            </a:r>
            <a:endParaRPr lang="en-US" dirty="0"/>
          </a:p>
        </p:txBody>
      </p:sp>
      <p:sp>
        <p:nvSpPr>
          <p:cNvPr id="10" name="Text 8"/>
          <p:cNvSpPr txBox="1"/>
          <p:nvPr/>
        </p:nvSpPr>
        <p:spPr>
          <a:xfrm>
            <a:off x="71323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D₁ = 20×1.15 = ₹23.00</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D₂ = 23×1.15 = ₹26.45</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D₃ = 26.45×1.15 = ₹30.42</a:t>
            </a:r>
            <a:endParaRPr lang="en-US" sz="1600" dirty="0"/>
          </a:p>
        </p:txBody>
      </p:sp>
      <p:sp>
        <p:nvSpPr>
          <p:cNvPr id="11" name="Shape 9"/>
          <p:cNvSpPr/>
          <p:nvPr/>
        </p:nvSpPr>
        <p:spPr>
          <a:xfrm>
            <a:off x="3383280" y="2240280"/>
            <a:ext cx="2697480" cy="3017520"/>
          </a:xfrm>
          <a:prstGeom prst="roundRect">
            <a:avLst>
              <a:gd name="adj" fmla="val 2034"/>
            </a:avLst>
          </a:prstGeom>
          <a:solidFill>
            <a:srgbClr val="EEF3FD"/>
          </a:solidFill>
          <a:ln/>
        </p:spPr>
        <p:txBody>
          <a:bodyPr/>
          <a:lstStyle/>
          <a:p>
            <a:endParaRPr lang="en-IN"/>
          </a:p>
        </p:txBody>
      </p:sp>
      <p:sp>
        <p:nvSpPr>
          <p:cNvPr id="12" name="Shape 10"/>
          <p:cNvSpPr/>
          <p:nvPr/>
        </p:nvSpPr>
        <p:spPr>
          <a:xfrm>
            <a:off x="3547872" y="2404872"/>
            <a:ext cx="384048" cy="384048"/>
          </a:xfrm>
          <a:prstGeom prst="ellipse">
            <a:avLst/>
          </a:prstGeom>
          <a:solidFill>
            <a:srgbClr val="1E2761"/>
          </a:solidFill>
          <a:ln/>
        </p:spPr>
        <p:txBody>
          <a:bodyPr/>
          <a:lstStyle/>
          <a:p>
            <a:endParaRPr lang="en-IN"/>
          </a:p>
        </p:txBody>
      </p:sp>
      <p:sp>
        <p:nvSpPr>
          <p:cNvPr id="13" name="Text 11"/>
          <p:cNvSpPr txBox="1"/>
          <p:nvPr/>
        </p:nvSpPr>
        <p:spPr>
          <a:xfrm>
            <a:off x="3547872" y="2404872"/>
            <a:ext cx="384048" cy="384048"/>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2</a:t>
            </a:r>
            <a:endParaRPr lang="en-US" dirty="0">
              <a:solidFill>
                <a:schemeClr val="bg1"/>
              </a:solidFill>
            </a:endParaRPr>
          </a:p>
        </p:txBody>
      </p:sp>
      <p:sp>
        <p:nvSpPr>
          <p:cNvPr id="14" name="Text 12"/>
          <p:cNvSpPr txBox="1"/>
          <p:nvPr/>
        </p:nvSpPr>
        <p:spPr>
          <a:xfrm>
            <a:off x="3547872" y="2898648"/>
            <a:ext cx="2368296" cy="5029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PV of high-growth dividends @13%</a:t>
            </a:r>
            <a:endParaRPr lang="en-US" dirty="0"/>
          </a:p>
        </p:txBody>
      </p:sp>
      <p:sp>
        <p:nvSpPr>
          <p:cNvPr id="15" name="Text 13"/>
          <p:cNvSpPr txBox="1"/>
          <p:nvPr/>
        </p:nvSpPr>
        <p:spPr>
          <a:xfrm>
            <a:off x="354787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PV(D₁)=20.35  PV(D₂)=20.72  PV(D₃)=21.08</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Sum = ₹62.15</a:t>
            </a:r>
            <a:endParaRPr lang="en-US" sz="1600" dirty="0"/>
          </a:p>
        </p:txBody>
      </p:sp>
      <p:sp>
        <p:nvSpPr>
          <p:cNvPr id="16" name="Shape 14"/>
          <p:cNvSpPr/>
          <p:nvPr/>
        </p:nvSpPr>
        <p:spPr>
          <a:xfrm>
            <a:off x="6217920" y="2240280"/>
            <a:ext cx="2697480" cy="3017520"/>
          </a:xfrm>
          <a:prstGeom prst="roundRect">
            <a:avLst>
              <a:gd name="adj" fmla="val 2034"/>
            </a:avLst>
          </a:prstGeom>
          <a:solidFill>
            <a:srgbClr val="EEF3FD"/>
          </a:solidFill>
          <a:ln/>
        </p:spPr>
        <p:txBody>
          <a:bodyPr/>
          <a:lstStyle/>
          <a:p>
            <a:endParaRPr lang="en-IN"/>
          </a:p>
        </p:txBody>
      </p:sp>
      <p:sp>
        <p:nvSpPr>
          <p:cNvPr id="17" name="Shape 15"/>
          <p:cNvSpPr/>
          <p:nvPr/>
        </p:nvSpPr>
        <p:spPr>
          <a:xfrm>
            <a:off x="6382512" y="2404872"/>
            <a:ext cx="384048" cy="384048"/>
          </a:xfrm>
          <a:prstGeom prst="ellipse">
            <a:avLst/>
          </a:prstGeom>
          <a:solidFill>
            <a:srgbClr val="1E2761"/>
          </a:solidFill>
          <a:ln/>
        </p:spPr>
        <p:txBody>
          <a:bodyPr/>
          <a:lstStyle/>
          <a:p>
            <a:endParaRPr lang="en-IN"/>
          </a:p>
        </p:txBody>
      </p:sp>
      <p:sp>
        <p:nvSpPr>
          <p:cNvPr id="18" name="Text 16"/>
          <p:cNvSpPr txBox="1"/>
          <p:nvPr/>
        </p:nvSpPr>
        <p:spPr>
          <a:xfrm>
            <a:off x="6382512" y="2404872"/>
            <a:ext cx="384048" cy="384048"/>
          </a:xfrm>
          <a:prstGeom prst="rect">
            <a:avLst/>
          </a:prstGeom>
          <a:noFill/>
          <a:ln/>
        </p:spPr>
        <p:txBody>
          <a:bodyPr wrap="square" lIns="0" tIns="0" rIns="0" bIns="0" rtlCol="0" anchor="ctr"/>
          <a:lstStyle/>
          <a:p>
            <a:pPr indent="0" algn="ctr">
              <a:buNone/>
            </a:pPr>
            <a:r>
              <a:rPr lang="en-US" b="1" dirty="0">
                <a:solidFill>
                  <a:schemeClr val="bg1"/>
                </a:solidFill>
                <a:latin typeface="Calibri" pitchFamily="34" charset="0"/>
                <a:ea typeface="Calibri" pitchFamily="34" charset="-122"/>
                <a:cs typeface="Calibri" pitchFamily="34" charset="-120"/>
              </a:rPr>
              <a:t>3</a:t>
            </a:r>
          </a:p>
        </p:txBody>
      </p:sp>
      <p:sp>
        <p:nvSpPr>
          <p:cNvPr id="19" name="Text 17"/>
          <p:cNvSpPr txBox="1"/>
          <p:nvPr/>
        </p:nvSpPr>
        <p:spPr>
          <a:xfrm>
            <a:off x="6382512" y="2898648"/>
            <a:ext cx="2368296" cy="5029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Terminal price at end of Yr 3</a:t>
            </a:r>
            <a:endParaRPr lang="en-US" dirty="0"/>
          </a:p>
        </p:txBody>
      </p:sp>
      <p:sp>
        <p:nvSpPr>
          <p:cNvPr id="20" name="Text 18"/>
          <p:cNvSpPr txBox="1"/>
          <p:nvPr/>
        </p:nvSpPr>
        <p:spPr>
          <a:xfrm>
            <a:off x="638251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D₄ = 30.42×1.06 = ₹32.24</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P₃ = 32.24/(0.13−0.06) = ₹460.61</a:t>
            </a:r>
            <a:endParaRPr lang="en-US" sz="1600" dirty="0"/>
          </a:p>
        </p:txBody>
      </p:sp>
      <p:sp>
        <p:nvSpPr>
          <p:cNvPr id="21" name="Shape 19"/>
          <p:cNvSpPr/>
          <p:nvPr/>
        </p:nvSpPr>
        <p:spPr>
          <a:xfrm>
            <a:off x="9052560" y="2240280"/>
            <a:ext cx="2697480" cy="3017520"/>
          </a:xfrm>
          <a:prstGeom prst="roundRect">
            <a:avLst>
              <a:gd name="adj" fmla="val 2034"/>
            </a:avLst>
          </a:prstGeom>
          <a:solidFill>
            <a:srgbClr val="F1E4BE"/>
          </a:solidFill>
          <a:ln/>
        </p:spPr>
        <p:txBody>
          <a:bodyPr/>
          <a:lstStyle/>
          <a:p>
            <a:endParaRPr lang="en-IN"/>
          </a:p>
        </p:txBody>
      </p:sp>
      <p:sp>
        <p:nvSpPr>
          <p:cNvPr id="22" name="Shape 20"/>
          <p:cNvSpPr/>
          <p:nvPr/>
        </p:nvSpPr>
        <p:spPr>
          <a:xfrm>
            <a:off x="9217152" y="2404872"/>
            <a:ext cx="384048" cy="384048"/>
          </a:xfrm>
          <a:prstGeom prst="ellipse">
            <a:avLst/>
          </a:prstGeom>
          <a:solidFill>
            <a:srgbClr val="B8912F"/>
          </a:solidFill>
          <a:ln/>
        </p:spPr>
        <p:txBody>
          <a:bodyPr/>
          <a:lstStyle/>
          <a:p>
            <a:endParaRPr lang="en-IN"/>
          </a:p>
        </p:txBody>
      </p:sp>
      <p:sp>
        <p:nvSpPr>
          <p:cNvPr id="23" name="Text 21"/>
          <p:cNvSpPr txBox="1"/>
          <p:nvPr/>
        </p:nvSpPr>
        <p:spPr>
          <a:xfrm>
            <a:off x="9217152" y="2404872"/>
            <a:ext cx="384048" cy="384048"/>
          </a:xfrm>
          <a:prstGeom prst="rect">
            <a:avLst/>
          </a:prstGeom>
          <a:noFill/>
          <a:ln/>
        </p:spPr>
        <p:txBody>
          <a:bodyPr wrap="square" lIns="0" tIns="0" rIns="0" bIns="0" rtlCol="0" anchor="ctr"/>
          <a:lstStyle/>
          <a:p>
            <a:pPr algn="ctr"/>
            <a:r>
              <a:rPr lang="en-US" b="1" dirty="0">
                <a:solidFill>
                  <a:schemeClr val="bg1"/>
                </a:solidFill>
                <a:latin typeface="Calibri" pitchFamily="34" charset="0"/>
                <a:ea typeface="Calibri" pitchFamily="34" charset="-122"/>
                <a:cs typeface="Calibri" pitchFamily="34" charset="-120"/>
              </a:rPr>
              <a:t>4</a:t>
            </a:r>
          </a:p>
        </p:txBody>
      </p:sp>
      <p:sp>
        <p:nvSpPr>
          <p:cNvPr id="24" name="Text 22"/>
          <p:cNvSpPr txBox="1"/>
          <p:nvPr/>
        </p:nvSpPr>
        <p:spPr>
          <a:xfrm>
            <a:off x="9217152" y="2898648"/>
            <a:ext cx="2368296" cy="5029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PV of terminal price + total</a:t>
            </a:r>
            <a:endParaRPr lang="en-US" dirty="0"/>
          </a:p>
        </p:txBody>
      </p:sp>
      <p:sp>
        <p:nvSpPr>
          <p:cNvPr id="25" name="Text 23"/>
          <p:cNvSpPr txBox="1"/>
          <p:nvPr/>
        </p:nvSpPr>
        <p:spPr>
          <a:xfrm>
            <a:off x="921715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PV(P₃) = 460.61/1.13³ = ₹319.22</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P₀ = 62.15 + 319.22</a:t>
            </a:r>
            <a:endParaRPr lang="en-US" sz="1600" dirty="0"/>
          </a:p>
        </p:txBody>
      </p:sp>
      <p:sp>
        <p:nvSpPr>
          <p:cNvPr id="26" name="Shape 24"/>
          <p:cNvSpPr/>
          <p:nvPr/>
        </p:nvSpPr>
        <p:spPr>
          <a:xfrm>
            <a:off x="548640" y="5440680"/>
            <a:ext cx="11064240" cy="685800"/>
          </a:xfrm>
          <a:prstGeom prst="roundRect">
            <a:avLst>
              <a:gd name="adj" fmla="val 8000"/>
            </a:avLst>
          </a:prstGeom>
          <a:solidFill>
            <a:srgbClr val="1E2761"/>
          </a:solidFill>
          <a:ln/>
        </p:spPr>
        <p:txBody>
          <a:bodyPr/>
          <a:lstStyle/>
          <a:p>
            <a:endParaRPr lang="en-IN"/>
          </a:p>
        </p:txBody>
      </p:sp>
      <p:sp>
        <p:nvSpPr>
          <p:cNvPr id="27" name="Text 25"/>
          <p:cNvSpPr txBox="1"/>
          <p:nvPr/>
        </p:nvSpPr>
        <p:spPr>
          <a:xfrm>
            <a:off x="777240" y="5440680"/>
            <a:ext cx="10607040" cy="685800"/>
          </a:xfrm>
          <a:prstGeom prst="rect">
            <a:avLst/>
          </a:prstGeom>
          <a:noFill/>
          <a:ln/>
        </p:spPr>
        <p:txBody>
          <a:bodyPr wrap="square" lIns="0" tIns="0" rIns="0" bIns="0" rtlCol="0" anchor="ctr"/>
          <a:lstStyle/>
          <a:p>
            <a:pPr marL="0" indent="0" algn="ctr">
              <a:buNone/>
            </a:pPr>
            <a:r>
              <a:rPr lang="en-US" b="1" dirty="0">
                <a:solidFill>
                  <a:schemeClr val="bg1"/>
                </a:solidFill>
                <a:latin typeface="Cambria" pitchFamily="34" charset="0"/>
                <a:ea typeface="Cambria" pitchFamily="34" charset="-122"/>
                <a:cs typeface="Cambria" pitchFamily="34" charset="-120"/>
              </a:rPr>
              <a:t>P₀  =  ₹62.15  +  ₹319.22  =  ₹381.37 per share</a:t>
            </a:r>
            <a:endParaRPr lang="en-US" dirty="0">
              <a:solidFill>
                <a:schemeClr val="bg1"/>
              </a:solidFill>
            </a:endParaRPr>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9" name="Text 27"/>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r>
              <a:rPr lang="en-US" b="1" kern="0" spc="200" dirty="0">
                <a:solidFill>
                  <a:schemeClr val="accent2"/>
                </a:solidFill>
                <a:latin typeface="Calibri" pitchFamily="34" charset="0"/>
                <a:ea typeface="Calibri" pitchFamily="34" charset="-122"/>
                <a:cs typeface="Calibri" pitchFamily="34" charset="-120"/>
              </a:rPr>
              <a:t>EQUITY</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Two-Stage Growth Stock: Example</a:t>
            </a:r>
            <a:endParaRPr lang="en-US" sz="3000" dirty="0"/>
          </a:p>
        </p:txBody>
      </p:sp>
      <p:sp>
        <p:nvSpPr>
          <p:cNvPr id="4" name="Shape 2"/>
          <p:cNvSpPr/>
          <p:nvPr/>
        </p:nvSpPr>
        <p:spPr>
          <a:xfrm>
            <a:off x="548640" y="1371600"/>
            <a:ext cx="11064240" cy="685800"/>
          </a:xfrm>
          <a:prstGeom prst="roundRect">
            <a:avLst>
              <a:gd name="adj" fmla="val 8000"/>
            </a:avLst>
          </a:prstGeom>
          <a:solidFill>
            <a:srgbClr val="EEF3FD"/>
          </a:solidFill>
          <a:ln/>
        </p:spPr>
        <p:txBody>
          <a:bodyPr/>
          <a:lstStyle/>
          <a:p>
            <a:endParaRPr lang="en-IN"/>
          </a:p>
        </p:txBody>
      </p:sp>
      <p:sp>
        <p:nvSpPr>
          <p:cNvPr id="5" name="Text 3"/>
          <p:cNvSpPr txBox="1"/>
          <p:nvPr/>
        </p:nvSpPr>
        <p:spPr>
          <a:xfrm>
            <a:off x="777240" y="1371600"/>
            <a:ext cx="10607040" cy="685800"/>
          </a:xfrm>
          <a:prstGeom prst="rect">
            <a:avLst/>
          </a:prstGeom>
          <a:noFill/>
          <a:ln/>
        </p:spPr>
        <p:txBody>
          <a:bodyPr wrap="square" lIns="0" tIns="0" rIns="0" bIns="0" rtlCol="0" anchor="ctr"/>
          <a:lstStyle/>
          <a:p>
            <a:pPr marL="0" indent="0">
              <a:buNone/>
            </a:pPr>
            <a:r>
              <a:rPr lang="en-US" dirty="0">
                <a:solidFill>
                  <a:srgbClr val="1E2761"/>
                </a:solidFill>
                <a:latin typeface="Calibri" pitchFamily="34" charset="0"/>
                <a:ea typeface="Calibri" pitchFamily="34" charset="-122"/>
                <a:cs typeface="Calibri" pitchFamily="34" charset="-120"/>
              </a:rPr>
              <a:t>Given:  D₀ = ₹8   ·   High growth g₁ = 20% for 2 yrs   ·   Stable growth g₂ = 7% thereafter   ·   Required return r = 15%</a:t>
            </a:r>
            <a:endParaRPr lang="en-US" dirty="0"/>
          </a:p>
        </p:txBody>
      </p:sp>
      <p:sp>
        <p:nvSpPr>
          <p:cNvPr id="6" name="Shape 4"/>
          <p:cNvSpPr/>
          <p:nvPr/>
        </p:nvSpPr>
        <p:spPr>
          <a:xfrm>
            <a:off x="548640" y="2240280"/>
            <a:ext cx="2697480" cy="3017520"/>
          </a:xfrm>
          <a:prstGeom prst="roundRect">
            <a:avLst>
              <a:gd name="adj" fmla="val 2034"/>
            </a:avLst>
          </a:prstGeom>
          <a:solidFill>
            <a:srgbClr val="EEF3FD"/>
          </a:solidFill>
          <a:ln/>
        </p:spPr>
        <p:txBody>
          <a:bodyPr/>
          <a:lstStyle/>
          <a:p>
            <a:endParaRPr lang="en-IN"/>
          </a:p>
        </p:txBody>
      </p:sp>
      <p:sp>
        <p:nvSpPr>
          <p:cNvPr id="7" name="Shape 5"/>
          <p:cNvSpPr/>
          <p:nvPr/>
        </p:nvSpPr>
        <p:spPr>
          <a:xfrm>
            <a:off x="713232" y="2404872"/>
            <a:ext cx="384048" cy="384048"/>
          </a:xfrm>
          <a:prstGeom prst="ellipse">
            <a:avLst/>
          </a:prstGeom>
          <a:solidFill>
            <a:srgbClr val="1E2761"/>
          </a:solidFill>
          <a:ln/>
        </p:spPr>
        <p:txBody>
          <a:bodyPr/>
          <a:lstStyle/>
          <a:p>
            <a:endParaRPr lang="en-IN"/>
          </a:p>
        </p:txBody>
      </p:sp>
      <p:sp>
        <p:nvSpPr>
          <p:cNvPr id="8" name="Text 6"/>
          <p:cNvSpPr txBox="1"/>
          <p:nvPr/>
        </p:nvSpPr>
        <p:spPr>
          <a:xfrm>
            <a:off x="713232" y="2404872"/>
            <a:ext cx="384048" cy="384048"/>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1</a:t>
            </a:r>
            <a:endParaRPr lang="en-US" dirty="0">
              <a:solidFill>
                <a:schemeClr val="bg1"/>
              </a:solidFill>
            </a:endParaRPr>
          </a:p>
        </p:txBody>
      </p:sp>
      <p:sp>
        <p:nvSpPr>
          <p:cNvPr id="9" name="Text 7"/>
          <p:cNvSpPr txBox="1"/>
          <p:nvPr/>
        </p:nvSpPr>
        <p:spPr>
          <a:xfrm>
            <a:off x="713232" y="2898648"/>
            <a:ext cx="2368296" cy="5029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Forecast high-growth dividends</a:t>
            </a:r>
            <a:endParaRPr lang="en-US" dirty="0"/>
          </a:p>
        </p:txBody>
      </p:sp>
      <p:sp>
        <p:nvSpPr>
          <p:cNvPr id="10" name="Text 8"/>
          <p:cNvSpPr txBox="1"/>
          <p:nvPr/>
        </p:nvSpPr>
        <p:spPr>
          <a:xfrm>
            <a:off x="71323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D₁ = 8×1.20 = ₹9.60</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D₂ = 9.60×1.20 = ₹11.52</a:t>
            </a:r>
            <a:endParaRPr lang="en-US" sz="1600" dirty="0"/>
          </a:p>
        </p:txBody>
      </p:sp>
      <p:sp>
        <p:nvSpPr>
          <p:cNvPr id="11" name="Shape 9"/>
          <p:cNvSpPr/>
          <p:nvPr/>
        </p:nvSpPr>
        <p:spPr>
          <a:xfrm>
            <a:off x="3383280" y="2240280"/>
            <a:ext cx="2697480" cy="3017520"/>
          </a:xfrm>
          <a:prstGeom prst="roundRect">
            <a:avLst>
              <a:gd name="adj" fmla="val 2034"/>
            </a:avLst>
          </a:prstGeom>
          <a:solidFill>
            <a:srgbClr val="EEF3FD"/>
          </a:solidFill>
          <a:ln/>
        </p:spPr>
        <p:txBody>
          <a:bodyPr/>
          <a:lstStyle/>
          <a:p>
            <a:endParaRPr lang="en-IN"/>
          </a:p>
        </p:txBody>
      </p:sp>
      <p:sp>
        <p:nvSpPr>
          <p:cNvPr id="12" name="Shape 10"/>
          <p:cNvSpPr/>
          <p:nvPr/>
        </p:nvSpPr>
        <p:spPr>
          <a:xfrm>
            <a:off x="3547872" y="2404872"/>
            <a:ext cx="384048" cy="384048"/>
          </a:xfrm>
          <a:prstGeom prst="ellipse">
            <a:avLst/>
          </a:prstGeom>
          <a:solidFill>
            <a:srgbClr val="1E2761"/>
          </a:solidFill>
          <a:ln/>
        </p:spPr>
        <p:txBody>
          <a:bodyPr/>
          <a:lstStyle/>
          <a:p>
            <a:endParaRPr lang="en-IN"/>
          </a:p>
        </p:txBody>
      </p:sp>
      <p:sp>
        <p:nvSpPr>
          <p:cNvPr id="13" name="Text 11"/>
          <p:cNvSpPr txBox="1"/>
          <p:nvPr/>
        </p:nvSpPr>
        <p:spPr>
          <a:xfrm>
            <a:off x="3547872" y="2404872"/>
            <a:ext cx="384048" cy="384048"/>
          </a:xfrm>
          <a:prstGeom prst="rect">
            <a:avLst/>
          </a:prstGeom>
          <a:noFill/>
          <a:ln/>
        </p:spPr>
        <p:txBody>
          <a:bodyPr wrap="square" lIns="0" tIns="0" rIns="0" bIns="0" rtlCol="0" anchor="ctr"/>
          <a:lstStyle/>
          <a:p>
            <a:pPr algn="ctr"/>
            <a:r>
              <a:rPr lang="en-US" b="1" dirty="0">
                <a:solidFill>
                  <a:schemeClr val="bg1"/>
                </a:solidFill>
                <a:latin typeface="Calibri" pitchFamily="34" charset="0"/>
                <a:ea typeface="Calibri" pitchFamily="34" charset="-122"/>
                <a:cs typeface="Calibri" pitchFamily="34" charset="-120"/>
              </a:rPr>
              <a:t>2</a:t>
            </a:r>
          </a:p>
        </p:txBody>
      </p:sp>
      <p:sp>
        <p:nvSpPr>
          <p:cNvPr id="14" name="Text 12"/>
          <p:cNvSpPr txBox="1"/>
          <p:nvPr/>
        </p:nvSpPr>
        <p:spPr>
          <a:xfrm>
            <a:off x="3547872" y="2898648"/>
            <a:ext cx="2368296" cy="502920"/>
          </a:xfrm>
          <a:prstGeom prst="rect">
            <a:avLst/>
          </a:prstGeom>
          <a:noFill/>
          <a:ln/>
        </p:spPr>
        <p:txBody>
          <a:bodyPr wrap="square" lIns="0" tIns="0" rIns="0" bIns="0" rtlCol="0" anchor="ctr"/>
          <a:lstStyle/>
          <a:p>
            <a:pPr marL="0" indent="0">
              <a:buNone/>
            </a:pPr>
            <a:r>
              <a:rPr lang="en-US" b="1" dirty="0">
                <a:solidFill>
                  <a:srgbClr val="1E2761"/>
                </a:solidFill>
                <a:latin typeface="Cambria" pitchFamily="34" charset="0"/>
                <a:ea typeface="Cambria" pitchFamily="34" charset="-122"/>
                <a:cs typeface="Cambria" pitchFamily="34" charset="-120"/>
              </a:rPr>
              <a:t>PV of high-growth dividends @15%</a:t>
            </a:r>
            <a:endParaRPr lang="en-US" dirty="0"/>
          </a:p>
        </p:txBody>
      </p:sp>
      <p:sp>
        <p:nvSpPr>
          <p:cNvPr id="15" name="Text 13"/>
          <p:cNvSpPr txBox="1"/>
          <p:nvPr/>
        </p:nvSpPr>
        <p:spPr>
          <a:xfrm>
            <a:off x="354787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PV(D₁) = 9.60/1.15 = ₹8.35</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PV(D₂) = 11.52/1.15² = ₹8.71</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Sum = ₹17.06</a:t>
            </a:r>
            <a:endParaRPr lang="en-US" sz="1600" dirty="0"/>
          </a:p>
        </p:txBody>
      </p:sp>
      <p:sp>
        <p:nvSpPr>
          <p:cNvPr id="16" name="Shape 14"/>
          <p:cNvSpPr/>
          <p:nvPr/>
        </p:nvSpPr>
        <p:spPr>
          <a:xfrm>
            <a:off x="6217920" y="2240280"/>
            <a:ext cx="2697480" cy="3017520"/>
          </a:xfrm>
          <a:prstGeom prst="roundRect">
            <a:avLst>
              <a:gd name="adj" fmla="val 2034"/>
            </a:avLst>
          </a:prstGeom>
          <a:solidFill>
            <a:srgbClr val="EEF3FD"/>
          </a:solidFill>
          <a:ln/>
        </p:spPr>
        <p:txBody>
          <a:bodyPr/>
          <a:lstStyle/>
          <a:p>
            <a:endParaRPr lang="en-IN"/>
          </a:p>
        </p:txBody>
      </p:sp>
      <p:sp>
        <p:nvSpPr>
          <p:cNvPr id="17" name="Shape 15"/>
          <p:cNvSpPr/>
          <p:nvPr/>
        </p:nvSpPr>
        <p:spPr>
          <a:xfrm>
            <a:off x="6382512" y="2404872"/>
            <a:ext cx="384048" cy="384048"/>
          </a:xfrm>
          <a:prstGeom prst="ellipse">
            <a:avLst/>
          </a:prstGeom>
          <a:solidFill>
            <a:srgbClr val="1E2761"/>
          </a:solidFill>
          <a:ln/>
        </p:spPr>
        <p:txBody>
          <a:bodyPr/>
          <a:lstStyle/>
          <a:p>
            <a:endParaRPr lang="en-IN"/>
          </a:p>
        </p:txBody>
      </p:sp>
      <p:sp>
        <p:nvSpPr>
          <p:cNvPr id="18" name="Text 16"/>
          <p:cNvSpPr txBox="1"/>
          <p:nvPr/>
        </p:nvSpPr>
        <p:spPr>
          <a:xfrm>
            <a:off x="6382512" y="2404872"/>
            <a:ext cx="384048" cy="384048"/>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3</a:t>
            </a:r>
            <a:endParaRPr lang="en-US" dirty="0">
              <a:solidFill>
                <a:schemeClr val="bg1"/>
              </a:solidFill>
            </a:endParaRPr>
          </a:p>
        </p:txBody>
      </p:sp>
      <p:sp>
        <p:nvSpPr>
          <p:cNvPr id="19" name="Text 17"/>
          <p:cNvSpPr txBox="1"/>
          <p:nvPr/>
        </p:nvSpPr>
        <p:spPr>
          <a:xfrm>
            <a:off x="6382512" y="2898648"/>
            <a:ext cx="2368296" cy="502920"/>
          </a:xfrm>
          <a:prstGeom prst="rect">
            <a:avLst/>
          </a:prstGeom>
          <a:noFill/>
          <a:ln/>
        </p:spPr>
        <p:txBody>
          <a:bodyPr wrap="square" lIns="0" tIns="0" rIns="0" bIns="0" rtlCol="0" anchor="ctr"/>
          <a:lstStyle/>
          <a:p>
            <a:r>
              <a:rPr lang="en-US" b="1" dirty="0">
                <a:solidFill>
                  <a:srgbClr val="1E2761"/>
                </a:solidFill>
                <a:latin typeface="Cambria" pitchFamily="34" charset="0"/>
                <a:ea typeface="Cambria" pitchFamily="34" charset="-122"/>
              </a:rPr>
              <a:t>Terminal price at end of Yr 2</a:t>
            </a:r>
          </a:p>
        </p:txBody>
      </p:sp>
      <p:sp>
        <p:nvSpPr>
          <p:cNvPr id="20" name="Text 18"/>
          <p:cNvSpPr txBox="1"/>
          <p:nvPr/>
        </p:nvSpPr>
        <p:spPr>
          <a:xfrm>
            <a:off x="638251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D₃ = 11.52×1.07 = ₹12.33</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P₂ = 12.33/(0.15−0.07) = ₹154.08</a:t>
            </a:r>
            <a:endParaRPr lang="en-US" sz="1600" dirty="0"/>
          </a:p>
        </p:txBody>
      </p:sp>
      <p:sp>
        <p:nvSpPr>
          <p:cNvPr id="21" name="Shape 19"/>
          <p:cNvSpPr/>
          <p:nvPr/>
        </p:nvSpPr>
        <p:spPr>
          <a:xfrm>
            <a:off x="9052560" y="2240280"/>
            <a:ext cx="2697480" cy="3017520"/>
          </a:xfrm>
          <a:prstGeom prst="roundRect">
            <a:avLst>
              <a:gd name="adj" fmla="val 2034"/>
            </a:avLst>
          </a:prstGeom>
          <a:solidFill>
            <a:srgbClr val="F1E4BE"/>
          </a:solidFill>
          <a:ln/>
        </p:spPr>
        <p:txBody>
          <a:bodyPr/>
          <a:lstStyle/>
          <a:p>
            <a:endParaRPr lang="en-IN"/>
          </a:p>
        </p:txBody>
      </p:sp>
      <p:sp>
        <p:nvSpPr>
          <p:cNvPr id="22" name="Shape 20"/>
          <p:cNvSpPr/>
          <p:nvPr/>
        </p:nvSpPr>
        <p:spPr>
          <a:xfrm>
            <a:off x="9217152" y="2404872"/>
            <a:ext cx="384048" cy="384048"/>
          </a:xfrm>
          <a:prstGeom prst="ellipse">
            <a:avLst/>
          </a:prstGeom>
          <a:solidFill>
            <a:srgbClr val="B8912F"/>
          </a:solidFill>
          <a:ln/>
        </p:spPr>
        <p:txBody>
          <a:bodyPr/>
          <a:lstStyle/>
          <a:p>
            <a:endParaRPr lang="en-IN"/>
          </a:p>
        </p:txBody>
      </p:sp>
      <p:sp>
        <p:nvSpPr>
          <p:cNvPr id="23" name="Text 21"/>
          <p:cNvSpPr txBox="1"/>
          <p:nvPr/>
        </p:nvSpPr>
        <p:spPr>
          <a:xfrm>
            <a:off x="9217152" y="2404872"/>
            <a:ext cx="384048" cy="384048"/>
          </a:xfrm>
          <a:prstGeom prst="rect">
            <a:avLst/>
          </a:prstGeom>
          <a:noFill/>
          <a:ln/>
        </p:spPr>
        <p:txBody>
          <a:bodyPr wrap="square" lIns="0" tIns="0" rIns="0" bIns="0" rtlCol="0" anchor="ctr"/>
          <a:lstStyle/>
          <a:p>
            <a:pPr marL="0" indent="0" algn="ctr">
              <a:buNone/>
            </a:pPr>
            <a:r>
              <a:rPr lang="en-US" b="1" dirty="0">
                <a:solidFill>
                  <a:schemeClr val="bg1"/>
                </a:solidFill>
                <a:latin typeface="Calibri" pitchFamily="34" charset="0"/>
                <a:ea typeface="Calibri" pitchFamily="34" charset="-122"/>
                <a:cs typeface="Calibri" pitchFamily="34" charset="-120"/>
              </a:rPr>
              <a:t>4</a:t>
            </a:r>
            <a:endParaRPr lang="en-US" dirty="0">
              <a:solidFill>
                <a:schemeClr val="bg1"/>
              </a:solidFill>
            </a:endParaRPr>
          </a:p>
        </p:txBody>
      </p:sp>
      <p:sp>
        <p:nvSpPr>
          <p:cNvPr id="24" name="Text 22"/>
          <p:cNvSpPr txBox="1"/>
          <p:nvPr/>
        </p:nvSpPr>
        <p:spPr>
          <a:xfrm>
            <a:off x="9217152" y="2898648"/>
            <a:ext cx="2368296" cy="502920"/>
          </a:xfrm>
          <a:prstGeom prst="rect">
            <a:avLst/>
          </a:prstGeom>
          <a:noFill/>
          <a:ln/>
        </p:spPr>
        <p:txBody>
          <a:bodyPr wrap="square" lIns="0" tIns="0" rIns="0" bIns="0" rtlCol="0" anchor="ctr"/>
          <a:lstStyle/>
          <a:p>
            <a:pPr indent="0">
              <a:buNone/>
            </a:pPr>
            <a:r>
              <a:rPr lang="en-US" b="1" dirty="0">
                <a:solidFill>
                  <a:srgbClr val="1E2761"/>
                </a:solidFill>
                <a:latin typeface="Cambria" pitchFamily="34" charset="0"/>
                <a:ea typeface="Cambria" pitchFamily="34" charset="-122"/>
              </a:rPr>
              <a:t>PV of terminal price + total</a:t>
            </a:r>
          </a:p>
        </p:txBody>
      </p:sp>
      <p:sp>
        <p:nvSpPr>
          <p:cNvPr id="25" name="Text 23"/>
          <p:cNvSpPr txBox="1"/>
          <p:nvPr/>
        </p:nvSpPr>
        <p:spPr>
          <a:xfrm>
            <a:off x="9217152" y="3447288"/>
            <a:ext cx="2368296" cy="1691640"/>
          </a:xfrm>
          <a:prstGeom prst="rect">
            <a:avLst/>
          </a:prstGeom>
          <a:noFill/>
          <a:ln/>
        </p:spPr>
        <p:txBody>
          <a:bodyPr wrap="square" lIns="0" tIns="0" rIns="0" bIns="0" rtlCol="0" anchor="ctr"/>
          <a:lstStyle/>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PV(P₂) = 154.08/1.15² = ₹116.51</a:t>
            </a:r>
            <a:endParaRPr lang="en-US" sz="1600" dirty="0"/>
          </a:p>
          <a:p>
            <a:pPr marL="0" indent="0">
              <a:lnSpc>
                <a:spcPct val="115000"/>
              </a:lnSpc>
              <a:buNone/>
            </a:pPr>
            <a:r>
              <a:rPr lang="en-US" sz="1600" dirty="0">
                <a:solidFill>
                  <a:srgbClr val="5A6B87"/>
                </a:solidFill>
                <a:latin typeface="Calibri" pitchFamily="34" charset="0"/>
                <a:ea typeface="Calibri" pitchFamily="34" charset="-122"/>
                <a:cs typeface="Calibri" pitchFamily="34" charset="-120"/>
              </a:rPr>
              <a:t>P₀ = 17.06 + 116.51</a:t>
            </a:r>
            <a:endParaRPr lang="en-US" sz="1600" dirty="0"/>
          </a:p>
        </p:txBody>
      </p:sp>
      <p:sp>
        <p:nvSpPr>
          <p:cNvPr id="26" name="Shape 24"/>
          <p:cNvSpPr/>
          <p:nvPr/>
        </p:nvSpPr>
        <p:spPr>
          <a:xfrm>
            <a:off x="548640" y="5440680"/>
            <a:ext cx="11064240" cy="685800"/>
          </a:xfrm>
          <a:prstGeom prst="roundRect">
            <a:avLst>
              <a:gd name="adj" fmla="val 8000"/>
            </a:avLst>
          </a:prstGeom>
          <a:solidFill>
            <a:srgbClr val="1E2761"/>
          </a:solidFill>
          <a:ln/>
        </p:spPr>
        <p:txBody>
          <a:bodyPr/>
          <a:lstStyle/>
          <a:p>
            <a:endParaRPr lang="en-IN"/>
          </a:p>
        </p:txBody>
      </p:sp>
      <p:sp>
        <p:nvSpPr>
          <p:cNvPr id="27" name="Text 25"/>
          <p:cNvSpPr txBox="1"/>
          <p:nvPr/>
        </p:nvSpPr>
        <p:spPr>
          <a:xfrm>
            <a:off x="777240" y="5440680"/>
            <a:ext cx="1060704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P₀  =  ₹17.06  +  ₹116.51  =  ₹133.57 per share</a:t>
            </a:r>
            <a:endParaRPr lang="en-US" sz="1800" dirty="0"/>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29" name="Text 27"/>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b="1" kern="0" spc="200" dirty="0">
                <a:solidFill>
                  <a:schemeClr val="accent2"/>
                </a:solidFill>
                <a:latin typeface="Calibri" pitchFamily="34" charset="0"/>
                <a:ea typeface="Calibri" pitchFamily="34" charset="-122"/>
                <a:cs typeface="Calibri" pitchFamily="34" charset="-120"/>
              </a:rPr>
              <a:t>RECAP</a:t>
            </a:r>
            <a:endParaRPr lang="en-US" dirty="0">
              <a:solidFill>
                <a:schemeClr val="accent2"/>
              </a:solidFill>
            </a:endParaRPr>
          </a:p>
        </p:txBody>
      </p:sp>
      <p:sp>
        <p:nvSpPr>
          <p:cNvPr id="3" name="Text 1"/>
          <p:cNvSpPr txBox="1"/>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Summary — Bond &amp; Stock Valuation Concepts</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44376548"/>
              </p:ext>
            </p:extLst>
          </p:nvPr>
        </p:nvGraphicFramePr>
        <p:xfrm>
          <a:off x="548640" y="1417320"/>
          <a:ext cx="11064240" cy="4389120"/>
        </p:xfrm>
        <a:graphic>
          <a:graphicData uri="http://schemas.openxmlformats.org/drawingml/2006/table">
            <a:tbl>
              <a:tblPr/>
              <a:tblGrid>
                <a:gridCol w="24688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48640">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Concept</a:t>
                      </a:r>
                      <a:endParaRPr lang="en-US" sz="1800" dirty="0">
                        <a:solidFill>
                          <a:schemeClr val="bg1"/>
                        </a:solidFill>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1E2761"/>
                    </a:solidFill>
                  </a:tcPr>
                </a:tc>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Formula</a:t>
                      </a:r>
                      <a:endParaRPr lang="en-US" sz="1800" dirty="0">
                        <a:solidFill>
                          <a:schemeClr val="bg1"/>
                        </a:solidFill>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1E2761"/>
                    </a:solidFill>
                  </a:tcPr>
                </a:tc>
                <a:tc>
                  <a:txBody>
                    <a:bodyPr/>
                    <a:lstStyle/>
                    <a:p>
                      <a:pPr marL="0" indent="0" algn="ctr">
                        <a:buNone/>
                      </a:pPr>
                      <a:r>
                        <a:rPr lang="en-US" sz="1800" b="1" dirty="0">
                          <a:solidFill>
                            <a:schemeClr val="bg1"/>
                          </a:solidFill>
                          <a:latin typeface="Calibri" pitchFamily="34" charset="0"/>
                          <a:ea typeface="Calibri" pitchFamily="34" charset="-122"/>
                          <a:cs typeface="Calibri" pitchFamily="34" charset="-120"/>
                        </a:rPr>
                        <a:t>Terminologies</a:t>
                      </a:r>
                      <a:endParaRPr lang="en-US" sz="1800" dirty="0">
                        <a:solidFill>
                          <a:schemeClr val="bg1"/>
                        </a:solidFill>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buNone/>
                      </a:pPr>
                      <a:r>
                        <a:rPr lang="en-US" sz="1600" b="1" dirty="0">
                          <a:solidFill>
                            <a:srgbClr val="1E2761"/>
                          </a:solidFill>
                          <a:latin typeface="Calibri" pitchFamily="34" charset="0"/>
                          <a:ea typeface="Calibri" pitchFamily="34" charset="-122"/>
                          <a:cs typeface="Calibri" pitchFamily="34" charset="-120"/>
                        </a:rPr>
                        <a:t>Coupon Bond</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lgn="ctr">
                        <a:buNone/>
                      </a:pPr>
                      <a:r>
                        <a:rPr lang="en-US" sz="1600" dirty="0">
                          <a:solidFill>
                            <a:schemeClr val="accent2"/>
                          </a:solidFill>
                          <a:latin typeface="Cambria Math" pitchFamily="34" charset="0"/>
                          <a:ea typeface="Cambria Math" pitchFamily="34" charset="-122"/>
                          <a:cs typeface="Cambria Math" pitchFamily="34" charset="-120"/>
                        </a:rPr>
                        <a:t>P = ΣC/(1+r)ᵗ + F/(1+r)ᵀ</a:t>
                      </a:r>
                      <a:endParaRPr lang="en-US" sz="1600" dirty="0">
                        <a:solidFill>
                          <a:schemeClr val="accent2"/>
                        </a:solidFill>
                        <a:latin typeface="Cambria Math" charset="0"/>
                        <a:ea typeface="Cambria Math" charset="0"/>
                        <a:cs typeface="Cambria Math"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600" dirty="0">
                          <a:solidFill>
                            <a:srgbClr val="5A6B87"/>
                          </a:solidFill>
                          <a:latin typeface="Calibri" pitchFamily="34" charset="0"/>
                          <a:ea typeface="Calibri" pitchFamily="34" charset="-122"/>
                          <a:cs typeface="Calibri" pitchFamily="34" charset="-120"/>
                        </a:rPr>
                        <a:t>Coupon rate, nominal value, redemption at par</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600" b="1" dirty="0">
                          <a:solidFill>
                            <a:srgbClr val="1E2761"/>
                          </a:solidFill>
                          <a:latin typeface="Calibri" pitchFamily="34" charset="0"/>
                          <a:ea typeface="Calibri" pitchFamily="34" charset="-122"/>
                          <a:cs typeface="Calibri" pitchFamily="34" charset="-120"/>
                        </a:rPr>
                        <a:t>Zero-Coupon Bond</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lgn="ctr">
                        <a:buNone/>
                      </a:pPr>
                      <a:r>
                        <a:rPr lang="en-US" sz="1600" dirty="0">
                          <a:solidFill>
                            <a:schemeClr val="accent2"/>
                          </a:solidFill>
                          <a:latin typeface="Cambria Math" pitchFamily="34" charset="0"/>
                          <a:ea typeface="Cambria Math" pitchFamily="34" charset="-122"/>
                          <a:cs typeface="Cambria Math" pitchFamily="34" charset="-120"/>
                        </a:rPr>
                        <a:t>P = F/(1+r)ᵀ</a:t>
                      </a:r>
                      <a:endParaRPr lang="en-US" sz="1600" dirty="0">
                        <a:solidFill>
                          <a:schemeClr val="accent2"/>
                        </a:solidFill>
                        <a:latin typeface="Cambria Math" charset="0"/>
                        <a:ea typeface="Cambria Math" charset="0"/>
                        <a:cs typeface="Cambria Math"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buNone/>
                      </a:pPr>
                      <a:r>
                        <a:rPr lang="en-US" sz="1600" dirty="0">
                          <a:solidFill>
                            <a:srgbClr val="5A6B87"/>
                          </a:solidFill>
                          <a:latin typeface="Calibri" pitchFamily="34" charset="0"/>
                          <a:ea typeface="Calibri" pitchFamily="34" charset="-122"/>
                          <a:cs typeface="Calibri" pitchFamily="34" charset="-120"/>
                        </a:rPr>
                        <a:t>Nominal (redemption) value; no coupon rate</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extLst>
                  <a:ext uri="{0D108BD9-81ED-4DB2-BD59-A6C34878D82A}">
                    <a16:rowId xmlns:a16="http://schemas.microsoft.com/office/drawing/2014/main" val="10002"/>
                  </a:ext>
                </a:extLst>
              </a:tr>
              <a:tr h="548640">
                <a:tc>
                  <a:txBody>
                    <a:bodyPr/>
                    <a:lstStyle/>
                    <a:p>
                      <a:pPr marL="0" indent="0">
                        <a:buNone/>
                      </a:pPr>
                      <a:r>
                        <a:rPr lang="en-US" sz="1600" b="1" dirty="0">
                          <a:solidFill>
                            <a:srgbClr val="1E2761"/>
                          </a:solidFill>
                          <a:latin typeface="Calibri" pitchFamily="34" charset="0"/>
                          <a:ea typeface="Calibri" pitchFamily="34" charset="-122"/>
                          <a:cs typeface="Calibri" pitchFamily="34" charset="-120"/>
                        </a:rPr>
                        <a:t>Perpetual Bond</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lgn="ctr">
                        <a:buNone/>
                      </a:pPr>
                      <a:r>
                        <a:rPr lang="en-US" sz="1600" dirty="0">
                          <a:solidFill>
                            <a:schemeClr val="accent2"/>
                          </a:solidFill>
                          <a:latin typeface="Cambria Math" pitchFamily="34" charset="0"/>
                          <a:ea typeface="Cambria Math" pitchFamily="34" charset="-122"/>
                          <a:cs typeface="Cambria Math" pitchFamily="34" charset="-120"/>
                        </a:rPr>
                        <a:t>P = C/r</a:t>
                      </a:r>
                      <a:endParaRPr lang="en-US" sz="1600" dirty="0">
                        <a:solidFill>
                          <a:schemeClr val="accent2"/>
                        </a:solidFill>
                        <a:latin typeface="Cambria Math" charset="0"/>
                        <a:ea typeface="Cambria Math" charset="0"/>
                        <a:cs typeface="Cambria Math"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600" dirty="0">
                          <a:solidFill>
                            <a:srgbClr val="5A6B87"/>
                          </a:solidFill>
                          <a:latin typeface="Calibri" pitchFamily="34" charset="0"/>
                          <a:ea typeface="Calibri" pitchFamily="34" charset="-122"/>
                          <a:cs typeface="Calibri" pitchFamily="34" charset="-120"/>
                        </a:rPr>
                        <a:t>Coupon only — no redemption / maturity</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600" b="1" dirty="0">
                          <a:solidFill>
                            <a:srgbClr val="1E2761"/>
                          </a:solidFill>
                          <a:latin typeface="Calibri" pitchFamily="34" charset="0"/>
                          <a:ea typeface="Calibri" pitchFamily="34" charset="-122"/>
                          <a:cs typeface="Calibri" pitchFamily="34" charset="-120"/>
                        </a:rPr>
                        <a:t>Yield to Maturity</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lgn="ctr">
                        <a:buNone/>
                      </a:pPr>
                      <a:r>
                        <a:rPr lang="en-US" sz="1600" dirty="0">
                          <a:solidFill>
                            <a:schemeClr val="accent2"/>
                          </a:solidFill>
                          <a:latin typeface="Cambria Math" pitchFamily="34" charset="0"/>
                          <a:ea typeface="Cambria Math" pitchFamily="34" charset="-122"/>
                          <a:cs typeface="Cambria Math" pitchFamily="34" charset="-120"/>
                        </a:rPr>
                        <a:t>YTM ≈ [C+(F−P)/n] / [(F+P)/2]</a:t>
                      </a:r>
                      <a:endParaRPr lang="en-US" sz="1600" dirty="0">
                        <a:solidFill>
                          <a:schemeClr val="accent2"/>
                        </a:solidFill>
                        <a:latin typeface="Cambria Math" charset="0"/>
                        <a:ea typeface="Cambria Math" charset="0"/>
                        <a:cs typeface="Cambria Math"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buNone/>
                      </a:pPr>
                      <a:r>
                        <a:rPr lang="en-US" sz="1600" dirty="0">
                          <a:solidFill>
                            <a:srgbClr val="5A6B87"/>
                          </a:solidFill>
                          <a:latin typeface="Calibri" pitchFamily="34" charset="0"/>
                          <a:ea typeface="Calibri" pitchFamily="34" charset="-122"/>
                          <a:cs typeface="Calibri" pitchFamily="34" charset="-120"/>
                        </a:rPr>
                        <a:t>True yield vs. stated coupon rate</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extLst>
                  <a:ext uri="{0D108BD9-81ED-4DB2-BD59-A6C34878D82A}">
                    <a16:rowId xmlns:a16="http://schemas.microsoft.com/office/drawing/2014/main" val="10004"/>
                  </a:ext>
                </a:extLst>
              </a:tr>
              <a:tr h="548640">
                <a:tc>
                  <a:txBody>
                    <a:bodyPr/>
                    <a:lstStyle/>
                    <a:p>
                      <a:pPr marL="0" indent="0">
                        <a:buNone/>
                      </a:pPr>
                      <a:r>
                        <a:rPr lang="en-US" sz="1600" b="1" dirty="0">
                          <a:solidFill>
                            <a:srgbClr val="1E2761"/>
                          </a:solidFill>
                          <a:latin typeface="Calibri" pitchFamily="34" charset="0"/>
                          <a:ea typeface="Calibri" pitchFamily="34" charset="-122"/>
                          <a:cs typeface="Calibri" pitchFamily="34" charset="-120"/>
                        </a:rPr>
                        <a:t>Zero Growth Stock</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lgn="ctr">
                        <a:buNone/>
                      </a:pPr>
                      <a:r>
                        <a:rPr lang="en-US" sz="1600" dirty="0">
                          <a:solidFill>
                            <a:schemeClr val="accent2"/>
                          </a:solidFill>
                          <a:latin typeface="Cambria Math" pitchFamily="34" charset="0"/>
                          <a:ea typeface="Cambria Math" pitchFamily="34" charset="-122"/>
                          <a:cs typeface="Cambria Math" pitchFamily="34" charset="-120"/>
                        </a:rPr>
                        <a:t>P₀ = D₁/r</a:t>
                      </a:r>
                      <a:endParaRPr lang="en-US" sz="1600" dirty="0">
                        <a:solidFill>
                          <a:schemeClr val="accent2"/>
                        </a:solidFill>
                        <a:latin typeface="Cambria Math" charset="0"/>
                        <a:ea typeface="Cambria Math" charset="0"/>
                        <a:cs typeface="Cambria Math"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600" dirty="0">
                          <a:solidFill>
                            <a:srgbClr val="5A6B87"/>
                          </a:solidFill>
                          <a:latin typeface="Calibri" pitchFamily="34" charset="0"/>
                          <a:ea typeface="Calibri" pitchFamily="34" charset="-122"/>
                          <a:cs typeface="Calibri" pitchFamily="34" charset="-120"/>
                        </a:rPr>
                        <a:t>Constant dividend, no growth</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600" b="1" dirty="0">
                          <a:solidFill>
                            <a:srgbClr val="1E2761"/>
                          </a:solidFill>
                          <a:latin typeface="Calibri" pitchFamily="34" charset="0"/>
                          <a:ea typeface="Calibri" pitchFamily="34" charset="-122"/>
                          <a:cs typeface="Calibri" pitchFamily="34" charset="-120"/>
                        </a:rPr>
                        <a:t>Constant Growth Stock</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lgn="ctr">
                        <a:buNone/>
                      </a:pPr>
                      <a:r>
                        <a:rPr lang="en-US" sz="1600" dirty="0">
                          <a:solidFill>
                            <a:schemeClr val="accent2"/>
                          </a:solidFill>
                          <a:latin typeface="Cambria Math" pitchFamily="34" charset="0"/>
                          <a:ea typeface="Cambria Math" pitchFamily="34" charset="-122"/>
                          <a:cs typeface="Cambria Math" pitchFamily="34" charset="-120"/>
                        </a:rPr>
                        <a:t>P₀ = D₁/(r−g)</a:t>
                      </a:r>
                      <a:endParaRPr lang="en-US" sz="1600" dirty="0">
                        <a:solidFill>
                          <a:schemeClr val="accent2"/>
                        </a:solidFill>
                        <a:latin typeface="Cambria Math" charset="0"/>
                        <a:ea typeface="Cambria Math" charset="0"/>
                        <a:cs typeface="Cambria Math"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tc>
                  <a:txBody>
                    <a:bodyPr/>
                    <a:lstStyle/>
                    <a:p>
                      <a:pPr marL="0" indent="0">
                        <a:buNone/>
                      </a:pPr>
                      <a:r>
                        <a:rPr lang="en-US" sz="1600" dirty="0">
                          <a:solidFill>
                            <a:srgbClr val="5A6B87"/>
                          </a:solidFill>
                          <a:latin typeface="Calibri" pitchFamily="34" charset="0"/>
                          <a:ea typeface="Calibri" pitchFamily="34" charset="-122"/>
                          <a:cs typeface="Calibri" pitchFamily="34" charset="-120"/>
                        </a:rPr>
                        <a:t>Steady dividend growth, cost of equity</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EEF3FD"/>
                    </a:solidFill>
                  </a:tcPr>
                </a:tc>
                <a:extLst>
                  <a:ext uri="{0D108BD9-81ED-4DB2-BD59-A6C34878D82A}">
                    <a16:rowId xmlns:a16="http://schemas.microsoft.com/office/drawing/2014/main" val="10006"/>
                  </a:ext>
                </a:extLst>
              </a:tr>
              <a:tr h="548640">
                <a:tc>
                  <a:txBody>
                    <a:bodyPr/>
                    <a:lstStyle/>
                    <a:p>
                      <a:pPr marL="0" indent="0">
                        <a:buNone/>
                      </a:pPr>
                      <a:r>
                        <a:rPr lang="en-US" sz="1600" b="1" dirty="0">
                          <a:solidFill>
                            <a:srgbClr val="1E2761"/>
                          </a:solidFill>
                          <a:latin typeface="Calibri" pitchFamily="34" charset="0"/>
                          <a:ea typeface="Calibri" pitchFamily="34" charset="-122"/>
                          <a:cs typeface="Calibri" pitchFamily="34" charset="-120"/>
                        </a:rPr>
                        <a:t>Two-Stage Growth Stock</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600" dirty="0">
                          <a:solidFill>
                            <a:schemeClr val="accent2"/>
                          </a:solidFill>
                          <a:latin typeface="Cambria Math" pitchFamily="34" charset="0"/>
                          <a:ea typeface="Cambria Math" pitchFamily="34" charset="-122"/>
                          <a:cs typeface="Cambria Math" pitchFamily="34" charset="-120"/>
                        </a:rPr>
                        <a:t>PV(high-growth Div) + PV(terminal price)</a:t>
                      </a:r>
                      <a:endParaRPr lang="en-US" sz="1600" dirty="0">
                        <a:solidFill>
                          <a:schemeClr val="accent2"/>
                        </a:solidFill>
                        <a:latin typeface="Cambria Math" charset="0"/>
                        <a:ea typeface="Cambria Math" charset="0"/>
                        <a:cs typeface="Cambria Math"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tc>
                  <a:txBody>
                    <a:bodyPr/>
                    <a:lstStyle/>
                    <a:p>
                      <a:pPr marL="0" indent="0">
                        <a:buNone/>
                      </a:pPr>
                      <a:r>
                        <a:rPr lang="en-US" sz="1600" dirty="0">
                          <a:solidFill>
                            <a:srgbClr val="5A6B87"/>
                          </a:solidFill>
                          <a:latin typeface="Calibri" pitchFamily="34" charset="0"/>
                          <a:ea typeface="Calibri" pitchFamily="34" charset="-122"/>
                          <a:cs typeface="Calibri" pitchFamily="34" charset="-120"/>
                        </a:rPr>
                        <a:t>Growth-rate transition, terminal price</a:t>
                      </a:r>
                      <a:endParaRPr lang="en-US" sz="1600" dirty="0">
                        <a:latin typeface="Calibri" charset="0"/>
                        <a:ea typeface="Calibri" charset="0"/>
                        <a:cs typeface="Calibri" charset="0"/>
                      </a:endParaRPr>
                    </a:p>
                  </a:txBody>
                  <a:tcPr anchor="ctr">
                    <a:lnL w="9525" cap="flat" cmpd="sng" algn="ctr">
                      <a:solidFill>
                        <a:srgbClr val="DCE4F2"/>
                      </a:solidFill>
                      <a:prstDash val="solid"/>
                      <a:round/>
                      <a:headEnd type="none" w="med" len="med"/>
                      <a:tailEnd type="none" w="med" len="med"/>
                    </a:lnL>
                    <a:lnR w="9525" cap="flat" cmpd="sng" algn="ctr">
                      <a:solidFill>
                        <a:srgbClr val="DCE4F2"/>
                      </a:solidFill>
                      <a:prstDash val="solid"/>
                      <a:round/>
                      <a:headEnd type="none" w="med" len="med"/>
                      <a:tailEnd type="none" w="med" len="med"/>
                    </a:lnR>
                    <a:lnT w="9525" cap="flat" cmpd="sng" algn="ctr">
                      <a:solidFill>
                        <a:srgbClr val="DCE4F2"/>
                      </a:solidFill>
                      <a:prstDash val="solid"/>
                      <a:round/>
                      <a:headEnd type="none" w="med" len="med"/>
                      <a:tailEnd type="none" w="med" len="med"/>
                    </a:lnT>
                    <a:lnB w="9525" cap="flat" cmpd="sng" algn="ctr">
                      <a:solidFill>
                        <a:srgbClr val="DCE4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48640" y="6080760"/>
            <a:ext cx="11064240" cy="457200"/>
          </a:xfrm>
          <a:prstGeom prst="rect">
            <a:avLst/>
          </a:prstGeom>
          <a:noFill/>
          <a:ln/>
        </p:spPr>
        <p:txBody>
          <a:bodyPr wrap="square" lIns="0" tIns="0" rIns="0" bIns="0" rtlCol="0" anchor="ctr"/>
          <a:lstStyle/>
          <a:p>
            <a:pPr marL="0" indent="0">
              <a:buNone/>
            </a:pPr>
            <a:r>
              <a:rPr lang="en-US" sz="1600" i="1" dirty="0">
                <a:solidFill>
                  <a:srgbClr val="5A6B87"/>
                </a:solidFill>
                <a:latin typeface="Calibri" pitchFamily="34" charset="0"/>
                <a:ea typeface="Calibri" pitchFamily="34" charset="-122"/>
                <a:cs typeface="Calibri" pitchFamily="34" charset="-120"/>
              </a:rPr>
              <a:t>Bonds promise fixed, contractual cash flows (coupon + redemption). Stocks offer growth-linked, uncertain cash flows (dividends) with no redemption value.</a:t>
            </a:r>
            <a:endParaRPr lang="en-US" sz="1600" dirty="0"/>
          </a:p>
        </p:txBody>
      </p:sp>
      <p:sp>
        <p:nvSpPr>
          <p:cNvPr id="6" name="Text 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5A6B87"/>
                </a:solidFill>
                <a:latin typeface="Calibri" pitchFamily="34" charset="0"/>
                <a:ea typeface="Calibri" pitchFamily="34" charset="-122"/>
                <a:cs typeface="Calibri" pitchFamily="34" charset="-120"/>
              </a:rPr>
              <a:t>Bonds &amp; Stocks — Valuation Module</a:t>
            </a:r>
            <a:endParaRPr lang="en-US" sz="900" dirty="0"/>
          </a:p>
        </p:txBody>
      </p:sp>
      <p:sp>
        <p:nvSpPr>
          <p:cNvPr id="7" name="Text 4"/>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A6B87"/>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141B47"/>
          </a:solidFill>
          <a:ln/>
        </p:spPr>
        <p:txBody>
          <a:bodyPr/>
          <a:lstStyle/>
          <a:p>
            <a:endParaRPr lang="en-IN"/>
          </a:p>
        </p:txBody>
      </p:sp>
      <p:sp>
        <p:nvSpPr>
          <p:cNvPr id="3" name="Shape 1"/>
          <p:cNvSpPr/>
          <p:nvPr/>
        </p:nvSpPr>
        <p:spPr>
          <a:xfrm>
            <a:off x="5728716" y="1828800"/>
            <a:ext cx="731520" cy="731520"/>
          </a:xfrm>
          <a:prstGeom prst="ellipse">
            <a:avLst/>
          </a:prstGeom>
          <a:solidFill>
            <a:srgbClr val="B8912F"/>
          </a:solidFill>
          <a:ln/>
        </p:spPr>
        <p:txBody>
          <a:bodyPr/>
          <a:lstStyle/>
          <a:p>
            <a:endParaRPr lang="en-IN"/>
          </a:p>
        </p:txBody>
      </p:sp>
      <p:sp>
        <p:nvSpPr>
          <p:cNvPr id="4" name="Text 2"/>
          <p:cNvSpPr txBox="1"/>
          <p:nvPr/>
        </p:nvSpPr>
        <p:spPr>
          <a:xfrm>
            <a:off x="5728716" y="1828800"/>
            <a:ext cx="731520" cy="731520"/>
          </a:xfrm>
          <a:prstGeom prst="rect">
            <a:avLst/>
          </a:prstGeom>
          <a:noFill/>
          <a:ln/>
        </p:spPr>
        <p:txBody>
          <a:bodyPr wrap="square" lIns="0" tIns="0" rIns="0" bIns="0" rtlCol="0" anchor="ctr"/>
          <a:lstStyle/>
          <a:p>
            <a:pPr marL="0" indent="0" algn="ctr">
              <a:buNone/>
            </a:pPr>
            <a:r>
              <a:rPr lang="en-US" sz="3000" b="1" dirty="0">
                <a:solidFill>
                  <a:schemeClr val="bg1"/>
                </a:solidFill>
                <a:latin typeface="Calibri" pitchFamily="34" charset="0"/>
                <a:ea typeface="Calibri" pitchFamily="34" charset="-122"/>
                <a:cs typeface="Calibri" pitchFamily="34" charset="-120"/>
              </a:rPr>
              <a:t>₹</a:t>
            </a:r>
            <a:endParaRPr lang="en-US" sz="3000" dirty="0">
              <a:solidFill>
                <a:schemeClr val="bg1"/>
              </a:solidFill>
            </a:endParaRPr>
          </a:p>
        </p:txBody>
      </p:sp>
      <p:sp>
        <p:nvSpPr>
          <p:cNvPr id="5" name="Text 3"/>
          <p:cNvSpPr txBox="1"/>
          <p:nvPr/>
        </p:nvSpPr>
        <p:spPr>
          <a:xfrm>
            <a:off x="0" y="2743200"/>
            <a:ext cx="12188952" cy="82296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solidFill>
                <a:schemeClr val="bg1"/>
              </a:solidFill>
            </a:endParaRPr>
          </a:p>
        </p:txBody>
      </p:sp>
      <p:sp>
        <p:nvSpPr>
          <p:cNvPr id="6" name="Text 4"/>
          <p:cNvSpPr txBox="1"/>
          <p:nvPr/>
        </p:nvSpPr>
        <p:spPr>
          <a:xfrm>
            <a:off x="0" y="3520440"/>
            <a:ext cx="12188952" cy="457200"/>
          </a:xfrm>
          <a:prstGeom prst="rect">
            <a:avLst/>
          </a:prstGeom>
          <a:noFill/>
          <a:ln/>
        </p:spPr>
        <p:txBody>
          <a:bodyPr wrap="square" lIns="0" tIns="0" rIns="0" bIns="0" rtlCol="0" anchor="ctr"/>
          <a:lstStyle/>
          <a:p>
            <a:pPr marL="0" indent="0" algn="ctr">
              <a:buNone/>
            </a:pPr>
            <a:r>
              <a:rPr lang="en-US" sz="1600" dirty="0">
                <a:solidFill>
                  <a:schemeClr val="bg1"/>
                </a:solidFill>
                <a:latin typeface="Calibri" pitchFamily="34" charset="0"/>
                <a:ea typeface="Calibri" pitchFamily="34" charset="-122"/>
                <a:cs typeface="Calibri" pitchFamily="34" charset="-120"/>
              </a:rPr>
              <a:t>Bonds &amp; Stocks — Meaning, Features &amp; Terminologies</a:t>
            </a:r>
            <a:endParaRPr lang="en-US" sz="1600" dirty="0">
              <a:solidFill>
                <a:schemeClr val="bg1"/>
              </a:solidFill>
            </a:endParaRPr>
          </a:p>
        </p:txBody>
      </p:sp>
      <p:sp>
        <p:nvSpPr>
          <p:cNvPr id="7" name="Shape 5"/>
          <p:cNvSpPr/>
          <p:nvPr/>
        </p:nvSpPr>
        <p:spPr>
          <a:xfrm>
            <a:off x="4631436" y="4160520"/>
            <a:ext cx="2926080" cy="0"/>
          </a:xfrm>
          <a:prstGeom prst="line">
            <a:avLst/>
          </a:prstGeom>
          <a:noFill/>
          <a:ln w="25400">
            <a:solidFill>
              <a:srgbClr val="B8912F"/>
            </a:solidFill>
            <a:prstDash val="solid"/>
          </a:ln>
        </p:spPr>
        <p:txBody>
          <a:bodyPr/>
          <a:lstStyle/>
          <a:p>
            <a:endParaRPr lang="en-IN"/>
          </a:p>
        </p:txBody>
      </p:sp>
      <p:sp>
        <p:nvSpPr>
          <p:cNvPr id="8" name="Text 6"/>
          <p:cNvSpPr txBox="1"/>
          <p:nvPr/>
        </p:nvSpPr>
        <p:spPr>
          <a:xfrm>
            <a:off x="0" y="4389120"/>
            <a:ext cx="12188952" cy="365760"/>
          </a:xfrm>
          <a:prstGeom prst="rect">
            <a:avLst/>
          </a:prstGeom>
          <a:noFill/>
          <a:ln/>
        </p:spPr>
        <p:txBody>
          <a:bodyPr wrap="square" lIns="0" tIns="0" rIns="0" bIns="0" rtlCol="0" anchor="ctr"/>
          <a:lstStyle/>
          <a:p>
            <a:pPr marL="0" indent="0" algn="ctr">
              <a:buNone/>
            </a:pPr>
            <a:r>
              <a:rPr lang="en-US" dirty="0">
                <a:solidFill>
                  <a:schemeClr val="accent2"/>
                </a:solidFill>
                <a:latin typeface="Calibri" pitchFamily="34" charset="0"/>
                <a:ea typeface="Calibri" pitchFamily="34" charset="-122"/>
                <a:cs typeface="Calibri" pitchFamily="34" charset="-120"/>
              </a:rPr>
              <a:t>Valuation Module</a:t>
            </a:r>
            <a:endParaRPr lang="en-US" dirty="0">
              <a:solidFill>
                <a:schemeClr val="accent2"/>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2704</Words>
  <Application>Microsoft Office PowerPoint</Application>
  <PresentationFormat>Widescreen</PresentationFormat>
  <Paragraphs>366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kumarrajeev_trainer@outlook.com</cp:lastModifiedBy>
  <cp:revision>11</cp:revision>
  <dcterms:created xsi:type="dcterms:W3CDTF">2026-09-16T00:27:20Z</dcterms:created>
  <dcterms:modified xsi:type="dcterms:W3CDTF">2026-09-16T00:56:50Z</dcterms:modified>
</cp:coreProperties>
</file>