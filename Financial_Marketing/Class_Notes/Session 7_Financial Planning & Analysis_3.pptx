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10287000" cx="18288000"/>
  <p:notesSz cx="6858000" cy="9144000"/>
  <p:embeddedFontLst>
    <p:embeddedFont>
      <p:font typeface="Montserrat Black"/>
      <p:bold r:id="rId38"/>
      <p:boldItalic r:id="rId39"/>
    </p:embeddedFont>
    <p:embeddedFont>
      <p:font typeface="Montserrat"/>
      <p:bold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Open Sans Ligh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Vf7vSEFZ1LHZEQx//wlcUtHD0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A44A8F-B6A6-44B7-BCA2-73875C0B5921}">
  <a:tblStyle styleId="{DDA44A8F-B6A6-44B7-BCA2-73875C0B59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CAFA069-AD50-4BBC-A327-863A79B21BA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OpenSansLight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Light-italic.fntdata"/><Relationship Id="rId47" Type="http://schemas.openxmlformats.org/officeDocument/2006/relationships/font" Target="fonts/OpenSansLight-bold.fntdata"/><Relationship Id="rId49" Type="http://schemas.openxmlformats.org/officeDocument/2006/relationships/font" Target="fonts/OpenSans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MontserratBlack-boldItalic.fntdata"/><Relationship Id="rId38" Type="http://schemas.openxmlformats.org/officeDocument/2006/relationships/font" Target="fonts/MontserratBlack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Bottom cube sm" showMasterSp="0">
  <p:cSld name="Title_Bottom cube s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/>
          <p:nvPr/>
        </p:nvSpPr>
        <p:spPr>
          <a:xfrm>
            <a:off x="0" y="1"/>
            <a:ext cx="18288000" cy="87004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4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500"/>
              <a:buFont typeface="Arial"/>
              <a:buNone/>
              <a:defRPr b="0" i="0" sz="45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250"/>
              <a:buNone/>
              <a:defRPr b="0" i="0" sz="22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2" type="body"/>
          </p:nvPr>
        </p:nvSpPr>
        <p:spPr>
          <a:xfrm>
            <a:off x="964406" y="2512220"/>
            <a:ext cx="8731916" cy="5888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Courier New"/>
              <a:buChar char="o"/>
              <a:defRPr sz="2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algn="l"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250"/>
              <a:buFont typeface="Courier New"/>
              <a:buChar char="o"/>
              <a:defRPr sz="22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Courier New"/>
              <a:buChar char="o"/>
              <a:defRPr sz="2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2425" lvl="3" marL="1828800" algn="l">
              <a:spcBef>
                <a:spcPts val="390"/>
              </a:spcBef>
              <a:spcAft>
                <a:spcPts val="0"/>
              </a:spcAft>
              <a:buClr>
                <a:srgbClr val="666666"/>
              </a:buClr>
              <a:buSzPts val="1950"/>
              <a:buFont typeface="Courier New"/>
              <a:buChar char="o"/>
              <a:defRPr sz="1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urier New"/>
              <a:buChar char="o"/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"/>
          <p:cNvGrpSpPr/>
          <p:nvPr/>
        </p:nvGrpSpPr>
        <p:grpSpPr>
          <a:xfrm>
            <a:off x="1240790" y="-144661"/>
            <a:ext cx="212090" cy="5288161"/>
            <a:chOff x="0" y="-38100"/>
            <a:chExt cx="55859" cy="1392767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55859" cy="1354667"/>
            </a:xfrm>
            <a:custGeom>
              <a:rect b="b" l="l" r="r" t="t"/>
              <a:pathLst>
                <a:path extrusionOk="0" h="1354667" w="55859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2829775" y="4088040"/>
            <a:ext cx="14696225" cy="135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1211C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SESSION 7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214382" y="5429252"/>
            <a:ext cx="16787930" cy="271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F9B31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FINANCIAL PLANNING &amp; ANALYSIS – 3 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2829775" y="8183211"/>
            <a:ext cx="9288593" cy="380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SCALER SCHOOL OF TECHNOLOGY</a:t>
            </a:r>
            <a:endParaRPr/>
          </a:p>
        </p:txBody>
      </p:sp>
      <p:grpSp>
        <p:nvGrpSpPr>
          <p:cNvPr id="100" name="Google Shape;100;p1"/>
          <p:cNvGrpSpPr/>
          <p:nvPr/>
        </p:nvGrpSpPr>
        <p:grpSpPr>
          <a:xfrm>
            <a:off x="14500955" y="1721962"/>
            <a:ext cx="2758345" cy="390532"/>
            <a:chOff x="0" y="-38100"/>
            <a:chExt cx="726478" cy="10285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726478" cy="64756"/>
            </a:xfrm>
            <a:custGeom>
              <a:rect b="b" l="l" r="r" t="t"/>
              <a:pathLst>
                <a:path extrusionOk="0" h="64756" w="726478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"/>
          <p:cNvSpPr/>
          <p:nvPr/>
        </p:nvSpPr>
        <p:spPr>
          <a:xfrm>
            <a:off x="15098618" y="8772632"/>
            <a:ext cx="177766" cy="266816"/>
          </a:xfrm>
          <a:custGeom>
            <a:rect b="b" l="l" r="r" t="t"/>
            <a:pathLst>
              <a:path extrusionOk="0" h="266816" w="17776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851679" y="815967"/>
            <a:ext cx="1856645" cy="212733"/>
            <a:chOff x="0" y="-38100"/>
            <a:chExt cx="488993" cy="56028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488993" cy="17928"/>
            </a:xfrm>
            <a:custGeom>
              <a:rect b="b" l="l" r="r" t="t"/>
              <a:pathLst>
                <a:path extrusionOk="0" h="17928" w="488993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211C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Learning Outcomes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51679" y="1346313"/>
            <a:ext cx="15936187" cy="5750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11CA"/>
                </a:solidFill>
                <a:latin typeface="Montserrat"/>
                <a:ea typeface="Montserrat"/>
                <a:cs typeface="Montserrat"/>
                <a:sym typeface="Montserrat"/>
              </a:rPr>
              <a:t>Session 7: Time Value of Money (TVM)</a:t>
            </a:r>
            <a:endParaRPr/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211C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the session, learners will be able to: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90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D262A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Explain</a:t>
            </a:r>
            <a:r>
              <a:rPr b="0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the concept and importance of the Time Value of Money (TVM) in financial decision-making. </a:t>
            </a:r>
            <a:endParaRPr/>
          </a:p>
          <a:p>
            <a:pPr indent="-2590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D262A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Explain</a:t>
            </a:r>
            <a:r>
              <a:rPr b="0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the concepts of Present Value (PV), Future Value (FV), compounding, and discounting. </a:t>
            </a:r>
            <a:endParaRPr/>
          </a:p>
          <a:p>
            <a:pPr indent="-2590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D262A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Calculate</a:t>
            </a:r>
            <a:r>
              <a:rPr b="0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the Present Value and Future Value of single and multiple cash flows using appropriate TVM techniques. </a:t>
            </a:r>
            <a:endParaRPr/>
          </a:p>
          <a:p>
            <a:pPr indent="-2590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D262A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Apply</a:t>
            </a:r>
            <a:r>
              <a:rPr b="0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TVM concepts to calculate the value of annuities and perpetuities. </a:t>
            </a:r>
            <a:endParaRPr/>
          </a:p>
          <a:p>
            <a:pPr indent="-2590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D262A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Apply </a:t>
            </a:r>
            <a:r>
              <a:rPr b="0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appropriate discounting and compounding techniques to cash-flow streams and terminal values. </a:t>
            </a:r>
            <a:endParaRPr/>
          </a:p>
          <a:p>
            <a:pPr indent="-2590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D262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Analyse different cash-flow patterns and determine their present or future values for basic engineering/business investment decisions.</a:t>
            </a:r>
            <a:endParaRPr/>
          </a:p>
          <a:p>
            <a:pPr indent="-106680" lvl="1" marL="518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ctrTitle"/>
          </p:nvPr>
        </p:nvSpPr>
        <p:spPr>
          <a:xfrm>
            <a:off x="74794" y="155059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200"/>
              <a:buFont typeface="Montserrat Black"/>
              <a:buNone/>
            </a:pPr>
            <a:r>
              <a:rPr b="1" lang="en-US" sz="4200">
                <a:solidFill>
                  <a:srgbClr val="0000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Corporate Finance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207169" y="936488"/>
            <a:ext cx="9528452" cy="50783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Big Picture</a:t>
            </a:r>
            <a:endParaRPr/>
          </a:p>
        </p:txBody>
      </p:sp>
      <p:grpSp>
        <p:nvGrpSpPr>
          <p:cNvPr id="120" name="Google Shape;120;p3"/>
          <p:cNvGrpSpPr/>
          <p:nvPr/>
        </p:nvGrpSpPr>
        <p:grpSpPr>
          <a:xfrm>
            <a:off x="0" y="1903140"/>
            <a:ext cx="18015309" cy="7990410"/>
            <a:chOff x="123435" y="1161779"/>
            <a:chExt cx="12010206" cy="5326940"/>
          </a:xfrm>
        </p:grpSpPr>
        <p:sp>
          <p:nvSpPr>
            <p:cNvPr id="121" name="Google Shape;121;p3"/>
            <p:cNvSpPr txBox="1"/>
            <p:nvPr/>
          </p:nvSpPr>
          <p:spPr>
            <a:xfrm>
              <a:off x="3878912" y="1161779"/>
              <a:ext cx="3527114" cy="33855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Maximize the Value of the Firm</a:t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4458818" y="2088702"/>
              <a:ext cx="2856990" cy="1046440"/>
            </a:xfrm>
            <a:prstGeom prst="rect">
              <a:avLst/>
            </a:prstGeom>
            <a:solidFill>
              <a:srgbClr val="0033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Financing Decision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Find the right kind of debt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for your firm and the right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mix of debt and equity 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fund your operations</a:t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8333864" y="2066091"/>
              <a:ext cx="2531414" cy="1046440"/>
            </a:xfrm>
            <a:prstGeom prst="rect">
              <a:avLst/>
            </a:prstGeom>
            <a:solidFill>
              <a:srgbClr val="0033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Dividend Decision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Find the right kind of debt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for your firm and the right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mix of debt and equity 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fund your operations</a:t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767239" y="2137402"/>
              <a:ext cx="2856990" cy="1046440"/>
            </a:xfrm>
            <a:prstGeom prst="rect">
              <a:avLst/>
            </a:prstGeom>
            <a:solidFill>
              <a:srgbClr val="0033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Investment Decision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Invest in assets that earn 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return greater than the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minimum acceptable hurdle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rate</a:t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123435" y="3990685"/>
              <a:ext cx="1447263" cy="135421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hurdle rate 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should reflect the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riskiness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of the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investment and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mix of debt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and equity used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to fund it,</a:t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2048589" y="4020741"/>
              <a:ext cx="1845554" cy="1169551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return 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should reflect the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magnitude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and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timing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of the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cashflows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&amp; associated costs</a:t>
              </a:r>
              <a:endParaRPr/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4422125" y="3990685"/>
              <a:ext cx="1673875" cy="984885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optimal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mix 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of debt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and equity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maximizes firm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value</a:t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6515952" y="3952730"/>
              <a:ext cx="1673875" cy="984885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right kind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of debt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matches the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tenor of your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assets</a:t>
              </a:r>
              <a:endParaRPr/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8516319" y="3937876"/>
              <a:ext cx="1673875" cy="1538883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How much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cash </a:t>
              </a: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you can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return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depends upon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current &amp;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potential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investment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opportunities</a:t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10459766" y="3937876"/>
              <a:ext cx="1673875" cy="135421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How you choose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to return cash 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 owners will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depend whether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they </a:t>
              </a: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prefer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dividends or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buybacks</a:t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195262" y="5904749"/>
              <a:ext cx="4710113" cy="583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CC8"/>
                </a:buClr>
                <a:buSzPts val="2100"/>
                <a:buFont typeface="Arial"/>
                <a:buNone/>
              </a:pPr>
              <a:r>
                <a:rPr b="1" i="1" lang="en-US" sz="2100">
                  <a:solidFill>
                    <a:srgbClr val="00ACC8"/>
                  </a:solidFill>
                  <a:latin typeface="Arial"/>
                  <a:ea typeface="Arial"/>
                  <a:cs typeface="Arial"/>
                  <a:sym typeface="Arial"/>
                </a:rPr>
                <a:t>Source: </a:t>
              </a:r>
              <a:r>
                <a:rPr b="0" i="1" lang="en-US" sz="2100">
                  <a:solidFill>
                    <a:srgbClr val="00ACC8"/>
                  </a:solidFill>
                  <a:latin typeface="Arial"/>
                  <a:ea typeface="Arial"/>
                  <a:cs typeface="Arial"/>
                  <a:sym typeface="Arial"/>
                </a:rPr>
                <a:t>Corporate Finance, Aswath Damodaran</a:t>
              </a:r>
              <a:endParaRPr b="0" i="1" sz="2100">
                <a:solidFill>
                  <a:srgbClr val="00AC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" name="Google Shape;132;p3"/>
            <p:cNvCxnSpPr/>
            <p:nvPr/>
          </p:nvCxnSpPr>
          <p:spPr>
            <a:xfrm rot="10800000">
              <a:off x="5743575" y="1563724"/>
              <a:ext cx="0" cy="502367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3" name="Google Shape;133;p3"/>
            <p:cNvCxnSpPr/>
            <p:nvPr/>
          </p:nvCxnSpPr>
          <p:spPr>
            <a:xfrm>
              <a:off x="2362200" y="1752600"/>
              <a:ext cx="72390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3"/>
            <p:cNvCxnSpPr/>
            <p:nvPr/>
          </p:nvCxnSpPr>
          <p:spPr>
            <a:xfrm>
              <a:off x="2362200" y="1752600"/>
              <a:ext cx="0" cy="356227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5" name="Google Shape;135;p3"/>
            <p:cNvCxnSpPr>
              <a:endCxn id="123" idx="0"/>
            </p:cNvCxnSpPr>
            <p:nvPr/>
          </p:nvCxnSpPr>
          <p:spPr>
            <a:xfrm flipH="1">
              <a:off x="9599571" y="1752591"/>
              <a:ext cx="1500" cy="313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6" name="Google Shape;136;p3"/>
            <p:cNvCxnSpPr/>
            <p:nvPr/>
          </p:nvCxnSpPr>
          <p:spPr>
            <a:xfrm flipH="1" rot="10800000">
              <a:off x="609600" y="3524249"/>
              <a:ext cx="2761812" cy="1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3"/>
            <p:cNvCxnSpPr/>
            <p:nvPr/>
          </p:nvCxnSpPr>
          <p:spPr>
            <a:xfrm>
              <a:off x="609600" y="3524250"/>
              <a:ext cx="0" cy="404159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" name="Google Shape;138;p3"/>
            <p:cNvCxnSpPr/>
            <p:nvPr/>
          </p:nvCxnSpPr>
          <p:spPr>
            <a:xfrm>
              <a:off x="2016224" y="3243195"/>
              <a:ext cx="0" cy="281054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9" name="Google Shape;139;p3"/>
            <p:cNvCxnSpPr/>
            <p:nvPr/>
          </p:nvCxnSpPr>
          <p:spPr>
            <a:xfrm>
              <a:off x="3371412" y="3523331"/>
              <a:ext cx="0" cy="406722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0" name="Google Shape;140;p3"/>
            <p:cNvCxnSpPr/>
            <p:nvPr/>
          </p:nvCxnSpPr>
          <p:spPr>
            <a:xfrm>
              <a:off x="5076852" y="3522968"/>
              <a:ext cx="0" cy="406722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1" name="Google Shape;141;p3"/>
            <p:cNvCxnSpPr/>
            <p:nvPr/>
          </p:nvCxnSpPr>
          <p:spPr>
            <a:xfrm>
              <a:off x="5076825" y="3523331"/>
              <a:ext cx="1838325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3"/>
            <p:cNvCxnSpPr/>
            <p:nvPr/>
          </p:nvCxnSpPr>
          <p:spPr>
            <a:xfrm>
              <a:off x="6905652" y="3532493"/>
              <a:ext cx="0" cy="406722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3"/>
            <p:cNvCxnSpPr>
              <a:stCxn id="122" idx="2"/>
            </p:cNvCxnSpPr>
            <p:nvPr/>
          </p:nvCxnSpPr>
          <p:spPr>
            <a:xfrm>
              <a:off x="5887313" y="3135142"/>
              <a:ext cx="0" cy="397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" name="Google Shape;144;p3"/>
            <p:cNvCxnSpPr/>
            <p:nvPr/>
          </p:nvCxnSpPr>
          <p:spPr>
            <a:xfrm>
              <a:off x="8877300" y="3502021"/>
              <a:ext cx="2314575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>
              <a:off x="8877300" y="3503918"/>
              <a:ext cx="0" cy="395916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6" name="Google Shape;146;p3"/>
            <p:cNvCxnSpPr/>
            <p:nvPr/>
          </p:nvCxnSpPr>
          <p:spPr>
            <a:xfrm>
              <a:off x="11191875" y="3513443"/>
              <a:ext cx="0" cy="376866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7" name="Google Shape;147;p3"/>
            <p:cNvCxnSpPr/>
            <p:nvPr/>
          </p:nvCxnSpPr>
          <p:spPr>
            <a:xfrm>
              <a:off x="9877425" y="3165920"/>
              <a:ext cx="0" cy="357048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idx="2" type="body"/>
          </p:nvPr>
        </p:nvSpPr>
        <p:spPr>
          <a:xfrm>
            <a:off x="1078705" y="3003607"/>
            <a:ext cx="15523370" cy="5888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>
                <a:solidFill>
                  <a:schemeClr val="dk1"/>
                </a:solidFill>
              </a:rPr>
              <a:t>I want to give you some money and ask that you choose from one of the following two alternatives: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FF9900"/>
                </a:solidFill>
              </a:rPr>
              <a:t>₹10,000 today,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>
                <a:solidFill>
                  <a:schemeClr val="dk1"/>
                </a:solidFill>
              </a:rPr>
              <a:t>           </a:t>
            </a:r>
            <a:r>
              <a:rPr b="1" lang="en-US" sz="2700">
                <a:solidFill>
                  <a:schemeClr val="dk1"/>
                </a:solidFill>
              </a:rPr>
              <a:t>OR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FF9900"/>
                </a:solidFill>
              </a:rPr>
              <a:t> ₹10,000 one year from now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700"/>
              <a:buNone/>
            </a:pPr>
            <a:r>
              <a:t/>
            </a:r>
            <a:endParaRPr b="1" sz="2700"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So which </a:t>
            </a:r>
            <a:r>
              <a:rPr b="1" lang="en-US" sz="27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would you choose and why?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5873784" y="3991372"/>
            <a:ext cx="489348" cy="1644254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26374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637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433221" y="4228951"/>
            <a:ext cx="91688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28625" lvl="0" marL="428625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Font typeface="Noto Sans Symbols"/>
              <a:buChar char="✔"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A mobile phone is available for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 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today.</a:t>
            </a:r>
            <a:endParaRPr/>
          </a:p>
          <a:p>
            <a:pPr indent="-428625" lvl="0" marL="428625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Font typeface="Noto Sans Symbols"/>
              <a:buChar char="✔"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The price of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chocolate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remains at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after 1 year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078706" y="1376461"/>
            <a:ext cx="9528452" cy="50783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Concepts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078705" y="2213117"/>
            <a:ext cx="9528452" cy="46166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Situation 1: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791072" y="650216"/>
            <a:ext cx="16407621" cy="50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00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Time Value of Money (TVM)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/>
          <p:nvPr>
            <p:ph idx="2" type="body"/>
          </p:nvPr>
        </p:nvSpPr>
        <p:spPr>
          <a:xfrm>
            <a:off x="1078705" y="3003607"/>
            <a:ext cx="15523370" cy="5888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>
                <a:solidFill>
                  <a:schemeClr val="dk1"/>
                </a:solidFill>
              </a:rPr>
              <a:t>I want to give you some money and ask that you choose one of the following two alternatives: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FF9900"/>
                </a:solidFill>
              </a:rPr>
              <a:t>₹10,000 today,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700"/>
              <a:buNone/>
            </a:pPr>
            <a:r>
              <a:rPr lang="en-US" sz="2700"/>
              <a:t>           </a:t>
            </a:r>
            <a:r>
              <a:rPr b="1" lang="en-US" sz="2700">
                <a:solidFill>
                  <a:schemeClr val="dk1"/>
                </a:solidFill>
              </a:rPr>
              <a:t>OR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FF9900"/>
                </a:solidFill>
              </a:rPr>
              <a:t> ₹11,000 one year from now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1" lang="en-US" sz="2800">
                <a:solidFill>
                  <a:srgbClr val="0000FF"/>
                </a:solidFill>
              </a:rPr>
              <a:t>Now, suppose you could earn 10% interest per year.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Will your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choice change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If so, why?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842931" y="4063380"/>
            <a:ext cx="489348" cy="1644254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26374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637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7433221" y="4228951"/>
            <a:ext cx="91688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28625" lvl="0" marL="428625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Font typeface="Noto Sans Symbols"/>
              <a:buChar char="✔"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A mobile phone is available for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 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today.</a:t>
            </a:r>
            <a:endParaRPr/>
          </a:p>
          <a:p>
            <a:pPr indent="-428625" lvl="0" marL="428625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Font typeface="Noto Sans Symbols"/>
              <a:buChar char="✔"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The price of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chocolate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remains at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after 1 year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1078706" y="1376461"/>
            <a:ext cx="9528452" cy="50783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Concepts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078705" y="2213117"/>
            <a:ext cx="9528452" cy="46166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Situation 2: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791072" y="650216"/>
            <a:ext cx="16407621" cy="50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00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Time Value of Money (TVM)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idx="2" type="body"/>
          </p:nvPr>
        </p:nvSpPr>
        <p:spPr>
          <a:xfrm>
            <a:off x="1078705" y="3003607"/>
            <a:ext cx="15523370" cy="5888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>
                <a:solidFill>
                  <a:schemeClr val="dk1"/>
                </a:solidFill>
              </a:rPr>
              <a:t>I want to give you some money and ask that you choose one of the following </a:t>
            </a:r>
            <a:r>
              <a:rPr b="1" lang="en-US" sz="2700">
                <a:solidFill>
                  <a:schemeClr val="dk1"/>
                </a:solidFill>
              </a:rPr>
              <a:t>two alternatives: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FF9900"/>
                </a:solidFill>
              </a:rPr>
              <a:t>₹10,000 today,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>
                <a:solidFill>
                  <a:schemeClr val="dk1"/>
                </a:solidFill>
              </a:rPr>
              <a:t>           </a:t>
            </a:r>
            <a:r>
              <a:rPr b="1" lang="en-US" sz="2700">
                <a:solidFill>
                  <a:schemeClr val="dk1"/>
                </a:solidFill>
              </a:rPr>
              <a:t>OR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9900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FF9900"/>
                </a:solidFill>
              </a:rPr>
              <a:t> ₹11,000 one year from now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1" lang="en-US" sz="2800">
                <a:solidFill>
                  <a:srgbClr val="0000FF"/>
                </a:solidFill>
              </a:rPr>
              <a:t>Now, the price of the phone has gone up by 20% in 1-years time.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800"/>
              <a:buNone/>
            </a:pPr>
            <a:r>
              <a:rPr b="1" lang="en-US" sz="2800">
                <a:solidFill>
                  <a:srgbClr val="0000FF"/>
                </a:solidFill>
              </a:rPr>
              <a:t>The interest rate remains at 10% per annum.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Will your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choice change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If so, why?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842931" y="3991372"/>
            <a:ext cx="489348" cy="1644254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26374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637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7433221" y="4228951"/>
            <a:ext cx="91688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28625" lvl="0" marL="428625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Font typeface="Noto Sans Symbols"/>
              <a:buChar char="✔"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A mobile phone is available for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 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today.</a:t>
            </a:r>
            <a:endParaRPr/>
          </a:p>
          <a:p>
            <a:pPr indent="-428625" lvl="0" marL="428625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Font typeface="Noto Sans Symbols"/>
              <a:buChar char="✔"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The price of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phone has increased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₹12,000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after 1 year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078706" y="1376461"/>
            <a:ext cx="9528452" cy="50783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Concepts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1078705" y="2213117"/>
            <a:ext cx="9528452" cy="46166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Situation 3: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791072" y="650216"/>
            <a:ext cx="16407621" cy="50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00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Time Value of Money (TVM)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1078706" y="1376461"/>
            <a:ext cx="9528452" cy="50783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Concepts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1078705" y="2213117"/>
            <a:ext cx="9528452" cy="461665"/>
          </a:xfrm>
          <a:prstGeom prst="rect">
            <a:avLst/>
          </a:prstGeom>
          <a:solidFill>
            <a:srgbClr val="F57A1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Factors affecting the Time Value of Money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1421773" y="3003606"/>
            <a:ext cx="12780002" cy="6727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always a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trade-off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current consumption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future consumption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of us prefer present consumption over future consumption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Investing today to generate returns and grow wealth over time.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time,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purchasing power of money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goes down due to inflation.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opportunity costs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associated with every decision.</a:t>
            </a:r>
            <a:endParaRPr/>
          </a:p>
          <a:p>
            <a:pPr indent="-57150" lvl="0" marL="228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rgbClr val="00ACC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Courier New"/>
              <a:buNone/>
            </a:pPr>
            <a:r>
              <a:t/>
            </a:r>
            <a:endParaRPr sz="24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1078706" y="1376461"/>
            <a:ext cx="9528452" cy="507831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Concepts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1078705" y="2213117"/>
            <a:ext cx="9528452" cy="461665"/>
          </a:xfrm>
          <a:prstGeom prst="rect">
            <a:avLst/>
          </a:prstGeom>
          <a:solidFill>
            <a:srgbClr val="F57A1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Value &amp; Compounding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964574" y="3030521"/>
            <a:ext cx="16394739" cy="6393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urier New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 invest ₹100 in a savings account that pays 10% interest per year. How much will you receive after 1 year?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You will have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₹110 =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Original principal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₹100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 Interest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₹10</a:t>
            </a:r>
            <a:r>
              <a:rPr lang="en-US" sz="2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2951312" y="4129851"/>
            <a:ext cx="23591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Value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6402013" y="4946924"/>
            <a:ext cx="2100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Value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 rot="10800000">
            <a:off x="3329677" y="4790705"/>
            <a:ext cx="707234" cy="390563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744911" y="4267849"/>
            <a:ext cx="707234" cy="390563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0901364" y="7485018"/>
            <a:ext cx="71294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 + 0.10 = 1.1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Rupees per Rupee invested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3854742" y="8923385"/>
            <a:ext cx="102835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invested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₹100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our example, which will grow to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₹100 x 1.1 = ₹110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623568" y="6120864"/>
            <a:ext cx="127511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 we invest for one time period at an interest rate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‘r’,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investment will grow to 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(1+r)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8"/>
          <p:cNvCxnSpPr/>
          <p:nvPr/>
        </p:nvCxnSpPr>
        <p:spPr>
          <a:xfrm>
            <a:off x="12487275" y="6679232"/>
            <a:ext cx="0" cy="879407"/>
          </a:xfrm>
          <a:prstGeom prst="straightConnector1">
            <a:avLst/>
          </a:prstGeom>
          <a:noFill/>
          <a:ln cap="flat" cmpd="sng" w="28575">
            <a:solidFill>
              <a:srgbClr val="26374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8"/>
          <p:cNvCxnSpPr/>
          <p:nvPr/>
        </p:nvCxnSpPr>
        <p:spPr>
          <a:xfrm>
            <a:off x="12487275" y="8026916"/>
            <a:ext cx="0" cy="879407"/>
          </a:xfrm>
          <a:prstGeom prst="straightConnector1">
            <a:avLst/>
          </a:prstGeom>
          <a:noFill/>
          <a:ln cap="flat" cmpd="sng" w="28575">
            <a:solidFill>
              <a:srgbClr val="26374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8"/>
          <p:cNvSpPr/>
          <p:nvPr/>
        </p:nvSpPr>
        <p:spPr>
          <a:xfrm>
            <a:off x="8790383" y="4247068"/>
            <a:ext cx="707234" cy="390563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209" name="Google Shape;209;p9"/>
          <p:cNvSpPr txBox="1"/>
          <p:nvPr>
            <p:ph idx="2" type="body"/>
          </p:nvPr>
        </p:nvSpPr>
        <p:spPr>
          <a:xfrm>
            <a:off x="946631" y="2020066"/>
            <a:ext cx="16394739" cy="6393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b="1" lang="en-US" sz="2700">
                <a:solidFill>
                  <a:schemeClr val="dk1"/>
                </a:solidFill>
              </a:rPr>
              <a:t>Suppose you invest </a:t>
            </a:r>
            <a:r>
              <a:rPr b="1" lang="en-US" sz="2700">
                <a:solidFill>
                  <a:srgbClr val="FF9900"/>
                </a:solidFill>
              </a:rPr>
              <a:t>₹100 </a:t>
            </a:r>
            <a:r>
              <a:rPr b="1" lang="en-US" sz="2700">
                <a:solidFill>
                  <a:schemeClr val="dk1"/>
                </a:solidFill>
              </a:rPr>
              <a:t>in a savings account that pays </a:t>
            </a:r>
            <a:r>
              <a:rPr b="1" lang="en-US" sz="2700">
                <a:solidFill>
                  <a:srgbClr val="FF9900"/>
                </a:solidFill>
              </a:rPr>
              <a:t>10% interest per year.</a:t>
            </a:r>
            <a:r>
              <a:rPr b="1" lang="en-US" sz="2700">
                <a:solidFill>
                  <a:schemeClr val="dk1"/>
                </a:solidFill>
              </a:rPr>
              <a:t> How much will you receive in </a:t>
            </a:r>
            <a:r>
              <a:rPr b="1" lang="en-US" sz="2700">
                <a:solidFill>
                  <a:srgbClr val="FFC000"/>
                </a:solidFill>
              </a:rPr>
              <a:t>2 years’ &amp; 3 years?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700"/>
              <a:buFont typeface="Noto Sans Symbols"/>
              <a:buChar char="▪"/>
            </a:pPr>
            <a:r>
              <a:rPr b="1" lang="en-US" sz="2700">
                <a:solidFill>
                  <a:srgbClr val="0000FF"/>
                </a:solidFill>
              </a:rPr>
              <a:t>You will have </a:t>
            </a:r>
            <a:r>
              <a:rPr b="1" lang="en-US" sz="2700">
                <a:solidFill>
                  <a:srgbClr val="FF9900"/>
                </a:solidFill>
              </a:rPr>
              <a:t>₹121 </a:t>
            </a:r>
            <a:r>
              <a:rPr b="1" lang="en-US" sz="2700">
                <a:solidFill>
                  <a:srgbClr val="0000FF"/>
                </a:solidFill>
              </a:rPr>
              <a:t>= Original principal </a:t>
            </a:r>
            <a:r>
              <a:rPr b="1" lang="en-US" sz="2700">
                <a:solidFill>
                  <a:srgbClr val="FF9900"/>
                </a:solidFill>
              </a:rPr>
              <a:t>₹110 </a:t>
            </a:r>
            <a:r>
              <a:rPr b="1" lang="en-US" sz="2700">
                <a:solidFill>
                  <a:srgbClr val="0000FF"/>
                </a:solidFill>
              </a:rPr>
              <a:t>+ Interest </a:t>
            </a:r>
            <a:r>
              <a:rPr b="1" lang="en-US" sz="2700">
                <a:solidFill>
                  <a:srgbClr val="FF9900"/>
                </a:solidFill>
              </a:rPr>
              <a:t>₹10 </a:t>
            </a:r>
            <a:r>
              <a:rPr b="1" lang="en-US" sz="2700">
                <a:solidFill>
                  <a:srgbClr val="0000FF"/>
                </a:solidFill>
              </a:rPr>
              <a:t>+ Interest on interest </a:t>
            </a:r>
            <a:r>
              <a:rPr b="1" lang="en-US" sz="2700">
                <a:solidFill>
                  <a:srgbClr val="FF9900"/>
                </a:solidFill>
              </a:rPr>
              <a:t>₹1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495C"/>
              </a:buClr>
              <a:buSzPts val="2700"/>
              <a:buNone/>
            </a:pPr>
            <a:r>
              <a:rPr lang="en-US" sz="2700">
                <a:solidFill>
                  <a:srgbClr val="FF495C"/>
                </a:solidFill>
              </a:rPr>
              <a:t> 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495C"/>
              </a:buClr>
              <a:buSzPts val="2700"/>
              <a:buNone/>
            </a:pPr>
            <a:r>
              <a:rPr lang="en-US" sz="2700">
                <a:solidFill>
                  <a:srgbClr val="FF495C"/>
                </a:solidFill>
              </a:rPr>
              <a:t>                                                               </a:t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00"/>
              <a:buNone/>
            </a:pPr>
            <a:r>
              <a:t/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400"/>
              <a:buNone/>
            </a:pPr>
            <a:r>
              <a:rPr lang="en-US"/>
              <a:t>                                           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2810374" y="3943470"/>
            <a:ext cx="2356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Value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6289984" y="2769320"/>
            <a:ext cx="2100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Value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 rot="10800000">
            <a:off x="9108097" y="3914852"/>
            <a:ext cx="707234" cy="390563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758098" y="3224903"/>
            <a:ext cx="707100" cy="4617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1406558" y="4779608"/>
            <a:ext cx="244547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In 2 years’, time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1569783" y="5559532"/>
            <a:ext cx="409704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₹121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110 x 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= (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1.1) x 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(1.1 x 1.1)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1.1</a:t>
            </a:r>
            <a:r>
              <a:rPr baseline="30000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1.21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495C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</a:t>
            </a:r>
            <a:endParaRPr sz="27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0029826" y="6329363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8792900" y="4973474"/>
            <a:ext cx="244547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In 3 years’, time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8502275" y="5559532"/>
            <a:ext cx="5170863" cy="4939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₹133.10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 x 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= (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110 x 1.1) x 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= (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1.1) x 1.1 x 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(1.1 x 1.1 x 1.1)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1.1</a:t>
            </a:r>
            <a:r>
              <a:rPr baseline="30000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x 1.331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495C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</a:t>
            </a:r>
            <a:endParaRPr sz="27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5166710" y="8021723"/>
            <a:ext cx="6411522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Future Value = $1 x (1+r)</a:t>
            </a:r>
            <a:r>
              <a:rPr b="1" baseline="30000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6289978" y="9097194"/>
            <a:ext cx="46542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Future value interest factor (FVIF)</a:t>
            </a:r>
            <a:endParaRPr/>
          </a:p>
        </p:txBody>
      </p:sp>
      <p:cxnSp>
        <p:nvCxnSpPr>
          <p:cNvPr id="221" name="Google Shape;221;p9"/>
          <p:cNvCxnSpPr/>
          <p:nvPr/>
        </p:nvCxnSpPr>
        <p:spPr>
          <a:xfrm>
            <a:off x="8378195" y="8575721"/>
            <a:ext cx="0" cy="44024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9"/>
          <p:cNvSpPr txBox="1"/>
          <p:nvPr/>
        </p:nvSpPr>
        <p:spPr>
          <a:xfrm>
            <a:off x="1079104" y="1418735"/>
            <a:ext cx="9528452" cy="461665"/>
          </a:xfrm>
          <a:prstGeom prst="rect">
            <a:avLst/>
          </a:prstGeom>
          <a:solidFill>
            <a:srgbClr val="F57A1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Value &amp; Compounding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 rot="10800000">
            <a:off x="12594977" y="3862665"/>
            <a:ext cx="707234" cy="390563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 rot="10800000">
            <a:off x="6439834" y="3733579"/>
            <a:ext cx="707100" cy="3906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rgbClr val="FF495C"/>
          </a:solidFill>
          <a:ln cap="flat" cmpd="sng" w="25400">
            <a:solidFill>
              <a:srgbClr val="FF4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4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 b="1">
              <a:solidFill>
                <a:srgbClr val="00ACC8"/>
              </a:solidFill>
            </a:endParaRPr>
          </a:p>
        </p:txBody>
      </p:sp>
      <p:sp>
        <p:nvSpPr>
          <p:cNvPr id="230" name="Google Shape;230;p10"/>
          <p:cNvSpPr txBox="1"/>
          <p:nvPr>
            <p:ph idx="2" type="body"/>
          </p:nvPr>
        </p:nvSpPr>
        <p:spPr>
          <a:xfrm>
            <a:off x="946631" y="2020066"/>
            <a:ext cx="16394739" cy="6393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b="1" lang="en-US" sz="2700">
                <a:solidFill>
                  <a:schemeClr val="dk1"/>
                </a:solidFill>
              </a:rPr>
              <a:t>Using the same example of </a:t>
            </a:r>
            <a:r>
              <a:rPr b="1" lang="en-US" sz="2700">
                <a:solidFill>
                  <a:srgbClr val="FF9900"/>
                </a:solidFill>
              </a:rPr>
              <a:t>₹100 </a:t>
            </a:r>
            <a:r>
              <a:rPr b="1" lang="en-US" sz="2700">
                <a:solidFill>
                  <a:schemeClr val="dk1"/>
                </a:solidFill>
              </a:rPr>
              <a:t>invested </a:t>
            </a:r>
            <a:r>
              <a:rPr b="1" lang="en-US" sz="2700">
                <a:solidFill>
                  <a:srgbClr val="FF9900"/>
                </a:solidFill>
              </a:rPr>
              <a:t>@ 10% </a:t>
            </a:r>
            <a:r>
              <a:rPr b="1" lang="en-US" sz="2700">
                <a:solidFill>
                  <a:schemeClr val="dk1"/>
                </a:solidFill>
              </a:rPr>
              <a:t>interest per year for </a:t>
            </a:r>
            <a:r>
              <a:rPr b="1" lang="en-US" sz="2700">
                <a:solidFill>
                  <a:srgbClr val="FF9900"/>
                </a:solidFill>
              </a:rPr>
              <a:t>5 years. </a:t>
            </a:r>
            <a:r>
              <a:rPr b="1" lang="en-US" sz="2700">
                <a:solidFill>
                  <a:schemeClr val="dk1"/>
                </a:solidFill>
              </a:rPr>
              <a:t>The </a:t>
            </a:r>
            <a:r>
              <a:rPr b="1" lang="en-US" sz="2700">
                <a:solidFill>
                  <a:srgbClr val="0000FF"/>
                </a:solidFill>
              </a:rPr>
              <a:t>Future Value of</a:t>
            </a:r>
            <a:r>
              <a:rPr b="1" lang="en-US" sz="2700">
                <a:solidFill>
                  <a:schemeClr val="dk1"/>
                </a:solidFill>
              </a:rPr>
              <a:t> </a:t>
            </a:r>
            <a:r>
              <a:rPr b="1" lang="en-US" sz="2700">
                <a:solidFill>
                  <a:srgbClr val="FF9900"/>
                </a:solidFill>
              </a:rPr>
              <a:t>₹100</a:t>
            </a:r>
            <a:r>
              <a:rPr b="1" lang="en-US" sz="2700"/>
              <a:t> </a:t>
            </a:r>
            <a:r>
              <a:rPr b="1" lang="en-US" sz="2700">
                <a:solidFill>
                  <a:schemeClr val="dk1"/>
                </a:solidFill>
              </a:rPr>
              <a:t>under both </a:t>
            </a:r>
            <a:r>
              <a:rPr b="1" lang="en-US" sz="2700">
                <a:solidFill>
                  <a:srgbClr val="0000FF"/>
                </a:solidFill>
              </a:rPr>
              <a:t>Simple Interest </a:t>
            </a:r>
            <a:r>
              <a:rPr b="1" lang="en-US" sz="2700">
                <a:solidFill>
                  <a:schemeClr val="dk1"/>
                </a:solidFill>
              </a:rPr>
              <a:t>and </a:t>
            </a:r>
            <a:r>
              <a:rPr b="1" lang="en-US" sz="2700">
                <a:solidFill>
                  <a:srgbClr val="0000FF"/>
                </a:solidFill>
              </a:rPr>
              <a:t>Compound Interest </a:t>
            </a:r>
            <a:r>
              <a:rPr b="1" lang="en-US" sz="2700">
                <a:solidFill>
                  <a:schemeClr val="dk1"/>
                </a:solidFill>
              </a:rPr>
              <a:t>will be as follows: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495C"/>
              </a:buClr>
              <a:buSzPts val="2700"/>
              <a:buNone/>
            </a:pPr>
            <a:r>
              <a:rPr lang="en-US" sz="2700">
                <a:solidFill>
                  <a:srgbClr val="FF495C"/>
                </a:solidFill>
              </a:rPr>
              <a:t> 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495C"/>
              </a:buClr>
              <a:buSzPts val="2700"/>
              <a:buNone/>
            </a:pPr>
            <a:r>
              <a:rPr lang="en-US" sz="2700">
                <a:solidFill>
                  <a:srgbClr val="FF495C"/>
                </a:solidFill>
              </a:rPr>
              <a:t>                                                               </a:t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00"/>
              <a:buNone/>
            </a:pPr>
            <a:r>
              <a:t/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ts val="2400"/>
              <a:buNone/>
            </a:pPr>
            <a:r>
              <a:rPr lang="en-US"/>
              <a:t>                                           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10029826" y="6329363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" name="Google Shape;232;p10"/>
          <p:cNvGraphicFramePr/>
          <p:nvPr/>
        </p:nvGraphicFramePr>
        <p:xfrm>
          <a:off x="1845215" y="3667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{DDA44A8F-B6A6-44B7-BCA2-73875C0B5921}</a:tableStyleId>
              </a:tblPr>
              <a:tblGrid>
                <a:gridCol w="2030850"/>
                <a:gridCol w="2030850"/>
                <a:gridCol w="2030850"/>
                <a:gridCol w="2030850"/>
                <a:gridCol w="2030850"/>
                <a:gridCol w="2030850"/>
              </a:tblGrid>
              <a:tr h="138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Year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Beginning Amount (₹)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Interest (₹)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Compound Interest ($)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Interest Earned (₹)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Ending Amount (₹)</a:t>
                      </a:r>
                      <a:endParaRPr/>
                    </a:p>
                  </a:txBody>
                  <a:tcPr marT="68575" marB="68575" marR="137150" marL="137150"/>
                </a:tc>
              </a:tr>
              <a:tr h="56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110.00</a:t>
                      </a:r>
                      <a:endParaRPr/>
                    </a:p>
                  </a:txBody>
                  <a:tcPr marT="68575" marB="68575" marR="137150" marL="137150"/>
                </a:tc>
              </a:tr>
              <a:tr h="56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2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11.00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121.00</a:t>
                      </a:r>
                      <a:endParaRPr/>
                    </a:p>
                  </a:txBody>
                  <a:tcPr marT="68575" marB="68575" marR="137150" marL="137150"/>
                </a:tc>
              </a:tr>
              <a:tr h="56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3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121.00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2.10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12.10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133.10</a:t>
                      </a:r>
                      <a:endParaRPr/>
                    </a:p>
                  </a:txBody>
                  <a:tcPr marT="68575" marB="68575" marR="137150" marL="137150"/>
                </a:tc>
              </a:tr>
              <a:tr h="56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4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133.10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3.31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13.31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146.41</a:t>
                      </a:r>
                      <a:endParaRPr/>
                    </a:p>
                  </a:txBody>
                  <a:tcPr marT="68575" marB="68575" marR="137150" marL="137150"/>
                </a:tc>
              </a:tr>
              <a:tr h="56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5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146.41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10.00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4.64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14.64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161.05</a:t>
                      </a:r>
                      <a:endParaRPr/>
                    </a:p>
                  </a:txBody>
                  <a:tcPr marT="68575" marB="68575" marR="137150" marL="1371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rgbClr val="FF99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₹50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rgbClr val="FF99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₹11.05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rgbClr val="FF99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₹61.05</a:t>
                      </a:r>
                      <a:endParaRPr/>
                    </a:p>
                  </a:txBody>
                  <a:tcPr marT="68575" marB="68575" marR="137150" marL="1371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68575" marB="68575" marR="137150" marL="137150"/>
                </a:tc>
              </a:tr>
            </a:tbl>
          </a:graphicData>
        </a:graphic>
      </p:graphicFrame>
      <p:sp>
        <p:nvSpPr>
          <p:cNvPr id="233" name="Google Shape;233;p10"/>
          <p:cNvSpPr txBox="1"/>
          <p:nvPr/>
        </p:nvSpPr>
        <p:spPr>
          <a:xfrm>
            <a:off x="6079266" y="8577057"/>
            <a:ext cx="13359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Simple Interest</a:t>
            </a:r>
            <a:endParaRPr b="1" baseline="30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7966331" y="8513435"/>
            <a:ext cx="17585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Compound Interest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10029826" y="8659836"/>
            <a:ext cx="38344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Interest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964574" y="1458525"/>
            <a:ext cx="9528452" cy="461665"/>
          </a:xfrm>
          <a:prstGeom prst="rect">
            <a:avLst/>
          </a:prstGeom>
          <a:solidFill>
            <a:srgbClr val="F57A1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 look at Simple Interest &amp; Compound Interest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242" name="Google Shape;242;p11"/>
          <p:cNvSpPr txBox="1"/>
          <p:nvPr>
            <p:ph idx="2" type="body"/>
          </p:nvPr>
        </p:nvSpPr>
        <p:spPr>
          <a:xfrm>
            <a:off x="946631" y="2020066"/>
            <a:ext cx="16394739" cy="6393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9600">
                <a:solidFill>
                  <a:schemeClr val="dk1"/>
                </a:solidFill>
              </a:rPr>
              <a:t>Imagine if my great-grandfather had invested </a:t>
            </a:r>
            <a:r>
              <a:rPr b="1" lang="en-US" sz="9600">
                <a:solidFill>
                  <a:srgbClr val="FF9900"/>
                </a:solidFill>
              </a:rPr>
              <a:t>₹100</a:t>
            </a:r>
            <a:r>
              <a:rPr b="1" lang="en-US" sz="9600">
                <a:solidFill>
                  <a:schemeClr val="dk1"/>
                </a:solidFill>
              </a:rPr>
              <a:t> in </a:t>
            </a:r>
            <a:r>
              <a:rPr b="1" lang="en-US" sz="9600">
                <a:solidFill>
                  <a:srgbClr val="0000FF"/>
                </a:solidFill>
              </a:rPr>
              <a:t>1900</a:t>
            </a:r>
            <a:r>
              <a:rPr b="1" lang="en-US" sz="9600">
                <a:solidFill>
                  <a:schemeClr val="dk1"/>
                </a:solidFill>
              </a:rPr>
              <a:t> in my </a:t>
            </a:r>
            <a:r>
              <a:rPr b="1" lang="en-US" sz="9600">
                <a:solidFill>
                  <a:srgbClr val="0000FF"/>
                </a:solidFill>
              </a:rPr>
              <a:t>family name at 10%. </a:t>
            </a:r>
            <a:r>
              <a:rPr b="1" lang="en-US" sz="9600">
                <a:solidFill>
                  <a:schemeClr val="dk1"/>
                </a:solidFill>
              </a:rPr>
              <a:t>How much would it be worth today?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b="1" lang="en-US" sz="9600">
                <a:solidFill>
                  <a:srgbClr val="0000FF"/>
                </a:solidFill>
              </a:rPr>
              <a:t>Today, the investment would be worth,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ACC8"/>
              </a:buClr>
              <a:buSzPct val="100000"/>
              <a:buNone/>
            </a:pPr>
            <a:r>
              <a:rPr lang="en-US" sz="2700">
                <a:solidFill>
                  <a:srgbClr val="00ACC8"/>
                </a:solidFill>
              </a:rPr>
              <a:t>                                              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t/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ACC8"/>
              </a:buClr>
              <a:buSzPct val="100000"/>
              <a:buNone/>
            </a:pPr>
            <a:r>
              <a:rPr lang="en-US" sz="2700">
                <a:solidFill>
                  <a:srgbClr val="00ACC8"/>
                </a:solidFill>
              </a:rPr>
              <a:t>			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ACC8"/>
              </a:buClr>
              <a:buSzPct val="100000"/>
              <a:buNone/>
            </a:pPr>
            <a:r>
              <a:rPr lang="en-US" sz="8600">
                <a:solidFill>
                  <a:srgbClr val="00ACC8"/>
                </a:solidFill>
              </a:rPr>
              <a:t>                                                                                                               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ACC8"/>
              </a:buClr>
              <a:buSzPct val="100000"/>
              <a:buNone/>
            </a:pPr>
            <a:r>
              <a:rPr lang="en-US" sz="8600">
                <a:solidFill>
                  <a:srgbClr val="00ACC8"/>
                </a:solidFill>
              </a:rPr>
              <a:t>                                                   </a:t>
            </a:r>
            <a:r>
              <a:rPr lang="en-US" sz="9600">
                <a:solidFill>
                  <a:schemeClr val="dk1"/>
                </a:solidFill>
              </a:rPr>
              <a:t>= ₹10 x (1+r)</a:t>
            </a:r>
            <a:r>
              <a:rPr baseline="30000" lang="en-US" sz="9600">
                <a:solidFill>
                  <a:schemeClr val="dk1"/>
                </a:solidFill>
              </a:rPr>
              <a:t>t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aseline="30000" lang="en-US" sz="8600">
                <a:solidFill>
                  <a:schemeClr val="dk1"/>
                </a:solidFill>
              </a:rPr>
              <a:t>                                                                           </a:t>
            </a:r>
            <a:r>
              <a:rPr lang="en-US" sz="9600">
                <a:solidFill>
                  <a:schemeClr val="dk1"/>
                </a:solidFill>
              </a:rPr>
              <a:t>= ₹10 x 1.1</a:t>
            </a:r>
            <a:r>
              <a:rPr baseline="30000" lang="en-US" sz="9600">
                <a:solidFill>
                  <a:schemeClr val="dk1"/>
                </a:solidFill>
              </a:rPr>
              <a:t>120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aseline="30000" lang="en-US" sz="8600">
                <a:solidFill>
                  <a:schemeClr val="dk1"/>
                </a:solidFill>
              </a:rPr>
              <a:t>                                                                           </a:t>
            </a:r>
            <a:r>
              <a:rPr lang="en-US" sz="9600">
                <a:solidFill>
                  <a:schemeClr val="dk1"/>
                </a:solidFill>
              </a:rPr>
              <a:t>= ₹10 x 92709.07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8600">
                <a:solidFill>
                  <a:schemeClr val="dk1"/>
                </a:solidFill>
              </a:rPr>
              <a:t>                                                  </a:t>
            </a:r>
            <a:r>
              <a:rPr b="1" lang="en-US" sz="9600">
                <a:solidFill>
                  <a:srgbClr val="FF9900"/>
                </a:solidFill>
              </a:rPr>
              <a:t>= ₹927,090.7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t/>
            </a:r>
            <a:endParaRPr sz="2700">
              <a:solidFill>
                <a:srgbClr val="FF495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t/>
            </a:r>
            <a:endParaRPr sz="2700">
              <a:solidFill>
                <a:srgbClr val="FF495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t/>
            </a:r>
            <a:endParaRPr sz="2700">
              <a:solidFill>
                <a:srgbClr val="FF495C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t/>
            </a:r>
            <a:endParaRPr baseline="30000"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FF495C"/>
              </a:buClr>
              <a:buSzPct val="100000"/>
              <a:buNone/>
            </a:pPr>
            <a:r>
              <a:rPr lang="en-US" sz="2700">
                <a:solidFill>
                  <a:srgbClr val="FF495C"/>
                </a:solidFill>
              </a:rPr>
              <a:t> 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495C"/>
              </a:buClr>
              <a:buSzPct val="100000"/>
              <a:buNone/>
            </a:pPr>
            <a:r>
              <a:rPr lang="en-US" sz="2700">
                <a:solidFill>
                  <a:srgbClr val="FF495C"/>
                </a:solidFill>
              </a:rPr>
              <a:t>                                                               </a:t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t/>
            </a:r>
            <a:endParaRPr sz="2700">
              <a:solidFill>
                <a:srgbClr val="00ACC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666666"/>
              </a:buClr>
              <a:buSzPct val="100000"/>
              <a:buNone/>
            </a:pPr>
            <a:r>
              <a:rPr lang="en-US"/>
              <a:t>                                           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10029826" y="6329363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5687616" y="3559324"/>
            <a:ext cx="64115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Future Value = ₹1 x (1+r)t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1151112" y="1352007"/>
            <a:ext cx="9528452" cy="461665"/>
          </a:xfrm>
          <a:prstGeom prst="rect">
            <a:avLst/>
          </a:prstGeom>
          <a:solidFill>
            <a:srgbClr val="F57A1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Power of Comppounding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Compounding vs. Discounting</a:t>
            </a:r>
            <a:endParaRPr sz="45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85800" y="2606040"/>
            <a:ext cx="8092440" cy="288036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028700" y="281178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COMPOUNDING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1028700" y="3319272"/>
            <a:ext cx="74066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Moves value FORWARD in time — Present Value → Future Value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2"/>
          <p:cNvCxnSpPr/>
          <p:nvPr/>
        </p:nvCxnSpPr>
        <p:spPr>
          <a:xfrm>
            <a:off x="1097280" y="4800600"/>
            <a:ext cx="699516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2"/>
          <p:cNvSpPr/>
          <p:nvPr/>
        </p:nvSpPr>
        <p:spPr>
          <a:xfrm rot="5400000">
            <a:off x="8051292" y="467715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097280" y="470458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342900" y="496519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(today)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680960" y="470458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6926580" y="496519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(future)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1028700" y="507492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FV = PV × (1 + r)ⁿ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9464040" y="2606040"/>
            <a:ext cx="8092440" cy="2880360"/>
          </a:xfrm>
          <a:prstGeom prst="roundRect">
            <a:avLst>
              <a:gd fmla="val 476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9806940" y="281178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DISCOUNTING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9806940" y="3319272"/>
            <a:ext cx="74066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Moves value BACKWARD in time — Future Value → Present Value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2"/>
          <p:cNvCxnSpPr/>
          <p:nvPr/>
        </p:nvCxnSpPr>
        <p:spPr>
          <a:xfrm>
            <a:off x="9875520" y="4800600"/>
            <a:ext cx="699516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2"/>
          <p:cNvSpPr/>
          <p:nvPr/>
        </p:nvSpPr>
        <p:spPr>
          <a:xfrm rot="-5400000">
            <a:off x="9669780" y="467715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9779508" y="470458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6774668" y="470458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9121140" y="496519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PV (today)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16020288" y="496519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FV (future)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9806940" y="507492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FV ÷ (1 + r)ⁿ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85800" y="5966460"/>
            <a:ext cx="16870680" cy="260604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1028700" y="6172200"/>
            <a:ext cx="1618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1028700" y="6611112"/>
            <a:ext cx="161848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1950"/>
              <a:buFont typeface="Calibri"/>
              <a:buChar char="•"/>
            </a:pPr>
            <a:r>
              <a:rPr lang="en-US" sz="195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Present Value      FV = Future Value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3C4A6B"/>
              </a:buClr>
              <a:buSzPts val="1950"/>
              <a:buFont typeface="Calibri"/>
              <a:buChar char="•"/>
            </a:pPr>
            <a:r>
              <a:rPr lang="en-US" sz="195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r = interest / discount rate per period      n = number of periods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3C4A6B"/>
              </a:buClr>
              <a:buSzPts val="1950"/>
              <a:buFont typeface="Calibri"/>
              <a:buChar char="•"/>
            </a:pPr>
            <a:r>
              <a:rPr lang="en-US" sz="195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(1 + r)ⁿ is the compounding factor;  1 ÷ (1 + r)ⁿ is the discounting (PV) factor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Key Notations:</a:t>
            </a:r>
            <a:endParaRPr/>
          </a:p>
        </p:txBody>
      </p:sp>
      <p:graphicFrame>
        <p:nvGraphicFramePr>
          <p:cNvPr id="284" name="Google Shape;284;p13"/>
          <p:cNvGraphicFramePr/>
          <p:nvPr/>
        </p:nvGraphicFramePr>
        <p:xfrm>
          <a:off x="685800" y="25374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{9CAFA069-AD50-4BBC-A327-863A79B21BA8}</a:tableStyleId>
              </a:tblPr>
              <a:tblGrid>
                <a:gridCol w="2468875"/>
                <a:gridCol w="14401800"/>
              </a:tblGrid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Symbol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PV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 Value — value of a cash flow today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FV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Value — value of a cash flow at a future date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CF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Cash Flow — an amount received or paid at a point in time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Interest rate / discount rate / required rate of return per period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compounding / discounting periods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Constant growth rate of cash flows (used in growing annuity/perpetuity)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8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Annuity payment — equal periodic cash flow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13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Future Value of a Single Cash Flow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685800" y="2537460"/>
            <a:ext cx="7955280" cy="1508760"/>
          </a:xfrm>
          <a:prstGeom prst="roundRect">
            <a:avLst>
              <a:gd fmla="val 9091" name="adj"/>
            </a:avLst>
          </a:prstGeom>
          <a:solidFill>
            <a:srgbClr val="0000FF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960120" y="2702052"/>
            <a:ext cx="7406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FV = PV × (1 + r)ⁿ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960120" y="3497580"/>
            <a:ext cx="7406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Compounding formula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4"/>
          <p:cNvCxnSpPr/>
          <p:nvPr/>
        </p:nvCxnSpPr>
        <p:spPr>
          <a:xfrm>
            <a:off x="822960" y="5212080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4"/>
          <p:cNvSpPr/>
          <p:nvPr/>
        </p:nvSpPr>
        <p:spPr>
          <a:xfrm rot="5400000">
            <a:off x="8462772" y="508863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822960" y="51160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68580" y="53766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 = 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invested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4"/>
          <p:cNvCxnSpPr/>
          <p:nvPr/>
        </p:nvCxnSpPr>
        <p:spPr>
          <a:xfrm>
            <a:off x="905256" y="5788152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02" name="Google Shape;302;p14"/>
          <p:cNvSpPr txBox="1"/>
          <p:nvPr/>
        </p:nvSpPr>
        <p:spPr>
          <a:xfrm>
            <a:off x="0" y="633679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PV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8092440" y="51160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7338060" y="53766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 = 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received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4"/>
          <p:cNvCxnSpPr/>
          <p:nvPr/>
        </p:nvCxnSpPr>
        <p:spPr>
          <a:xfrm>
            <a:off x="8174736" y="445770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" name="Google Shape;306;p14"/>
          <p:cNvSpPr txBox="1"/>
          <p:nvPr/>
        </p:nvSpPr>
        <p:spPr>
          <a:xfrm>
            <a:off x="7269480" y="40325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FV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9052560" y="2537460"/>
            <a:ext cx="8503920" cy="624078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9395460" y="2743200"/>
            <a:ext cx="7818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9395460" y="3291840"/>
            <a:ext cx="78181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 student deposits ₹10,000 in a savings scheme earning 10% p.a. compounded annually. What will it be worth after 3 years?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9395460" y="4594860"/>
            <a:ext cx="78181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025"/>
              <a:buFont typeface="Calibri"/>
              <a:buChar char="•"/>
            </a:pPr>
            <a:r>
              <a:rPr lang="en-US" sz="202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₹10,000,  r = 10%,  n = 3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025"/>
              <a:buFont typeface="Calibri"/>
              <a:buChar char="•"/>
            </a:pPr>
            <a:r>
              <a:rPr lang="en-US" sz="202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= 10,000 × (1.10)³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025"/>
              <a:buFont typeface="Calibri"/>
              <a:buChar char="•"/>
            </a:pPr>
            <a:r>
              <a:rPr lang="en-US" sz="202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= 10,000 × 1.331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395460" y="6377940"/>
            <a:ext cx="7818120" cy="2057400"/>
          </a:xfrm>
          <a:prstGeom prst="roundRect">
            <a:avLst>
              <a:gd fmla="val 53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9395460" y="6515100"/>
            <a:ext cx="7818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FV = ₹13,310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9738360" y="7338060"/>
            <a:ext cx="732652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deposit grows by ₹3,310 purely through compounding.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322" name="Google Shape;322;p15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700"/>
              <a:buNone/>
            </a:pPr>
            <a:r>
              <a:rPr b="1" lang="en-US" sz="2700">
                <a:solidFill>
                  <a:srgbClr val="FF9900"/>
                </a:solidFill>
              </a:rPr>
              <a:t>Annual Percentage Rate (APR)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1806295" y="3470532"/>
            <a:ext cx="1128713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amount (FV) she will owe at the end of the n</a:t>
            </a:r>
            <a:r>
              <a:rPr b="1" baseline="30000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year is given by: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2803049" y="4484793"/>
            <a:ext cx="299702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FV = PV x (1+r)</a:t>
            </a:r>
            <a:r>
              <a:rPr b="1" baseline="30000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1685927" y="8505809"/>
            <a:ext cx="1077924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percentage rate (APR) : </a:t>
            </a:r>
            <a:r>
              <a:rPr b="1" lang="en-US" sz="30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{(₹126.82 - ₹100)/ ₹100}*100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8572500" y="4332555"/>
            <a:ext cx="8878014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PV= Principal or present value; r=rate of interest; n= number of periods or years</a:t>
            </a:r>
            <a:endParaRPr/>
          </a:p>
        </p:txBody>
      </p:sp>
      <p:sp>
        <p:nvSpPr>
          <p:cNvPr id="327" name="Google Shape;327;p15"/>
          <p:cNvSpPr txBox="1"/>
          <p:nvPr/>
        </p:nvSpPr>
        <p:spPr>
          <a:xfrm>
            <a:off x="963917" y="1952099"/>
            <a:ext cx="1427610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Question: </a:t>
            </a: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credit card company charges a nominal rate of 2% per month. If a customer has purchased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₹100 </a:t>
            </a: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worth of goods on her credit card, calculate the amount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she will owe after 1 year</a:t>
            </a: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US" sz="2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annual percentage rate (APR).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5864911" y="5985473"/>
            <a:ext cx="447411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FV = 100 x (1+0.02)</a:t>
            </a:r>
            <a:r>
              <a:rPr b="1" baseline="30000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baseline="30000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183604" y="5662869"/>
            <a:ext cx="5843588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Here </a:t>
            </a: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PV= </a:t>
            </a:r>
            <a:r>
              <a:rPr b="1"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100; r=2% or 0.02; n= 12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5976206" y="6752271"/>
            <a:ext cx="364544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FV = 100 x 1.2682</a:t>
            </a:r>
            <a:endParaRPr b="1" baseline="30000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6027190" y="7563638"/>
            <a:ext cx="364544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FV = ₹126.82</a:t>
            </a:r>
            <a:endParaRPr b="1" sz="30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5330449" y="9268520"/>
            <a:ext cx="364544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APR = 26.82%</a:t>
            </a:r>
            <a:endParaRPr b="1" sz="2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12346174" y="7252380"/>
            <a:ext cx="36454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APR = 24% (2 x 12)</a:t>
            </a:r>
            <a:endParaRPr b="1" sz="32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15524042" y="7029271"/>
            <a:ext cx="935156" cy="923225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340" name="Google Shape;340;p16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None/>
            </a:pPr>
            <a:r>
              <a:rPr b="1" lang="en-US" sz="2700">
                <a:solidFill>
                  <a:srgbClr val="263746"/>
                </a:solidFill>
              </a:rPr>
              <a:t>Discounting</a:t>
            </a:r>
            <a:endParaRPr/>
          </a:p>
        </p:txBody>
      </p:sp>
      <p:sp>
        <p:nvSpPr>
          <p:cNvPr id="341" name="Google Shape;341;p16"/>
          <p:cNvSpPr txBox="1"/>
          <p:nvPr>
            <p:ph idx="2" type="body"/>
          </p:nvPr>
        </p:nvSpPr>
        <p:spPr>
          <a:xfrm>
            <a:off x="1078706" y="2135746"/>
            <a:ext cx="15523370" cy="1212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32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</a:rPr>
              <a:t>What will the </a:t>
            </a:r>
            <a:r>
              <a:rPr b="1" lang="en-US" sz="29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 </a:t>
            </a:r>
            <a:r>
              <a:rPr lang="en-US" sz="2700">
                <a:solidFill>
                  <a:schemeClr val="dk1"/>
                </a:solidFill>
              </a:rPr>
              <a:t>investment grow to if it earns a </a:t>
            </a:r>
            <a:r>
              <a:rPr b="1" lang="en-US" sz="29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7.5%</a:t>
            </a:r>
            <a:r>
              <a:rPr lang="en-US" sz="2700">
                <a:solidFill>
                  <a:schemeClr val="dk1"/>
                </a:solidFill>
              </a:rPr>
              <a:t> return every year for the next </a:t>
            </a:r>
            <a:r>
              <a:rPr b="1" lang="en-US" sz="29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5 years? </a:t>
            </a:r>
            <a:r>
              <a:rPr b="1" lang="en-US" sz="2850">
                <a:solidFill>
                  <a:schemeClr val="dk1"/>
                </a:solidFill>
              </a:rPr>
              <a:t>(Verify that the answer is about </a:t>
            </a:r>
            <a:r>
              <a:rPr b="1" lang="en-US" sz="2800">
                <a:solidFill>
                  <a:schemeClr val="dk1"/>
                </a:solidFill>
              </a:rPr>
              <a:t>₹</a:t>
            </a:r>
            <a:r>
              <a:rPr b="1" lang="en-US" sz="2850">
                <a:solidFill>
                  <a:schemeClr val="dk1"/>
                </a:solidFill>
              </a:rPr>
              <a:t>14356). 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5624424" y="6543407"/>
            <a:ext cx="24452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FV = PV(1+r)</a:t>
            </a:r>
            <a:r>
              <a:rPr b="1" baseline="30000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1250197" y="5352978"/>
            <a:ext cx="17216357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other words, we know that the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future value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₹10000.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want to know what the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present value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</a:t>
            </a:r>
            <a:r>
              <a:rPr b="1" lang="en-US" sz="2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the value of the money today.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5738725" y="3396779"/>
            <a:ext cx="54912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Another type of question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964574" y="4141183"/>
            <a:ext cx="15523370" cy="1212851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50" spcFirstLastPara="1" rIns="137150" wrap="square" tIns="68575">
            <a:norm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will need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years,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interest rate is </a:t>
            </a:r>
            <a:r>
              <a:rPr b="1" lang="en-US" sz="27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7.5%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now. How much do I need to invest now?</a:t>
            </a:r>
            <a:r>
              <a:rPr lang="en-US" sz="2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5670642" y="7407861"/>
            <a:ext cx="275327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PV = FV/(1+r)</a:t>
            </a:r>
            <a:r>
              <a:rPr b="1" baseline="30000" lang="en-US" sz="3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6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973499" y="8516331"/>
            <a:ext cx="15769752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3746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PV= Principal or present value; r=rate of interest; n= number of periods or years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353" name="Google Shape;353;p17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None/>
            </a:pPr>
            <a:r>
              <a:rPr b="1" lang="en-US" sz="2700">
                <a:solidFill>
                  <a:srgbClr val="263746"/>
                </a:solidFill>
              </a:rPr>
              <a:t>Discounting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5624423" y="5290001"/>
            <a:ext cx="24452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FV = PV(1+r)</a:t>
            </a:r>
            <a:r>
              <a:rPr b="1" baseline="30000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1650247" y="3924551"/>
            <a:ext cx="17216357" cy="961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other words, we know that the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future value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₹10,000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want to know what the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present value,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value of the money today?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5842931" y="2310767"/>
            <a:ext cx="54912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Another type of question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1250197" y="2941574"/>
            <a:ext cx="15523370" cy="1212851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50" spcFirstLastPara="1" rIns="137150" wrap="square" tIns="68575">
            <a:norm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will need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₹10,000</a:t>
            </a:r>
            <a:r>
              <a:rPr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 years,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interest rate is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7.5%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now. How much do I need to invest now?</a:t>
            </a:r>
            <a:r>
              <a:rPr lang="en-US" sz="2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5656353" y="6171494"/>
            <a:ext cx="2445285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PV = FV/(1+r)</a:t>
            </a:r>
            <a:r>
              <a:rPr b="1" baseline="30000" lang="en-US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000">
              <a:solidFill>
                <a:srgbClr val="2637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5656353" y="7100034"/>
            <a:ext cx="4233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PV =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₹</a:t>
            </a: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10000/(1+0.075)</a:t>
            </a:r>
            <a:r>
              <a:rPr b="1" baseline="30000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baseline="30000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5656353" y="8021325"/>
            <a:ext cx="4233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PV =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b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10000/(1.075)</a:t>
            </a:r>
            <a:r>
              <a:rPr b="1" baseline="30000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baseline="30000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5709971" y="8910541"/>
            <a:ext cx="423395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PV = </a:t>
            </a:r>
            <a:r>
              <a:rPr b="1" lang="en-US" sz="30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b="1" lang="en-US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6965.58</a:t>
            </a:r>
            <a:endParaRPr b="1" sz="30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11929451" y="6107455"/>
            <a:ext cx="4129712" cy="94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1/(1+r)</a:t>
            </a:r>
            <a:r>
              <a:rPr b="1" baseline="30000" lang="en-US" sz="3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known as the discounting factor</a:t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8301038" y="6214561"/>
            <a:ext cx="1785314" cy="57708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1700864" y="5290001"/>
            <a:ext cx="4586886" cy="262748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370" name="Google Shape;370;p18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None/>
            </a:pPr>
            <a:r>
              <a:rPr b="1" lang="en-US" sz="2700">
                <a:solidFill>
                  <a:srgbClr val="263746"/>
                </a:solidFill>
              </a:rPr>
              <a:t>Discounting</a:t>
            </a:r>
            <a:endParaRPr/>
          </a:p>
        </p:txBody>
      </p:sp>
      <p:sp>
        <p:nvSpPr>
          <p:cNvPr id="371" name="Google Shape;371;p18"/>
          <p:cNvSpPr txBox="1"/>
          <p:nvPr/>
        </p:nvSpPr>
        <p:spPr>
          <a:xfrm>
            <a:off x="10029826" y="6329363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1078706" y="3188064"/>
            <a:ext cx="17216357" cy="1023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other words, we know that the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future value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</a:t>
            </a:r>
            <a:r>
              <a:rPr b="1"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b="1" lang="en-US" sz="285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9000.</a:t>
            </a:r>
            <a:endParaRPr b="1" sz="2850">
              <a:solidFill>
                <a:srgbClr val="00ACC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want to know what the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present value,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the value of the money today?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1078706" y="2223326"/>
            <a:ext cx="15523370" cy="1212851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50" spcFirstLastPara="1" rIns="137150" wrap="square" tIns="68575">
            <a:norm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amount now is equivalent to</a:t>
            </a:r>
            <a:r>
              <a:rPr lang="en-US" sz="2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32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9000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 years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interest at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16.50% p.a.? </a:t>
            </a:r>
            <a:endParaRPr/>
          </a:p>
        </p:txBody>
      </p:sp>
      <p:grpSp>
        <p:nvGrpSpPr>
          <p:cNvPr id="374" name="Google Shape;374;p18"/>
          <p:cNvGrpSpPr/>
          <p:nvPr/>
        </p:nvGrpSpPr>
        <p:grpSpPr>
          <a:xfrm>
            <a:off x="6680640" y="4714317"/>
            <a:ext cx="4319499" cy="4221586"/>
            <a:chOff x="3749615" y="3495302"/>
            <a:chExt cx="2879666" cy="2814390"/>
          </a:xfrm>
        </p:grpSpPr>
        <p:sp>
          <p:nvSpPr>
            <p:cNvPr id="375" name="Google Shape;375;p18"/>
            <p:cNvSpPr txBox="1"/>
            <p:nvPr/>
          </p:nvSpPr>
          <p:spPr>
            <a:xfrm>
              <a:off x="3749615" y="3495302"/>
              <a:ext cx="16301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FV = PV(1+r)</a:t>
              </a:r>
              <a:r>
                <a:rPr b="1" baseline="30000" lang="en-US" sz="30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30000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8"/>
            <p:cNvSpPr txBox="1"/>
            <p:nvPr/>
          </p:nvSpPr>
          <p:spPr>
            <a:xfrm>
              <a:off x="3770902" y="4114329"/>
              <a:ext cx="163019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PV = FV/(1+r)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8"/>
            <p:cNvSpPr txBox="1"/>
            <p:nvPr/>
          </p:nvSpPr>
          <p:spPr>
            <a:xfrm>
              <a:off x="3770902" y="4733356"/>
              <a:ext cx="2822634" cy="348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PV = </a:t>
              </a: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9000/(1+0.165)</a:t>
              </a:r>
              <a:r>
                <a:rPr b="1" baseline="30000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baseline="3000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8"/>
            <p:cNvSpPr txBox="1"/>
            <p:nvPr/>
          </p:nvSpPr>
          <p:spPr>
            <a:xfrm>
              <a:off x="3770902" y="5347550"/>
              <a:ext cx="2822634" cy="348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PV = </a:t>
              </a: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9000/(1.165)</a:t>
              </a:r>
              <a:r>
                <a:rPr b="1" baseline="30000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baseline="3000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8"/>
            <p:cNvSpPr txBox="1"/>
            <p:nvPr/>
          </p:nvSpPr>
          <p:spPr>
            <a:xfrm>
              <a:off x="3806647" y="5940360"/>
              <a:ext cx="28226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PV = ₹4193.85</a:t>
              </a:r>
              <a:endParaRPr b="1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8"/>
          <p:cNvSpPr txBox="1"/>
          <p:nvPr/>
        </p:nvSpPr>
        <p:spPr>
          <a:xfrm>
            <a:off x="12915289" y="5704750"/>
            <a:ext cx="4129712" cy="94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1/(1+r)</a:t>
            </a:r>
            <a:r>
              <a:rPr b="1" baseline="30000" lang="en-US" sz="3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known as the discounting factor</a:t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10186366" y="5985757"/>
            <a:ext cx="1785314" cy="57708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12686702" y="4887296"/>
            <a:ext cx="4586886" cy="2627487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430908" y="4500710"/>
            <a:ext cx="4167633" cy="45312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8"/>
          <p:cNvGrpSpPr/>
          <p:nvPr/>
        </p:nvGrpSpPr>
        <p:grpSpPr>
          <a:xfrm>
            <a:off x="1014413" y="5828594"/>
            <a:ext cx="4376651" cy="2771025"/>
            <a:chOff x="1076540" y="3164296"/>
            <a:chExt cx="2917767" cy="1847350"/>
          </a:xfrm>
        </p:grpSpPr>
        <p:sp>
          <p:nvSpPr>
            <p:cNvPr id="385" name="Google Shape;385;p18"/>
            <p:cNvSpPr txBox="1"/>
            <p:nvPr/>
          </p:nvSpPr>
          <p:spPr>
            <a:xfrm>
              <a:off x="1076540" y="3164296"/>
              <a:ext cx="25810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A x (1+0.165)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1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 = 9000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8"/>
            <p:cNvSpPr txBox="1"/>
            <p:nvPr/>
          </p:nvSpPr>
          <p:spPr>
            <a:xfrm>
              <a:off x="1097828" y="4144895"/>
              <a:ext cx="2822634" cy="348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9000/(1.165)</a:t>
              </a:r>
              <a:r>
                <a:rPr b="1" baseline="30000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baseline="3000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8"/>
            <p:cNvSpPr txBox="1"/>
            <p:nvPr/>
          </p:nvSpPr>
          <p:spPr>
            <a:xfrm>
              <a:off x="1171673" y="4657703"/>
              <a:ext cx="2822634" cy="35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5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A = </a:t>
              </a:r>
              <a:r>
                <a:rPr b="1" lang="en-US" sz="2800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85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4193.85</a:t>
              </a:r>
              <a:endParaRPr b="1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8"/>
            <p:cNvSpPr txBox="1"/>
            <p:nvPr/>
          </p:nvSpPr>
          <p:spPr>
            <a:xfrm>
              <a:off x="1097828" y="3622146"/>
              <a:ext cx="25810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A x (1.165)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1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 = 9000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18"/>
          <p:cNvSpPr txBox="1"/>
          <p:nvPr/>
        </p:nvSpPr>
        <p:spPr>
          <a:xfrm>
            <a:off x="1014413" y="4962263"/>
            <a:ext cx="371107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Using Algebra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9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395" name="Google Shape;395;p19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None/>
            </a:pPr>
            <a:r>
              <a:rPr b="1" lang="en-US" sz="2700">
                <a:solidFill>
                  <a:srgbClr val="263746"/>
                </a:solidFill>
              </a:rPr>
              <a:t>Discounting</a:t>
            </a: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10029826" y="6329363"/>
            <a:ext cx="18473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1157113" y="2828117"/>
            <a:ext cx="17216357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other words, we know that the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future value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</a:t>
            </a:r>
            <a:r>
              <a:rPr b="1" lang="en-US" sz="28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1200.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want to know what the 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present value,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the value of the money today?</a:t>
            </a:r>
            <a:endParaRPr/>
          </a:p>
        </p:txBody>
      </p:sp>
      <p:sp>
        <p:nvSpPr>
          <p:cNvPr id="398" name="Google Shape;398;p19"/>
          <p:cNvSpPr txBox="1"/>
          <p:nvPr/>
        </p:nvSpPr>
        <p:spPr>
          <a:xfrm>
            <a:off x="1078706" y="2009014"/>
            <a:ext cx="15523370" cy="1212851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50" spcFirstLastPara="1" rIns="137150" wrap="square" tIns="68575">
            <a:norm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present value of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285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1,200</a:t>
            </a:r>
            <a:r>
              <a:rPr b="1" lang="en-US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receivable in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12 years, </a:t>
            </a:r>
            <a:r>
              <a:rPr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interest at </a:t>
            </a:r>
            <a:r>
              <a:rPr b="1" lang="en-US" sz="2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13%?</a:t>
            </a: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6680640" y="4500005"/>
            <a:ext cx="4319499" cy="4221586"/>
            <a:chOff x="3749615" y="3495302"/>
            <a:chExt cx="2879666" cy="2814390"/>
          </a:xfrm>
        </p:grpSpPr>
        <p:sp>
          <p:nvSpPr>
            <p:cNvPr id="400" name="Google Shape;400;p19"/>
            <p:cNvSpPr txBox="1"/>
            <p:nvPr/>
          </p:nvSpPr>
          <p:spPr>
            <a:xfrm>
              <a:off x="3749615" y="3495302"/>
              <a:ext cx="163019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FV = PV(1+r)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9"/>
            <p:cNvSpPr txBox="1"/>
            <p:nvPr/>
          </p:nvSpPr>
          <p:spPr>
            <a:xfrm>
              <a:off x="3770902" y="4114329"/>
              <a:ext cx="163019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PV = FV/(1+r)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9"/>
            <p:cNvSpPr txBox="1"/>
            <p:nvPr/>
          </p:nvSpPr>
          <p:spPr>
            <a:xfrm>
              <a:off x="3770902" y="4733356"/>
              <a:ext cx="2822634" cy="348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PV 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1200/(1+0.13)</a:t>
              </a:r>
              <a:r>
                <a:rPr b="1" baseline="30000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baseline="3000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9"/>
            <p:cNvSpPr txBox="1"/>
            <p:nvPr/>
          </p:nvSpPr>
          <p:spPr>
            <a:xfrm>
              <a:off x="3770902" y="5347550"/>
              <a:ext cx="2822634" cy="348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PV = </a:t>
              </a: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1200/(1.13)</a:t>
              </a:r>
              <a:r>
                <a:rPr b="1" baseline="30000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baseline="3000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9"/>
            <p:cNvSpPr txBox="1"/>
            <p:nvPr/>
          </p:nvSpPr>
          <p:spPr>
            <a:xfrm>
              <a:off x="3806647" y="5940360"/>
              <a:ext cx="28226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PV = </a:t>
              </a:r>
              <a:r>
                <a:rPr b="1" lang="en-US" sz="3000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30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276.85</a:t>
              </a:r>
              <a:endParaRPr b="1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19"/>
          <p:cNvSpPr txBox="1"/>
          <p:nvPr/>
        </p:nvSpPr>
        <p:spPr>
          <a:xfrm>
            <a:off x="12915289" y="5490437"/>
            <a:ext cx="4129712" cy="94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1/(1+r)</a:t>
            </a:r>
            <a:r>
              <a:rPr b="1" baseline="30000" lang="en-US" sz="3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known as the discounting factor</a:t>
            </a:r>
            <a:endParaRPr/>
          </a:p>
        </p:txBody>
      </p:sp>
      <p:sp>
        <p:nvSpPr>
          <p:cNvPr id="406" name="Google Shape;406;p19"/>
          <p:cNvSpPr/>
          <p:nvPr/>
        </p:nvSpPr>
        <p:spPr>
          <a:xfrm>
            <a:off x="10186366" y="5771444"/>
            <a:ext cx="1785314" cy="57708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12686702" y="4672983"/>
            <a:ext cx="4586886" cy="2627487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19"/>
          <p:cNvGrpSpPr/>
          <p:nvPr/>
        </p:nvGrpSpPr>
        <p:grpSpPr>
          <a:xfrm>
            <a:off x="1014413" y="5428545"/>
            <a:ext cx="4376651" cy="2794109"/>
            <a:chOff x="1076540" y="3164296"/>
            <a:chExt cx="2917767" cy="1862739"/>
          </a:xfrm>
        </p:grpSpPr>
        <p:sp>
          <p:nvSpPr>
            <p:cNvPr id="409" name="Google Shape;409;p19"/>
            <p:cNvSpPr txBox="1"/>
            <p:nvPr/>
          </p:nvSpPr>
          <p:spPr>
            <a:xfrm>
              <a:off x="1076540" y="3164296"/>
              <a:ext cx="25810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A x (1+0.13)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1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 = 1200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9"/>
            <p:cNvSpPr txBox="1"/>
            <p:nvPr/>
          </p:nvSpPr>
          <p:spPr>
            <a:xfrm>
              <a:off x="1097828" y="4144895"/>
              <a:ext cx="2822634" cy="348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 = </a:t>
              </a:r>
              <a:r>
                <a:rPr b="1" lang="en-US" sz="2800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27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1200/(1.13)</a:t>
              </a:r>
              <a:r>
                <a:rPr b="1" baseline="30000" lang="en-US" sz="30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1" baseline="30000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9"/>
            <p:cNvSpPr txBox="1"/>
            <p:nvPr/>
          </p:nvSpPr>
          <p:spPr>
            <a:xfrm>
              <a:off x="1171673" y="4657703"/>
              <a:ext cx="28226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A = </a:t>
              </a:r>
              <a:r>
                <a:rPr b="1" lang="en-US" sz="3000">
                  <a:solidFill>
                    <a:srgbClr val="FF9900"/>
                  </a:solidFill>
                  <a:latin typeface="Calibri"/>
                  <a:ea typeface="Calibri"/>
                  <a:cs typeface="Calibri"/>
                  <a:sym typeface="Calibri"/>
                </a:rPr>
                <a:t>₹</a:t>
              </a:r>
              <a:r>
                <a:rPr b="1" lang="en-US" sz="30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276.85</a:t>
              </a:r>
              <a:endParaRPr b="1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9"/>
            <p:cNvSpPr txBox="1"/>
            <p:nvPr/>
          </p:nvSpPr>
          <p:spPr>
            <a:xfrm>
              <a:off x="1097828" y="3622146"/>
              <a:ext cx="25810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A x (1.13)</a:t>
              </a:r>
              <a:r>
                <a:rPr b="1" baseline="30000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1" lang="en-US" sz="3000">
                  <a:solidFill>
                    <a:srgbClr val="263746"/>
                  </a:solidFill>
                  <a:latin typeface="Arial"/>
                  <a:ea typeface="Arial"/>
                  <a:cs typeface="Arial"/>
                  <a:sym typeface="Arial"/>
                </a:rPr>
                <a:t> = 1200</a:t>
              </a:r>
              <a:endParaRPr b="1" baseline="30000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3" name="Google Shape;413;p19"/>
          <p:cNvSpPr/>
          <p:nvPr/>
        </p:nvSpPr>
        <p:spPr>
          <a:xfrm>
            <a:off x="509271" y="4283595"/>
            <a:ext cx="4586886" cy="498703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1014413" y="4562213"/>
            <a:ext cx="371107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Using Algebra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0"/>
          <p:cNvSpPr txBox="1"/>
          <p:nvPr>
            <p:ph type="ctrTitle"/>
          </p:nvPr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5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Time Value of Money</a:t>
            </a:r>
            <a:endParaRPr/>
          </a:p>
        </p:txBody>
      </p:sp>
      <p:sp>
        <p:nvSpPr>
          <p:cNvPr id="420" name="Google Shape;420;p20"/>
          <p:cNvSpPr txBox="1"/>
          <p:nvPr>
            <p:ph idx="1" type="body"/>
          </p:nvPr>
        </p:nvSpPr>
        <p:spPr>
          <a:xfrm>
            <a:off x="964574" y="1381291"/>
            <a:ext cx="8731749" cy="361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2700"/>
              <a:buNone/>
            </a:pPr>
            <a:r>
              <a:rPr b="1" lang="en-US" sz="2700">
                <a:solidFill>
                  <a:srgbClr val="263746"/>
                </a:solidFill>
              </a:rPr>
              <a:t>Discounting &amp; Compounding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5836327" y="2799932"/>
            <a:ext cx="54912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ACC8"/>
                </a:solidFill>
                <a:latin typeface="Arial"/>
                <a:ea typeface="Arial"/>
                <a:cs typeface="Arial"/>
                <a:sym typeface="Arial"/>
              </a:rPr>
              <a:t>PRESENT VALUE</a:t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6332719" y="7347985"/>
            <a:ext cx="680420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Future value factor = </a:t>
            </a:r>
            <a:r>
              <a:rPr b="1" lang="en-US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(1+r)</a:t>
            </a:r>
            <a:r>
              <a:rPr b="1" baseline="30000" lang="en-US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0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5526851" y="7016858"/>
            <a:ext cx="5800725" cy="2351483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5873396" y="5377106"/>
            <a:ext cx="54912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ACC8"/>
                </a:solidFill>
                <a:latin typeface="Arial"/>
                <a:ea typeface="Arial"/>
                <a:cs typeface="Arial"/>
                <a:sym typeface="Arial"/>
              </a:rPr>
              <a:t>FUTURE VALUE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 rot="-10446224">
            <a:off x="3753063" y="2993638"/>
            <a:ext cx="1629387" cy="29600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9900"/>
          </a:solidFill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10209192" y="3334696"/>
            <a:ext cx="1629387" cy="29600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00FF"/>
          </a:solidFill>
          <a:ln cap="flat" cmpd="sng" w="254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 rot="-5400000">
            <a:off x="1121620" y="3887681"/>
            <a:ext cx="370088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DISCOUNTING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 rot="5400000">
            <a:off x="11229491" y="4149030"/>
            <a:ext cx="370088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COMPOUNDING</a:t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6332717" y="8202907"/>
            <a:ext cx="680420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Present value factor = </a:t>
            </a:r>
            <a:r>
              <a:rPr b="1" lang="en-US" sz="3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1/(1+r)</a:t>
            </a:r>
            <a:r>
              <a:rPr b="1" baseline="30000" lang="en-US" sz="32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30000" sz="32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Present Value of a Single Cash Flow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685800" y="2537460"/>
            <a:ext cx="7955280" cy="1508760"/>
          </a:xfrm>
          <a:prstGeom prst="roundRect">
            <a:avLst>
              <a:gd fmla="val 9091" name="adj"/>
            </a:avLst>
          </a:prstGeom>
          <a:solidFill>
            <a:srgbClr val="0000FF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960120" y="2702052"/>
            <a:ext cx="7406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FV ÷ (1 + r)ⁿ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960120" y="3497580"/>
            <a:ext cx="7406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Discounting formula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21"/>
          <p:cNvCxnSpPr/>
          <p:nvPr/>
        </p:nvCxnSpPr>
        <p:spPr>
          <a:xfrm>
            <a:off x="822960" y="5212080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21"/>
          <p:cNvSpPr/>
          <p:nvPr/>
        </p:nvSpPr>
        <p:spPr>
          <a:xfrm rot="5400000">
            <a:off x="8462772" y="508863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822960" y="51160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68580" y="53766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 = 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?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21"/>
          <p:cNvCxnSpPr/>
          <p:nvPr/>
        </p:nvCxnSpPr>
        <p:spPr>
          <a:xfrm>
            <a:off x="905256" y="445770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21"/>
          <p:cNvSpPr txBox="1"/>
          <p:nvPr/>
        </p:nvSpPr>
        <p:spPr>
          <a:xfrm>
            <a:off x="0" y="40325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PV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8092440" y="51160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7338060" y="53766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 = 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known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1"/>
          <p:cNvCxnSpPr/>
          <p:nvPr/>
        </p:nvCxnSpPr>
        <p:spPr>
          <a:xfrm>
            <a:off x="8174736" y="5788152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48" name="Google Shape;448;p21"/>
          <p:cNvSpPr txBox="1"/>
          <p:nvPr/>
        </p:nvSpPr>
        <p:spPr>
          <a:xfrm>
            <a:off x="7269480" y="633679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FV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9052560" y="2537460"/>
            <a:ext cx="8503920" cy="6240780"/>
          </a:xfrm>
          <a:prstGeom prst="roundRect">
            <a:avLst>
              <a:gd fmla="val 2198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9395460" y="2743200"/>
            <a:ext cx="7818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9395460" y="3291840"/>
            <a:ext cx="78181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You are promised ₹50,000 exactly 5 years from now. If your required rate of return is 8% p.a., what is this worth today?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9395460" y="4594860"/>
            <a:ext cx="78181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025"/>
              <a:buFont typeface="Calibri"/>
              <a:buChar char="•"/>
            </a:pPr>
            <a:r>
              <a:rPr lang="en-US" sz="202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= ₹50,000,  r = 8%,  n = 5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025"/>
              <a:buFont typeface="Calibri"/>
              <a:buChar char="•"/>
            </a:pPr>
            <a:r>
              <a:rPr lang="en-US" sz="202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50,000 ÷ (1.08)⁵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025"/>
              <a:buFont typeface="Calibri"/>
              <a:buChar char="•"/>
            </a:pPr>
            <a:r>
              <a:rPr lang="en-US" sz="202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50,000 ÷ 1.4693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9395460" y="6377940"/>
            <a:ext cx="7818120" cy="2057400"/>
          </a:xfrm>
          <a:prstGeom prst="roundRect">
            <a:avLst>
              <a:gd fmla="val 53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9395460" y="6515100"/>
            <a:ext cx="7818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PV = ₹34,029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9555089" y="7269480"/>
            <a:ext cx="7637532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₹34,029 today is equivalent to ₹50,000 five years later at 8%.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Valuing Multiple (Uneven) Cash Flows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685800" y="2468880"/>
            <a:ext cx="1673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Real projects rarely generate a single payment. When cash flows differ each period, value each one separately and sum the results.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3977640" y="3497580"/>
            <a:ext cx="10287000" cy="13716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4251960" y="3662172"/>
            <a:ext cx="9738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Σ  CFₜ ÷ (1 + r)ᵗ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4251960" y="4320540"/>
            <a:ext cx="9738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Sum of the present value of every individual cash flow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22"/>
          <p:cNvCxnSpPr/>
          <p:nvPr/>
        </p:nvCxnSpPr>
        <p:spPr>
          <a:xfrm>
            <a:off x="1371600" y="6309360"/>
            <a:ext cx="154990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22"/>
          <p:cNvSpPr/>
          <p:nvPr/>
        </p:nvSpPr>
        <p:spPr>
          <a:xfrm rot="5400000">
            <a:off x="16829532" y="618591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1371600" y="621334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617220" y="647395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5143500" y="621334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4389120" y="647395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22"/>
          <p:cNvCxnSpPr/>
          <p:nvPr/>
        </p:nvCxnSpPr>
        <p:spPr>
          <a:xfrm>
            <a:off x="5225796" y="55549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6" name="Google Shape;476;p22"/>
          <p:cNvSpPr txBox="1"/>
          <p:nvPr/>
        </p:nvSpPr>
        <p:spPr>
          <a:xfrm>
            <a:off x="4320540" y="512978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CF₁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8915400" y="621334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8161020" y="647395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t=2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22"/>
          <p:cNvCxnSpPr/>
          <p:nvPr/>
        </p:nvCxnSpPr>
        <p:spPr>
          <a:xfrm>
            <a:off x="8997696" y="55549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22"/>
          <p:cNvSpPr txBox="1"/>
          <p:nvPr/>
        </p:nvSpPr>
        <p:spPr>
          <a:xfrm>
            <a:off x="8092440" y="512978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CF₂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12687300" y="621334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11932920" y="647395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t=3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22"/>
          <p:cNvCxnSpPr/>
          <p:nvPr/>
        </p:nvCxnSpPr>
        <p:spPr>
          <a:xfrm>
            <a:off x="12769596" y="55549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22"/>
          <p:cNvSpPr txBox="1"/>
          <p:nvPr/>
        </p:nvSpPr>
        <p:spPr>
          <a:xfrm>
            <a:off x="11864340" y="512978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CF₃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16459200" y="621334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15704820" y="647395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t=4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22"/>
          <p:cNvCxnSpPr/>
          <p:nvPr/>
        </p:nvCxnSpPr>
        <p:spPr>
          <a:xfrm>
            <a:off x="16541496" y="55549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8" name="Google Shape;488;p22"/>
          <p:cNvSpPr txBox="1"/>
          <p:nvPr/>
        </p:nvSpPr>
        <p:spPr>
          <a:xfrm>
            <a:off x="15636240" y="512978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CF₄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1371600" y="7680960"/>
            <a:ext cx="15499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Each cash flow is discounted using its own time period 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Common in equipment cash-flow schedules, project appraisals and loan repayments with irregular instalments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9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Example: Multiple Cash Flows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 txBox="1"/>
          <p:nvPr/>
        </p:nvSpPr>
        <p:spPr>
          <a:xfrm>
            <a:off x="685800" y="2468880"/>
            <a:ext cx="1673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machine is expected to generate the following year-end cash flows. Discount rate = 10%. Find the total present value.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0" name="Google Shape;500;p23"/>
          <p:cNvGraphicFramePr/>
          <p:nvPr/>
        </p:nvGraphicFramePr>
        <p:xfrm>
          <a:off x="960120" y="3360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{9CAFA069-AD50-4BBC-A327-863A79B21BA8}</a:tableStyleId>
              </a:tblPr>
              <a:tblGrid>
                <a:gridCol w="3154675"/>
                <a:gridCol w="4389125"/>
                <a:gridCol w="5486400"/>
                <a:gridCol w="3291850"/>
              </a:tblGrid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Year (t)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Cash Flow (₹)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PV Factor @10%  1/(1.10)ᵗ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Present Value (₹)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1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5,000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0.9091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4,545.45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2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6,000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0.8264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4,958.68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3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7,000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0.7513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5,259.95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4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8,000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0.6830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>
                          <a:solidFill>
                            <a:srgbClr val="3C4A6B"/>
                          </a:solidFill>
                        </a:rPr>
                        <a:t>5,464.23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1" name="Google Shape;501;p23"/>
          <p:cNvSpPr/>
          <p:nvPr/>
        </p:nvSpPr>
        <p:spPr>
          <a:xfrm>
            <a:off x="960120" y="6515100"/>
            <a:ext cx="16322040" cy="2057400"/>
          </a:xfrm>
          <a:prstGeom prst="roundRect">
            <a:avLst>
              <a:gd fmla="val 5333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1234440" y="6720840"/>
            <a:ext cx="15773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Total Present Value  =  ₹4,545.45 + ₹4,958.68 + ₹5,259.95 + ₹5,464.23  =  ₹20,228.31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1234440" y="7749540"/>
            <a:ext cx="1577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This ₹20,228.31 today is equivalent to receiving the full uneven stream of cash flows.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Annuity: Equal Periodic Cash Flows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 txBox="1"/>
          <p:nvPr/>
        </p:nvSpPr>
        <p:spPr>
          <a:xfrm>
            <a:off x="685800" y="2468880"/>
            <a:ext cx="1673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An annuity is a series of equal cash flows occurring at regular intervals for a fixed number of periods.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685800" y="3429000"/>
            <a:ext cx="8092440" cy="534924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4"/>
          <p:cNvSpPr txBox="1"/>
          <p:nvPr/>
        </p:nvSpPr>
        <p:spPr>
          <a:xfrm>
            <a:off x="1028700" y="363474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ORDINARY ANNUITY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 txBox="1"/>
          <p:nvPr/>
        </p:nvSpPr>
        <p:spPr>
          <a:xfrm>
            <a:off x="1028700" y="411480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Payments occur at the END of each period</a:t>
            </a:r>
            <a:endParaRPr b="1" sz="20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24"/>
          <p:cNvCxnSpPr/>
          <p:nvPr/>
        </p:nvCxnSpPr>
        <p:spPr>
          <a:xfrm>
            <a:off x="1028700" y="5554980"/>
            <a:ext cx="72694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4"/>
          <p:cNvSpPr/>
          <p:nvPr/>
        </p:nvSpPr>
        <p:spPr>
          <a:xfrm rot="5400000">
            <a:off x="8257032" y="543153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1028700" y="54589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 txBox="1"/>
          <p:nvPr/>
        </p:nvSpPr>
        <p:spPr>
          <a:xfrm>
            <a:off x="274320" y="57195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2743200" y="54589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 txBox="1"/>
          <p:nvPr/>
        </p:nvSpPr>
        <p:spPr>
          <a:xfrm>
            <a:off x="1988820" y="57195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24"/>
          <p:cNvCxnSpPr/>
          <p:nvPr/>
        </p:nvCxnSpPr>
        <p:spPr>
          <a:xfrm>
            <a:off x="2825496" y="480060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4" name="Google Shape;524;p24"/>
          <p:cNvSpPr txBox="1"/>
          <p:nvPr/>
        </p:nvSpPr>
        <p:spPr>
          <a:xfrm>
            <a:off x="1920240" y="43754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4457700" y="54589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 txBox="1"/>
          <p:nvPr/>
        </p:nvSpPr>
        <p:spPr>
          <a:xfrm>
            <a:off x="3703320" y="57195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24"/>
          <p:cNvCxnSpPr/>
          <p:nvPr/>
        </p:nvCxnSpPr>
        <p:spPr>
          <a:xfrm>
            <a:off x="4539996" y="480060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p24"/>
          <p:cNvSpPr txBox="1"/>
          <p:nvPr/>
        </p:nvSpPr>
        <p:spPr>
          <a:xfrm>
            <a:off x="3634740" y="43754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6172200" y="54589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 txBox="1"/>
          <p:nvPr/>
        </p:nvSpPr>
        <p:spPr>
          <a:xfrm>
            <a:off x="5417820" y="57195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24"/>
          <p:cNvCxnSpPr/>
          <p:nvPr/>
        </p:nvCxnSpPr>
        <p:spPr>
          <a:xfrm>
            <a:off x="6254496" y="480060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2" name="Google Shape;532;p24"/>
          <p:cNvSpPr txBox="1"/>
          <p:nvPr/>
        </p:nvSpPr>
        <p:spPr>
          <a:xfrm>
            <a:off x="5349240" y="43754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7886700" y="5458968"/>
            <a:ext cx="192024" cy="1920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 txBox="1"/>
          <p:nvPr/>
        </p:nvSpPr>
        <p:spPr>
          <a:xfrm>
            <a:off x="7132320" y="5719572"/>
            <a:ext cx="17007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24"/>
          <p:cNvCxnSpPr/>
          <p:nvPr/>
        </p:nvCxnSpPr>
        <p:spPr>
          <a:xfrm>
            <a:off x="7968996" y="480060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6" name="Google Shape;536;p24"/>
          <p:cNvSpPr txBox="1"/>
          <p:nvPr/>
        </p:nvSpPr>
        <p:spPr>
          <a:xfrm>
            <a:off x="7063740" y="43754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4"/>
          <p:cNvSpPr txBox="1"/>
          <p:nvPr/>
        </p:nvSpPr>
        <p:spPr>
          <a:xfrm>
            <a:off x="1028700" y="7612380"/>
            <a:ext cx="7406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Calibri"/>
              <a:buChar char="•"/>
            </a:pPr>
            <a:r>
              <a:rPr b="1" i="1" lang="en-US" sz="20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Example: Loan EMIs, most bond coupon schedules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9464040" y="3429000"/>
            <a:ext cx="8092440" cy="5349240"/>
          </a:xfrm>
          <a:prstGeom prst="roundRect">
            <a:avLst>
              <a:gd fmla="val 256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 txBox="1"/>
          <p:nvPr/>
        </p:nvSpPr>
        <p:spPr>
          <a:xfrm>
            <a:off x="9806940" y="363474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ANNUITY DUE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 txBox="1"/>
          <p:nvPr/>
        </p:nvSpPr>
        <p:spPr>
          <a:xfrm>
            <a:off x="9806940" y="411480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Payments occur at the START of each period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24"/>
          <p:cNvCxnSpPr/>
          <p:nvPr/>
        </p:nvCxnSpPr>
        <p:spPr>
          <a:xfrm>
            <a:off x="9944100" y="5897880"/>
            <a:ext cx="699516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24"/>
          <p:cNvSpPr/>
          <p:nvPr/>
        </p:nvSpPr>
        <p:spPr>
          <a:xfrm rot="5400000">
            <a:off x="16898112" y="5774436"/>
            <a:ext cx="246888" cy="246888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9848088" y="580186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 txBox="1"/>
          <p:nvPr/>
        </p:nvSpPr>
        <p:spPr>
          <a:xfrm>
            <a:off x="9093708" y="6062472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24"/>
          <p:cNvCxnSpPr/>
          <p:nvPr/>
        </p:nvCxnSpPr>
        <p:spPr>
          <a:xfrm>
            <a:off x="9930384" y="52120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6" name="Google Shape;546;p24"/>
          <p:cNvSpPr txBox="1"/>
          <p:nvPr/>
        </p:nvSpPr>
        <p:spPr>
          <a:xfrm>
            <a:off x="9093708" y="4773168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11596878" y="580186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 txBox="1"/>
          <p:nvPr/>
        </p:nvSpPr>
        <p:spPr>
          <a:xfrm>
            <a:off x="10842498" y="6062472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24"/>
          <p:cNvCxnSpPr/>
          <p:nvPr/>
        </p:nvCxnSpPr>
        <p:spPr>
          <a:xfrm>
            <a:off x="11679174" y="52120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0" name="Google Shape;550;p24"/>
          <p:cNvSpPr txBox="1"/>
          <p:nvPr/>
        </p:nvSpPr>
        <p:spPr>
          <a:xfrm>
            <a:off x="10842498" y="4773168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13345668" y="580186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12591288" y="6062472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24"/>
          <p:cNvCxnSpPr/>
          <p:nvPr/>
        </p:nvCxnSpPr>
        <p:spPr>
          <a:xfrm>
            <a:off x="13427964" y="52120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24"/>
          <p:cNvSpPr txBox="1"/>
          <p:nvPr/>
        </p:nvSpPr>
        <p:spPr>
          <a:xfrm>
            <a:off x="12591288" y="4773168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15094458" y="580186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 txBox="1"/>
          <p:nvPr/>
        </p:nvSpPr>
        <p:spPr>
          <a:xfrm>
            <a:off x="14340078" y="6062472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24"/>
          <p:cNvCxnSpPr/>
          <p:nvPr/>
        </p:nvCxnSpPr>
        <p:spPr>
          <a:xfrm>
            <a:off x="15176754" y="5212080"/>
            <a:ext cx="0" cy="576072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8" name="Google Shape;558;p24"/>
          <p:cNvSpPr txBox="1"/>
          <p:nvPr/>
        </p:nvSpPr>
        <p:spPr>
          <a:xfrm>
            <a:off x="14340078" y="4773168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 txBox="1"/>
          <p:nvPr/>
        </p:nvSpPr>
        <p:spPr>
          <a:xfrm>
            <a:off x="9806940" y="7612380"/>
            <a:ext cx="7406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Rent, insurance premiums paid in advance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Annuity: Present &amp; Future Value Formulas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685800" y="2606040"/>
            <a:ext cx="8092440" cy="1851660"/>
          </a:xfrm>
          <a:prstGeom prst="roundRect">
            <a:avLst>
              <a:gd fmla="val 7407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>
            <a:off x="960120" y="2770632"/>
            <a:ext cx="754380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A × [1 − (1+r)⁻ⁿ] ÷ r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960120" y="3909060"/>
            <a:ext cx="7543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Present value of an ordinary annuity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9189720" y="2606040"/>
            <a:ext cx="8366760" cy="1851660"/>
          </a:xfrm>
          <a:prstGeom prst="roundRect">
            <a:avLst>
              <a:gd fmla="val 7407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9464040" y="2770632"/>
            <a:ext cx="78181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FV = A × [(1+r)ⁿ − 1] ÷ r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 txBox="1"/>
          <p:nvPr/>
        </p:nvSpPr>
        <p:spPr>
          <a:xfrm>
            <a:off x="9464040" y="3909060"/>
            <a:ext cx="7818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Future value of an ordinary annuity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685800" y="4869180"/>
            <a:ext cx="16870680" cy="1371600"/>
          </a:xfrm>
          <a:prstGeom prst="roundRect">
            <a:avLst>
              <a:gd fmla="val 1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 txBox="1"/>
          <p:nvPr/>
        </p:nvSpPr>
        <p:spPr>
          <a:xfrm>
            <a:off x="960120" y="5074920"/>
            <a:ext cx="16322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Annuity Due  =  Ordinary Annuity value × (1 + r)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 txBox="1"/>
          <p:nvPr/>
        </p:nvSpPr>
        <p:spPr>
          <a:xfrm>
            <a:off x="685800" y="6652260"/>
            <a:ext cx="168706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 = the equal periodic annuity payment;  r = periodic rate;  n = number of payments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The term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[1 − (1+r)⁻ⁿ] ÷ r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is called the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Present Value Interest Factor of Annuity (PVIFA)</a:t>
            </a:r>
            <a:endParaRPr/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The term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[(1+r)ⁿ − 1] ÷ r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is called the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Future Value Interest Factor of Annuity (FVIFA)</a:t>
            </a:r>
            <a:endParaRPr/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Because an annuity-due payment arrives one period earlier, its value is simply the ordinary-annuity value compounded forward by one period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6"/>
          <p:cNvSpPr txBox="1"/>
          <p:nvPr/>
        </p:nvSpPr>
        <p:spPr>
          <a:xfrm>
            <a:off x="685800" y="1375096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Example: Ordinary Annuity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6"/>
          <p:cNvSpPr txBox="1"/>
          <p:nvPr/>
        </p:nvSpPr>
        <p:spPr>
          <a:xfrm>
            <a:off x="685800" y="2468880"/>
            <a:ext cx="167335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engineering graduate plans to invest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₹10,000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the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end of every year for 5 years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fund earning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10% p.a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685800" y="3429000"/>
            <a:ext cx="8092440" cy="534924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 txBox="1"/>
          <p:nvPr/>
        </p:nvSpPr>
        <p:spPr>
          <a:xfrm>
            <a:off x="1028700" y="363474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PRESENT VALUE OF THE ANNUITY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 txBox="1"/>
          <p:nvPr/>
        </p:nvSpPr>
        <p:spPr>
          <a:xfrm>
            <a:off x="1028700" y="4251960"/>
            <a:ext cx="7406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 = ₹10,000,  r = 10%,  n = 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10,000 × [1 − (1.10)⁻⁵] ÷ 0.10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2400"/>
              <a:buFont typeface="Calibri"/>
              <a:buChar char="•"/>
            </a:pP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PV = 10,000 × 3.7908</a:t>
            </a:r>
            <a:endParaRPr b="1" sz="2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1028700" y="6377940"/>
            <a:ext cx="7406640" cy="20574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 txBox="1"/>
          <p:nvPr/>
        </p:nvSpPr>
        <p:spPr>
          <a:xfrm>
            <a:off x="1028700" y="6583680"/>
            <a:ext cx="74066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₹37,908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6"/>
          <p:cNvSpPr txBox="1"/>
          <p:nvPr/>
        </p:nvSpPr>
        <p:spPr>
          <a:xfrm>
            <a:off x="1371600" y="7338060"/>
            <a:ext cx="6720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Lump sum today equivalent to the 5 annual deposits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9464040" y="3429000"/>
            <a:ext cx="8092440" cy="534924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 txBox="1"/>
          <p:nvPr/>
        </p:nvSpPr>
        <p:spPr>
          <a:xfrm>
            <a:off x="9806940" y="363474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VALUE OF THE ANNUITY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6"/>
          <p:cNvSpPr txBox="1"/>
          <p:nvPr/>
        </p:nvSpPr>
        <p:spPr>
          <a:xfrm>
            <a:off x="9806940" y="4251960"/>
            <a:ext cx="7406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 = ₹10,000,  r = 10%,  n = 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= 10,000 × [(1.10)⁵ − 1] ÷ 0.10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b="1"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FV = 10,000 × 6.1051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9806940" y="6377940"/>
            <a:ext cx="7406640" cy="2057400"/>
          </a:xfrm>
          <a:prstGeom prst="roundRect">
            <a:avLst>
              <a:gd fmla="val 5333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 txBox="1"/>
          <p:nvPr/>
        </p:nvSpPr>
        <p:spPr>
          <a:xfrm>
            <a:off x="9806940" y="6583680"/>
            <a:ext cx="74066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FV = ₹61,051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6"/>
          <p:cNvSpPr txBox="1"/>
          <p:nvPr/>
        </p:nvSpPr>
        <p:spPr>
          <a:xfrm>
            <a:off x="10149840" y="7338060"/>
            <a:ext cx="6720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Maturity value of the fund at the end of year 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6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6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Perpetuity: Cash Flows That Never End (Forever)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685800" y="2400300"/>
            <a:ext cx="1673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perpetuity is an annuity that continues forever with no maturity date.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685800" y="3154680"/>
            <a:ext cx="8092440" cy="1645920"/>
          </a:xfrm>
          <a:prstGeom prst="roundRect">
            <a:avLst>
              <a:gd fmla="val 8333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 txBox="1"/>
          <p:nvPr/>
        </p:nvSpPr>
        <p:spPr>
          <a:xfrm>
            <a:off x="960120" y="3319272"/>
            <a:ext cx="7543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CF ÷ r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 txBox="1"/>
          <p:nvPr/>
        </p:nvSpPr>
        <p:spPr>
          <a:xfrm>
            <a:off x="960120" y="4251960"/>
            <a:ext cx="7543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Constant (level) perpetuity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9189720" y="3154680"/>
            <a:ext cx="8366760" cy="1645920"/>
          </a:xfrm>
          <a:prstGeom prst="roundRect">
            <a:avLst>
              <a:gd fmla="val 8333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9464040" y="3319272"/>
            <a:ext cx="7818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CF₁ ÷ (r − g)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 txBox="1"/>
          <p:nvPr/>
        </p:nvSpPr>
        <p:spPr>
          <a:xfrm>
            <a:off x="9464040" y="4251960"/>
            <a:ext cx="7818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Growing perpetuity (Gordon model), r &gt; g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685800" y="5143500"/>
            <a:ext cx="8092440" cy="3977640"/>
          </a:xfrm>
          <a:prstGeom prst="roundRect">
            <a:avLst>
              <a:gd fmla="val 3448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1028700" y="534924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EXAMPLE: CONSTANT PERPETUITY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 txBox="1"/>
          <p:nvPr/>
        </p:nvSpPr>
        <p:spPr>
          <a:xfrm>
            <a:off x="1028700" y="5897880"/>
            <a:ext cx="7406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 preference share pays ₹500 every year forever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Required return r = 10%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PV = 500 ÷ 0.10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 txBox="1"/>
          <p:nvPr/>
        </p:nvSpPr>
        <p:spPr>
          <a:xfrm>
            <a:off x="1028700" y="7680960"/>
            <a:ext cx="7406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PV = ₹5,000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9464040" y="5143500"/>
            <a:ext cx="8092440" cy="3977640"/>
          </a:xfrm>
          <a:prstGeom prst="roundRect">
            <a:avLst>
              <a:gd fmla="val 34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7"/>
          <p:cNvSpPr txBox="1"/>
          <p:nvPr/>
        </p:nvSpPr>
        <p:spPr>
          <a:xfrm>
            <a:off x="9806940" y="534924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EXAMPLE — GROWING PERPETUITY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9806940" y="5897880"/>
            <a:ext cx="7406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First payment ₹500, growing at g = 4% p.a. forever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Required return r = 10%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PV = 500 ÷ (0.10 − 0.04)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 txBox="1"/>
          <p:nvPr/>
        </p:nvSpPr>
        <p:spPr>
          <a:xfrm>
            <a:off x="9806940" y="7680960"/>
            <a:ext cx="7406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PV = ₹8,333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7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Terminal Value: Valuing Cash Flows Beyond the Forecast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 txBox="1"/>
          <p:nvPr/>
        </p:nvSpPr>
        <p:spPr>
          <a:xfrm>
            <a:off x="685800" y="2468880"/>
            <a:ext cx="167335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In project or business valuation, cash flows are forecast explicitly for a few years;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Terminal Value (TV)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captures the value of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ALL cash flows beyond that horizon,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assuming they grow at a stable rate forever.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2331720" y="3909060"/>
            <a:ext cx="13578840" cy="1577340"/>
          </a:xfrm>
          <a:prstGeom prst="roundRect">
            <a:avLst>
              <a:gd fmla="val 8696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2606040" y="4073652"/>
            <a:ext cx="130302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TVₙ = [CFₙ × (1 + g)] ÷ (r − g)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 txBox="1"/>
          <p:nvPr/>
        </p:nvSpPr>
        <p:spPr>
          <a:xfrm>
            <a:off x="2606040" y="4937760"/>
            <a:ext cx="1303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Terminal value at the end of the explicit forecast period n (Gordon Growth Model)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2331720" y="5829300"/>
            <a:ext cx="13578840" cy="13716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 txBox="1"/>
          <p:nvPr/>
        </p:nvSpPr>
        <p:spPr>
          <a:xfrm>
            <a:off x="2606040" y="6035040"/>
            <a:ext cx="13030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Present Value of Terminal Value  =  TVₙ ÷ (1 + r)ⁿ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 txBox="1"/>
          <p:nvPr/>
        </p:nvSpPr>
        <p:spPr>
          <a:xfrm>
            <a:off x="685800" y="7475220"/>
            <a:ext cx="168706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Font typeface="Calibri"/>
              <a:buChar char="•"/>
            </a:pP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CFₙ =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the last explicitly forecast cash flow (year n);  </a:t>
            </a:r>
            <a:r>
              <a:rPr b="1"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g = long-term stable growth rate;  r = discount rate</a:t>
            </a:r>
            <a:endParaRPr b="1" sz="2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b="1"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Terminal value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must itself be </a:t>
            </a:r>
            <a:r>
              <a:rPr b="1"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discounted back to today </a:t>
            </a: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since it is valued as of year 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Widely used in capital budgeting and DCF valuation of projects, plants and equipment, and businesses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9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Example: Terminal Value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 txBox="1"/>
          <p:nvPr/>
        </p:nvSpPr>
        <p:spPr>
          <a:xfrm>
            <a:off x="685800" y="2468880"/>
            <a:ext cx="167335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An investment project's explicit forecast ends in Year 5 with a cash flow of ₹2,00,000. Beyond Year 5, cash flows are expected to grow at 3% p.a. forever. Discount rate = 12%.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685800" y="3703320"/>
            <a:ext cx="8092440" cy="5074920"/>
          </a:xfrm>
          <a:prstGeom prst="roundRect">
            <a:avLst>
              <a:gd fmla="val 2703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 txBox="1"/>
          <p:nvPr/>
        </p:nvSpPr>
        <p:spPr>
          <a:xfrm>
            <a:off x="1028700" y="390906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1 — TERMINAL VALUE AT YEAR 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9"/>
          <p:cNvSpPr txBox="1"/>
          <p:nvPr/>
        </p:nvSpPr>
        <p:spPr>
          <a:xfrm>
            <a:off x="1028700" y="4457700"/>
            <a:ext cx="7406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TV₅ = [2,00,000 × 1.03] ÷ (0.12 − 0.03)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3C4A6B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3C4A6B"/>
                </a:solidFill>
                <a:latin typeface="Calibri"/>
                <a:ea typeface="Calibri"/>
                <a:cs typeface="Calibri"/>
                <a:sym typeface="Calibri"/>
              </a:rPr>
              <a:t>TV₅ = 2,06,000 ÷ 0.09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1028700" y="5829300"/>
            <a:ext cx="7406640" cy="2606040"/>
          </a:xfrm>
          <a:prstGeom prst="roundRect">
            <a:avLst>
              <a:gd fmla="val 4211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 txBox="1"/>
          <p:nvPr/>
        </p:nvSpPr>
        <p:spPr>
          <a:xfrm>
            <a:off x="1028700" y="6515100"/>
            <a:ext cx="7406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TV₅ = ₹22,88,889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9464040" y="3703320"/>
            <a:ext cx="8092440" cy="5074920"/>
          </a:xfrm>
          <a:prstGeom prst="roundRect">
            <a:avLst>
              <a:gd fmla="val 27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9806940" y="3909060"/>
            <a:ext cx="74066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STEP 2 — DISCOUNT TV TO TODAY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 txBox="1"/>
          <p:nvPr/>
        </p:nvSpPr>
        <p:spPr>
          <a:xfrm>
            <a:off x="9806940" y="4457700"/>
            <a:ext cx="7406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PV of TV = 22,88,889 ÷ (1.12)⁵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PV of TV = 22,88,889 ÷ 1.7623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9806940" y="5829300"/>
            <a:ext cx="740664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 txBox="1"/>
          <p:nvPr/>
        </p:nvSpPr>
        <p:spPr>
          <a:xfrm>
            <a:off x="9806940" y="6515100"/>
            <a:ext cx="7406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PV of Terminal Value = ₹12,98,590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9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0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Summary</a:t>
            </a:r>
            <a:endParaRPr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9" name="Google Shape;669;p30"/>
          <p:cNvGraphicFramePr/>
          <p:nvPr/>
        </p:nvGraphicFramePr>
        <p:xfrm>
          <a:off x="685800" y="25374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{9CAFA069-AD50-4BBC-A327-863A79B21BA8}</a:tableStyleId>
              </a:tblPr>
              <a:tblGrid>
                <a:gridCol w="3566150"/>
                <a:gridCol w="5897875"/>
                <a:gridCol w="7406650"/>
              </a:tblGrid>
              <a:tr h="10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Cash-Flow Type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3C4A6B"/>
                          </a:solidFill>
                        </a:rPr>
                        <a:t>Single Cash Flow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FV = PV(1+r)ⁿ  /  PV = FV÷(1+r)ⁿ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Lump-sum equipment purchase / resale value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3C4A6B"/>
                          </a:solidFill>
                        </a:rPr>
                        <a:t>Multiple Cash Flows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PV = ΣCFₜ ÷ (1+r)ᵗ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Uneven project cash-flow schedules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3C4A6B"/>
                          </a:solidFill>
                        </a:rPr>
                        <a:t>Annuity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PV = A[1−(1+r)⁻ⁿ]÷r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Loan EMIs, AMC &amp; lease payments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3C4A6B"/>
                          </a:solidFill>
                        </a:rPr>
                        <a:t>Perpetuity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PV = CF ÷ r  (or CF÷(r−g))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Perpetual maintenance / endowment funds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rgbClr val="3C4A6B"/>
                          </a:solidFill>
                        </a:rPr>
                        <a:t>Terminal Value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TV = CFₙ(1+g) ÷ (r−g)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A6B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rgbClr val="3C4A6B"/>
                          </a:solidFill>
                        </a:rPr>
                        <a:t>Long-life project / plant valuation beyond forecast</a:t>
                      </a:r>
                      <a:endParaRPr sz="24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B"/>
                    </a:solidFill>
                  </a:tcPr>
                </a:tc>
              </a:tr>
            </a:tbl>
          </a:graphicData>
        </a:graphic>
      </p:graphicFrame>
      <p:sp>
        <p:nvSpPr>
          <p:cNvPr id="670" name="Google Shape;670;p30"/>
          <p:cNvSpPr txBox="1"/>
          <p:nvPr/>
        </p:nvSpPr>
        <p:spPr>
          <a:xfrm>
            <a:off x="685800" y="9793224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 txBox="1"/>
          <p:nvPr/>
        </p:nvSpPr>
        <p:spPr>
          <a:xfrm>
            <a:off x="13486943" y="97932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2A3"/>
                </a:solidFill>
                <a:latin typeface="Calibri"/>
                <a:ea typeface="Calibri"/>
                <a:cs typeface="Calibri"/>
                <a:sym typeface="Calibri"/>
              </a:rPr>
              <a:t>   |   17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"/>
          <p:cNvSpPr txBox="1"/>
          <p:nvPr/>
        </p:nvSpPr>
        <p:spPr>
          <a:xfrm>
            <a:off x="964574" y="616321"/>
            <a:ext cx="10736291" cy="7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1" sz="4400">
              <a:solidFill>
                <a:srgbClr val="00AC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1"/>
          <p:cNvSpPr txBox="1"/>
          <p:nvPr/>
        </p:nvSpPr>
        <p:spPr>
          <a:xfrm>
            <a:off x="1142944" y="4857748"/>
            <a:ext cx="16407621" cy="584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9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1211C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RAJEEVKUMAR</dc:creator>
</cp:coreProperties>
</file>