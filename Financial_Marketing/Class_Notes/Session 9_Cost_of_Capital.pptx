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69" r:id="rId23"/>
    <p:sldId id="270" r:id="rId24"/>
    <p:sldId id="271" r:id="rId25"/>
    <p:sldId id="272" r:id="rId26"/>
    <p:sldId id="273" r:id="rId27"/>
    <p:sldId id="274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Voting Rights by Share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 per Share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Class A
(GOOGL)</c:v>
                </c:pt>
                <c:pt idx="1">
                  <c:v>Class B
(Founders only)</c:v>
                </c:pt>
                <c:pt idx="2">
                  <c:v>Class C
(GOOG)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2A-4F8B-99FE-A70FDF6A82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9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9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Voting Rights by Share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 per Share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Class A
(META, public)</c:v>
                </c:pt>
                <c:pt idx="1">
                  <c:v>Class B
(Zuckerberg-controlled)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9D-4F89-A049-4AE31D7FEC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9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9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Economic Ownership %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Alphabet
(Page + Brin)</c:v>
                </c:pt>
                <c:pt idx="1">
                  <c:v>Meta
(Zuckerberg)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5-4F25-B2FB-A7956FBF89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Voting Power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Alphabet
(Page + Brin)</c:v>
                </c:pt>
                <c:pt idx="1">
                  <c:v>Meta
(Zuckerberg)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52.7</c:v>
                </c:pt>
                <c:pt idx="1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5-4F25-B2FB-A7956FBF89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49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9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449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55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E1859-2029-600B-48D3-E85ED7A0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4248B-F1BD-02B6-86AD-19373BF59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C4767-0CFD-41B2-A764-AB283839B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D6C0F-8952-E0EF-38C3-E38DFECC0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48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9371-2896-EDEF-BF4D-14518009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5DBE4-6E76-525B-3F24-FACBB8C34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9B7E8-4B4C-CD3A-472A-64005ED4B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66D-1C6A-CC2C-BD43-FB662FD52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19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EAF2-805B-625A-17B0-515BCC9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D56B3-53AC-8EFF-0512-6DAB794B0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D951E1-B948-B1F1-3834-A3E97BA77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1CF93-4447-2E03-7C30-9503AF7F1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62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AD00-71BE-AB2B-DC57-2E013EC7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3B325-0794-E282-D315-0448F975B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AFF4C-450A-1943-F2CC-29BC4C42F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57F99-C730-7E25-5700-6D35B6CA2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73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2C76-0763-54DE-6BFE-A576D31C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A2DCC-3903-5B70-8663-06C4E9128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3802A-C81B-DD76-8474-8BE1F95CD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946DA-249B-9AFB-07B5-6A78009ED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78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14CF-1DE7-F90D-7D72-6FC23402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C389B-2CFA-6A09-1FB4-9C330FEC5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2032E-FC23-5258-224D-017F82A5C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665C8-E4C4-E592-4285-EDAED69FB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377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EB56-E27A-E87F-6127-96C1DF73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6FD58-96E7-3F78-CD9A-9DDC7CCD8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1501B-F25E-55E6-F6EE-0E4C757CD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2349C-F889-1EE8-E056-1DDB4C4DD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807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9EF4-88BD-B5A6-5A8C-136C6CF0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AE419-69AC-213A-91AA-B18CB6CC0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CF7AF-E988-BD7D-B874-B418A2678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B838A-7B80-EB39-0370-5EC8D45F7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686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332720" y="438912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CAPITAL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Equity  •  </a:t>
            </a: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Debt  •  Weighted Average Cost of Capital</a:t>
            </a:r>
            <a:endParaRPr 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3C6E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6E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25856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concept of cost of capital and describe the components of cost of equity and cost of debt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3375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81304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 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32918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cost of equity (CAPM / DGM) and after-tax cost of debt; compute WACC using appropriate weights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892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3675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 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484632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capital structure changes affect WACC and evaluate their impact on investment decisions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of Equity Shares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Claim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last, after debt &amp; preference holders, but owns residual profits/assets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17136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17136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17136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Voting Rights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7136" y="27432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one share = one vote on major corporate decisions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6002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348472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4847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48472" y="2377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48472" y="27432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fixed or guaranteed — paid at the board's discretion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Perpetual Capital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maturity date; stays on the balance sheet indefinitely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88536" y="3840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17136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1713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17136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Liability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17136" y="49834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capped at the amount invested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19872" y="38404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48472" y="4069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348472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348472" y="4617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Appreciation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48472" y="498348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mainly via share price growth, not fixed interest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Shares vs. Dual-Class Structures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SHARES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 = one vote (proportional control)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power matches economic investment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structure for most listed companies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classes with unequal rights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62940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/ MULTI-CLASS SHARES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economic (dividend) rights, different voting rights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hold high-vote shares to retain control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investors typically get low/no-vote shares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Alphabet, Meta &amp; other tech firms to raise capital without losing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Alphabet's Three-Class Structure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55448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55448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858000" y="17830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(GOOGL): 1 vote/share, publicly traded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B: 10 votes/share, held only by founders, never publicly traded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 (GOOG): No votes, publicly traded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Larry Page &amp; Sergey Brin hold ~52.7% of voting power with under 12% of the economic stake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Meta's Two-Class Structure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55448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55448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858000" y="1783080"/>
            <a:ext cx="45720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(META): 1 vote/share, publicly traded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B: 10 votes/share, held almost entirely by Mark Zuckerberg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Zuckerberg holds 99.7% of outstanding Class B stock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him ~61% of total voting power with only ~13-14% of the economic interest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Control: Voting Power vs. Economic Stake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1097280" y="1600200"/>
          <a:ext cx="9966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economic stake can translate into majority control — the classic separation of ownership and control.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• Non-Diversifiable Risk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the entire market/economy — arises from macroeconomic, political or social forces no single company controls. Cannot be diversified away.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 Rate Hikes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Costlier borrowing depresses valuations market-wide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9856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48456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648456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Erodes purchasing power &amp; margins across sectors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19672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Recession (2008 Crisis)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9672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markets worldwide — banks, retailers, tech alike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62288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390888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Pandemic (COVID-19)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90888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 supply, demand &amp; labor across every industry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Unsystematic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Risk • Diversifiable Risk</a:t>
            </a:r>
            <a:endParaRPr lang="en-US" sz="1400" b="1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a particular company or industry only — can be reduced or eliminated by holding a diversified portfolio.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acquisition hurts only that firm's stock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9856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48456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 Strikes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48456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one manufacturer's plant, not the whole industry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19672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Recall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defective-drug recall hits one pharma company, not the sector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62288" y="2377440"/>
            <a:ext cx="2724912" cy="3291840"/>
          </a:xfrm>
          <a:prstGeom prst="roundRect">
            <a:avLst>
              <a:gd name="adj" fmla="val 268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390888" y="2651760"/>
            <a:ext cx="2267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/ Scandal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90888" y="3474720"/>
            <a:ext cx="226771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accounting scandal tanks that specific stock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 vs. Unsystematic Risk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55826"/>
              </p:ext>
            </p:extLst>
          </p:nvPr>
        </p:nvGraphicFramePr>
        <p:xfrm>
          <a:off x="457200" y="1645920"/>
          <a:ext cx="11274552" cy="44805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Unsystematic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market / economy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company / industry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Macroeconomic, political, social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Firm-specific (management, labor)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Diversifiable?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Also called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/ residual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(β)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 of firm-specific returns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by CAPM?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investors compensated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diversified away at no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Asset Pricing Model (CAPM)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745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R</a:t>
            </a:r>
            <a:r>
              <a:rPr lang="en-US" sz="3000" b="1" baseline="-2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β × (R</a:t>
            </a:r>
            <a:r>
              <a:rPr lang="en-US" sz="3000" b="1" baseline="-2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</a:t>
            </a:r>
            <a:r>
              <a:rPr lang="en-US" sz="3000" b="1" baseline="-2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26974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Equity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74920" y="2697480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return equity investors require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374136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3741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baseline="-25000" dirty="0"/>
          </a:p>
        </p:txBody>
      </p:sp>
      <p:sp>
        <p:nvSpPr>
          <p:cNvPr id="11" name="Text 9"/>
          <p:cNvSpPr/>
          <p:nvPr/>
        </p:nvSpPr>
        <p:spPr>
          <a:xfrm>
            <a:off x="2011680" y="337413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74920" y="3374136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a riskless asset (e.g., 10-yr G-Sec)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405079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405079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74920" y="4050792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the stock to overall market movements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2744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baseline="-25000" dirty="0"/>
          </a:p>
        </p:txBody>
      </p:sp>
      <p:sp>
        <p:nvSpPr>
          <p:cNvPr id="19" name="Text 17"/>
          <p:cNvSpPr/>
          <p:nvPr/>
        </p:nvSpPr>
        <p:spPr>
          <a:xfrm>
            <a:off x="2011680" y="47274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Market Return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74920" y="4727448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 on the broad market index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40410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540410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</a:t>
            </a:r>
            <a:r>
              <a:rPr lang="en-US" sz="1600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</a:t>
            </a:r>
            <a:r>
              <a:rPr lang="en-US" sz="1600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11680" y="540410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 Premium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74920" y="5404104"/>
            <a:ext cx="6629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return demanded for bearing market risk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Beta (β)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169164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in line with the market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&gt;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56032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volatile than market (aggressive: tech, cyclicals)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8FBF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&lt; 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342900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volatile than market (defensive: FMCG, utilities)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429768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correlation with market (theoretical, risk-free-like)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16636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8A9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51663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&lt; 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516636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opposite the market (rare — e.g., gold miners)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3112-333E-DE21-66B8-468DF287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A25A75-9C82-9847-95F2-4C8373AEC826}"/>
              </a:ext>
            </a:extLst>
          </p:cNvPr>
          <p:cNvSpPr/>
          <p:nvPr/>
        </p:nvSpPr>
        <p:spPr>
          <a:xfrm>
            <a:off x="246888" y="-20347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CAPM: Examples</a:t>
            </a:r>
            <a:endParaRPr lang="en-US" sz="3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91B64C-7574-63AD-D048-11AA3753FBCE}"/>
              </a:ext>
            </a:extLst>
          </p:cNvPr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7E5A1BD-200A-9B4F-1BEB-5E4612D68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437" y="883626"/>
            <a:ext cx="8647210" cy="573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3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Equity Beta: Estimation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/ Variance Method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Cov(R</a:t>
            </a:r>
            <a:r>
              <a:rPr lang="en-US" sz="2000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2000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Var(R</a:t>
            </a:r>
            <a:r>
              <a:rPr lang="en-US" sz="2000" b="1" baseline="-250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Cov(R</a:t>
            </a:r>
            <a:r>
              <a:rPr lang="en-US" sz="2000" baseline="-25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r>
              <a:rPr lang="en-US" sz="1400" baseline="-25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how the stock's returns move with the market's returns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Var(R</a:t>
            </a:r>
            <a:r>
              <a:rPr lang="en-US" sz="2000" baseline="-25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the market's own volatility (variance)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(Slope) 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2000" b="1" baseline="-2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α + β × R</a:t>
            </a:r>
            <a:r>
              <a:rPr lang="en-US" sz="2000" b="1" baseline="-2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31089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(alpha): stock return unrelated to the market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(beta): the slope — systematic risk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(epsilon): error term — firm-specific (unsystematic) risk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1D523-3F9C-71D6-DBBA-77E5C63C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068097A-AE26-746E-B567-568A02651B58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E41D4E7-D4C3-47B1-9CA3-C2853B9AF534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F0222B-A38B-4B84-98F7-5701008AA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415374"/>
              </p:ext>
            </p:extLst>
          </p:nvPr>
        </p:nvGraphicFramePr>
        <p:xfrm>
          <a:off x="2130804" y="2701662"/>
          <a:ext cx="7930392" cy="2981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4847">
                  <a:extLst>
                    <a:ext uri="{9D8B030D-6E8A-4147-A177-3AD203B41FA5}">
                      <a16:colId xmlns:a16="http://schemas.microsoft.com/office/drawing/2014/main" val="3191044565"/>
                    </a:ext>
                  </a:extLst>
                </a:gridCol>
                <a:gridCol w="4545545">
                  <a:extLst>
                    <a:ext uri="{9D8B030D-6E8A-4147-A177-3AD203B41FA5}">
                      <a16:colId xmlns:a16="http://schemas.microsoft.com/office/drawing/2014/main" val="621774782"/>
                    </a:ext>
                  </a:extLst>
                </a:gridCol>
              </a:tblGrid>
              <a:tr h="49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Item</a:t>
                      </a:r>
                    </a:p>
                  </a:txBody>
                  <a:tcPr marL="112933" marR="112933" marT="56467" marB="564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Selection</a:t>
                      </a:r>
                    </a:p>
                  </a:txBody>
                  <a:tcPr marL="112933" marR="112933" marT="56467" marB="56467" anchor="ctr"/>
                </a:tc>
                <a:extLst>
                  <a:ext uri="{0D108BD9-81ED-4DB2-BD59-A6C34878D82A}">
                    <a16:rowId xmlns:a16="http://schemas.microsoft.com/office/drawing/2014/main" val="2346414505"/>
                  </a:ext>
                </a:extLst>
              </a:tr>
              <a:tr h="49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Company</a:t>
                      </a:r>
                    </a:p>
                  </a:txBody>
                  <a:tcPr marL="112933" marR="112933" marT="56467" marB="564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Reliance Industries Limited</a:t>
                      </a:r>
                    </a:p>
                  </a:txBody>
                  <a:tcPr marL="112933" marR="112933" marT="56467" marB="56467" anchor="ctr"/>
                </a:tc>
                <a:extLst>
                  <a:ext uri="{0D108BD9-81ED-4DB2-BD59-A6C34878D82A}">
                    <a16:rowId xmlns:a16="http://schemas.microsoft.com/office/drawing/2014/main" val="1385463522"/>
                  </a:ext>
                </a:extLst>
              </a:tr>
              <a:tr h="49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Stock</a:t>
                      </a:r>
                    </a:p>
                  </a:txBody>
                  <a:tcPr marL="112933" marR="112933" marT="56467" marB="564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Reliance Industries equity shares</a:t>
                      </a:r>
                    </a:p>
                  </a:txBody>
                  <a:tcPr marL="112933" marR="112933" marT="56467" marB="56467" anchor="ctr"/>
                </a:tc>
                <a:extLst>
                  <a:ext uri="{0D108BD9-81ED-4DB2-BD59-A6C34878D82A}">
                    <a16:rowId xmlns:a16="http://schemas.microsoft.com/office/drawing/2014/main" val="2224203626"/>
                  </a:ext>
                </a:extLst>
              </a:tr>
              <a:tr h="49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Market benchmark</a:t>
                      </a:r>
                    </a:p>
                  </a:txBody>
                  <a:tcPr marL="112933" marR="112933" marT="56467" marB="564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BSE Sensex</a:t>
                      </a:r>
                    </a:p>
                  </a:txBody>
                  <a:tcPr marL="112933" marR="112933" marT="56467" marB="56467" anchor="ctr"/>
                </a:tc>
                <a:extLst>
                  <a:ext uri="{0D108BD9-81ED-4DB2-BD59-A6C34878D82A}">
                    <a16:rowId xmlns:a16="http://schemas.microsoft.com/office/drawing/2014/main" val="963703491"/>
                  </a:ext>
                </a:extLst>
              </a:tr>
              <a:tr h="49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Observation frequency</a:t>
                      </a:r>
                    </a:p>
                  </a:txBody>
                  <a:tcPr marL="112933" marR="112933" marT="56467" marB="564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Hypothetical monthly returns</a:t>
                      </a:r>
                    </a:p>
                  </a:txBody>
                  <a:tcPr marL="112933" marR="112933" marT="56467" marB="56467" anchor="ctr"/>
                </a:tc>
                <a:extLst>
                  <a:ext uri="{0D108BD9-81ED-4DB2-BD59-A6C34878D82A}">
                    <a16:rowId xmlns:a16="http://schemas.microsoft.com/office/drawing/2014/main" val="1068359770"/>
                  </a:ext>
                </a:extLst>
              </a:tr>
              <a:tr h="496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Number of observations</a:t>
                      </a:r>
                    </a:p>
                  </a:txBody>
                  <a:tcPr marL="112933" marR="112933" marT="56467" marB="564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5</a:t>
                      </a:r>
                    </a:p>
                  </a:txBody>
                  <a:tcPr marL="112933" marR="112933" marT="56467" marB="56467" anchor="ctr"/>
                </a:tc>
                <a:extLst>
                  <a:ext uri="{0D108BD9-81ED-4DB2-BD59-A6C34878D82A}">
                    <a16:rowId xmlns:a16="http://schemas.microsoft.com/office/drawing/2014/main" val="84495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652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09EC0-CAD8-EA1A-B09A-EA7F471AA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7730651-3222-BFE1-5EA2-7AEB6CB309D2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F3B007C-72BF-8A91-F6EC-C3AE56C4E43E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E52D02F-C913-BC88-2815-C1DA2F37D4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0464977"/>
                  </p:ext>
                </p:extLst>
              </p:nvPr>
            </p:nvGraphicFramePr>
            <p:xfrm>
              <a:off x="2357306" y="2215805"/>
              <a:ext cx="7120664" cy="269181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70829">
                      <a:extLst>
                        <a:ext uri="{9D8B030D-6E8A-4147-A177-3AD203B41FA5}">
                          <a16:colId xmlns:a16="http://schemas.microsoft.com/office/drawing/2014/main" val="1450028202"/>
                        </a:ext>
                      </a:extLst>
                    </a:gridCol>
                    <a:gridCol w="3226122">
                      <a:extLst>
                        <a:ext uri="{9D8B030D-6E8A-4147-A177-3AD203B41FA5}">
                          <a16:colId xmlns:a16="http://schemas.microsoft.com/office/drawing/2014/main" val="3379114918"/>
                        </a:ext>
                      </a:extLst>
                    </a:gridCol>
                    <a:gridCol w="2523713">
                      <a:extLst>
                        <a:ext uri="{9D8B030D-6E8A-4147-A177-3AD203B41FA5}">
                          <a16:colId xmlns:a16="http://schemas.microsoft.com/office/drawing/2014/main" val="3434729354"/>
                        </a:ext>
                      </a:extLst>
                    </a:gridCol>
                  </a:tblGrid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Month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Reliance stock return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2000"/>
                            <a:t>)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Sensex return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200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2000"/>
                            <a:t>)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1407046505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January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4%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2%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7480853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February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2%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1%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1949847385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March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−3%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−1%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373385277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April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5%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 dirty="0"/>
                            <a:t>3%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3580174961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May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−2%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 dirty="0"/>
                            <a:t>−2%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266916796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E52D02F-C913-BC88-2815-C1DA2F37D4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0464977"/>
                  </p:ext>
                </p:extLst>
              </p:nvPr>
            </p:nvGraphicFramePr>
            <p:xfrm>
              <a:off x="2357306" y="2215805"/>
              <a:ext cx="7120664" cy="269181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370829">
                      <a:extLst>
                        <a:ext uri="{9D8B030D-6E8A-4147-A177-3AD203B41FA5}">
                          <a16:colId xmlns:a16="http://schemas.microsoft.com/office/drawing/2014/main" val="1450028202"/>
                        </a:ext>
                      </a:extLst>
                    </a:gridCol>
                    <a:gridCol w="3226122">
                      <a:extLst>
                        <a:ext uri="{9D8B030D-6E8A-4147-A177-3AD203B41FA5}">
                          <a16:colId xmlns:a16="http://schemas.microsoft.com/office/drawing/2014/main" val="3379114918"/>
                        </a:ext>
                      </a:extLst>
                    </a:gridCol>
                    <a:gridCol w="2523713">
                      <a:extLst>
                        <a:ext uri="{9D8B030D-6E8A-4147-A177-3AD203B41FA5}">
                          <a16:colId xmlns:a16="http://schemas.microsoft.com/office/drawing/2014/main" val="3434729354"/>
                        </a:ext>
                      </a:extLst>
                    </a:gridCol>
                  </a:tblGrid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dirty="0"/>
                            <a:t>Month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962" marR="101962" marT="50982" marB="50982" anchor="ctr">
                        <a:blipFill>
                          <a:blip r:embed="rId3"/>
                          <a:stretch>
                            <a:fillRect l="-42642" t="-1351" r="-78491" b="-5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962" marR="101962" marT="50982" marB="50982" anchor="ctr">
                        <a:blipFill>
                          <a:blip r:embed="rId3"/>
                          <a:stretch>
                            <a:fillRect l="-182609" t="-1351" r="-483" b="-5162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7046505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January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4%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2%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7480853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February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2%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1%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1949847385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March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−3%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−1%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373385277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April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5%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 dirty="0"/>
                            <a:t>3%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3580174961"/>
                      </a:ext>
                    </a:extLst>
                  </a:tr>
                  <a:tr h="44863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/>
                            <a:t>May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/>
                            <a:t>−2%</a:t>
                          </a:r>
                        </a:p>
                      </a:txBody>
                      <a:tcPr marL="101962" marR="101962" marT="50982" marB="50982"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sz="2000" dirty="0"/>
                            <a:t>−2%</a:t>
                          </a:r>
                        </a:p>
                      </a:txBody>
                      <a:tcPr marL="101962" marR="101962" marT="50982" marB="50982" anchor="ctr"/>
                    </a:tc>
                    <a:extLst>
                      <a:ext uri="{0D108BD9-81ED-4DB2-BD59-A6C34878D82A}">
                        <a16:rowId xmlns:a16="http://schemas.microsoft.com/office/drawing/2014/main" val="266916796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D6974B8-41A3-464C-7910-2B568E4E3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450" y="5315994"/>
            <a:ext cx="2867425" cy="113363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219532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428E-350B-91A7-7AAA-76131E93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95A37C-83A2-D695-5653-EEB9ED41255E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188849-1AA4-D04C-7D60-C4B009D7D850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720B3FE-6AFF-9C96-C76E-8BC4A8454C4D}"/>
              </a:ext>
            </a:extLst>
          </p:cNvPr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Equity Beta: Estimation</a:t>
            </a:r>
            <a:endParaRPr lang="en-US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6D4193-76BC-A1F8-3928-615118BE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25" y="1335236"/>
            <a:ext cx="7874468" cy="3799386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977877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AC1F-BE70-8472-459D-FA2E3225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F754C0-CD48-9397-7034-1D5822EE2BCC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AF7C2B7-4F02-43E6-D6F1-C7A0CA4A574F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CEAC264-5595-CBF4-3130-11460FF094EF}"/>
              </a:ext>
            </a:extLst>
          </p:cNvPr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Equity Beta: Estimation</a:t>
            </a:r>
            <a:endParaRPr lang="en-US" sz="3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DA6B421-01E5-BFBE-8C61-AB27AB6628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663479"/>
                  </p:ext>
                </p:extLst>
              </p:nvPr>
            </p:nvGraphicFramePr>
            <p:xfrm>
              <a:off x="586530" y="2021171"/>
              <a:ext cx="10515600" cy="2468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2328789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15928146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19273790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57546277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329512927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Month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Reliance return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Sensex return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Reliance deviation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/>
                                  </m:ctrlPr>
                                </m:sSubPr>
                                <m:e>
                                  <m:r>
                                    <a:rPr lang="en-IN"/>
                                    <m:t>𝑅</m:t>
                                  </m:r>
                                </m:e>
                                <m:sub>
                                  <m:r>
                                    <a:rPr lang="en-IN"/>
                                    <m:t>𝑖</m:t>
                                  </m:r>
                                </m:sub>
                              </m:sSub>
                              <m:r>
                                <a:rPr lang="en-IN"/>
                                <m:t>−</m:t>
                              </m:r>
                              <m:sSub>
                                <m:sSubPr>
                                  <m:ctrlPr>
                                    <a:rPr lang="en-IN"/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/>
                                      </m:ctrlPr>
                                    </m:accPr>
                                    <m:e>
                                      <m:r>
                                        <a:rPr lang="en-IN"/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/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Sensex deviation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/>
                                  </m:ctrlPr>
                                </m:sSubPr>
                                <m:e>
                                  <m:r>
                                    <a:rPr lang="en-IN"/>
                                    <m:t>𝑅</m:t>
                                  </m:r>
                                </m:e>
                                <m:sub>
                                  <m:r>
                                    <a:rPr lang="en-IN"/>
                                    <m:t>𝑚</m:t>
                                  </m:r>
                                </m:sub>
                              </m:sSub>
                              <m:r>
                                <a:rPr lang="en-IN"/>
                                <m:t>−</m:t>
                              </m:r>
                              <m:sSub>
                                <m:sSubPr>
                                  <m:ctrlPr>
                                    <a:rPr lang="en-IN"/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IN"/>
                                      </m:ctrlPr>
                                    </m:accPr>
                                    <m:e>
                                      <m:r>
                                        <a:rPr lang="en-IN"/>
                                        <m:t>𝑅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IN"/>
                                    <m:t>𝑚</m:t>
                                  </m:r>
                                </m:sub>
                              </m:sSub>
                            </m:oMath>
                          </a14:m>
                          <a:endParaRPr lang="en-IN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05922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January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1.4%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41769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February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0.4%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33683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March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−4.2%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−1.6%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55227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April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3.8%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2.4%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02876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May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dirty="0"/>
                            <a:t>−3.2%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dirty="0"/>
                            <a:t>−2.6%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92915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DA6B421-01E5-BFBE-8C61-AB27AB6628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5663479"/>
                  </p:ext>
                </p:extLst>
              </p:nvPr>
            </p:nvGraphicFramePr>
            <p:xfrm>
              <a:off x="586530" y="2021171"/>
              <a:ext cx="10515600" cy="2468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2328789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1159281464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2192737905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575462778"/>
                        </a:ext>
                      </a:extLst>
                    </a:gridCol>
                    <a:gridCol w="2103120">
                      <a:extLst>
                        <a:ext uri="{9D8B030D-6E8A-4147-A177-3AD203B41FA5}">
                          <a16:colId xmlns:a16="http://schemas.microsoft.com/office/drawing/2014/main" val="329512927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Month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Reliance return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Sensex return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80" t="-4762" r="-100580" b="-3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580" t="-4762" r="-580" b="-3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059229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January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1.4%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41769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February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0.4%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33683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March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−4.2%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−1.6%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355227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April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3%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3.8%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2.4%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02876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May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/>
                            <a:t>−2%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dirty="0"/>
                            <a:t>−3.2%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IN" dirty="0"/>
                            <a:t>−2.6%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929157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59BFE58-F72E-2873-7294-78CF99F65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30" y="1083343"/>
            <a:ext cx="6458851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75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9A813-6078-1B14-E9C8-63A0F43B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376911-AA5A-5EDD-5588-0540F3E45046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40669D3-D39E-22AD-F820-5AEC4762F90D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0D318971-A41B-F997-2CAE-BA87B3412E9A}"/>
              </a:ext>
            </a:extLst>
          </p:cNvPr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Equity Beta: Estimation</a:t>
            </a:r>
            <a:endParaRPr lang="en-US" sz="3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254BD2-4DDD-BEC1-229F-74B835751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64584"/>
              </p:ext>
            </p:extLst>
          </p:nvPr>
        </p:nvGraphicFramePr>
        <p:xfrm>
          <a:off x="620086" y="2189692"/>
          <a:ext cx="1051560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2151018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05089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093257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089838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00737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Stock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Market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Cross-product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Squared market deviation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908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January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0.000196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111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February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636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−4.2%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45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April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0.000576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451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−3.2%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−2.6%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0.000676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2886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0.002840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0.001720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01514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6DF6944-BFBF-A709-C873-9E3D03B68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86" y="1051560"/>
            <a:ext cx="8545118" cy="657317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272338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CA5D-F907-83D2-176F-B0CBE5A3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8E706-FE78-F008-236D-0AD673A01654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E8CBE5-0316-423E-1C43-B4129BB91E67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F53A39B-9368-3C95-471D-B1DE6AA7C2FA}"/>
              </a:ext>
            </a:extLst>
          </p:cNvPr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Equity Beta: Estimation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95D40-83B8-AFBA-89B8-4D9BABCEF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679" y="1122352"/>
            <a:ext cx="8644428" cy="519466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601330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DCE8-D1E0-391D-EC3D-7A96FEF3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C55075-6DB5-44FC-0F7A-2436D53EDD66}"/>
              </a:ext>
            </a:extLst>
          </p:cNvPr>
          <p:cNvSpPr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Estimating Historical Beta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A9A4230-5773-EC29-C58E-89AC1BC53B6B}"/>
              </a:ext>
            </a:extLst>
          </p:cNvPr>
          <p:cNvSpPr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576241F-6983-29D8-923B-92C1B68307CF}"/>
              </a:ext>
            </a:extLst>
          </p:cNvPr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Equity Beta: Estimation</a:t>
            </a:r>
            <a:endParaRPr lang="en-US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CAF03B-9A5E-E798-7ECB-EB208FCDA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98" y="1280812"/>
            <a:ext cx="10421804" cy="4296375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775600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Equity: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BSE Sensex stocks — India 10-yr G-Sec yield ≈ 7.0% used as Rf; assumed Rm = 13%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Industries (RELIANCE)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1E7A46"/>
                </a:solidFill>
              </a:rPr>
              <a:t>β = 0.83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= 7.0% + 0.83 × (13% − 7%)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= 11.98%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volatile than the Sensex — modest risk premium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29400" y="1874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Consultancy Services (TCS)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b="1" dirty="0">
                <a:solidFill>
                  <a:srgbClr val="C0392B"/>
                </a:solidFill>
              </a:rPr>
              <a:t>β = 1.13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2940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= 7.0% + 1.13 × (13% − 7%</a:t>
            </a: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b="1" dirty="0">
              <a:solidFill>
                <a:schemeClr val="accent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0" y="3337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 = 13.78%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29400" y="4297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volatile than the Sensex — higher required return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Beta: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returns: stock vs. BSE Sensex</a:t>
            </a:r>
            <a:endParaRPr lang="en-US" sz="1600" dirty="0">
              <a:solidFill>
                <a:schemeClr val="accent2"/>
              </a:solidFill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334386"/>
              </p:ext>
            </p:extLst>
          </p:nvPr>
        </p:nvGraphicFramePr>
        <p:xfrm>
          <a:off x="457200" y="1737360"/>
          <a:ext cx="5486400" cy="257860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Return Ri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Sensex Return Rm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737360"/>
            <a:ext cx="5468112" cy="41148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Regression-Based Formula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0" y="23774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[nΣ(RiRm) − ΣRi×ΣRm] / [nΣRm² − (ΣRm)²]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0" y="3200400"/>
            <a:ext cx="5029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the mean of Ri and Rm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deviations from each mean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Multiply deviations &amp; sum → Covariance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Square (Rm deviations) &amp; sum → Variance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β = Covariance / Variance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Beta varies with the time period, return frequency, and benchmark index chosen — which is why different providers report different beta values for the same stock.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Alpha: Meaning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measures the </a:t>
            </a:r>
            <a:r>
              <a:rPr lang="en-US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an investment </a:t>
            </a:r>
            <a:r>
              <a:rPr lang="en-US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versus what CAPM would predict for its level of risk — it isolates skill from risk-taking.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R</a:t>
            </a:r>
            <a:r>
              <a:rPr lang="en-US" sz="24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−  [Rf + β(Rm − Rf)]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3639312" cy="2240280"/>
          </a:xfrm>
          <a:prstGeom prst="roundRect">
            <a:avLst>
              <a:gd name="adj" fmla="val 367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exactly as expected for its risk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9392" y="3520440"/>
            <a:ext cx="3639312" cy="2240280"/>
          </a:xfrm>
          <a:prstGeom prst="roundRect">
            <a:avLst>
              <a:gd name="adj" fmla="val 367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53712" y="374904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8FBF7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53712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&gt; 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4526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its risk-adjusted expectation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1584" y="3520440"/>
            <a:ext cx="3639312" cy="2240280"/>
          </a:xfrm>
          <a:prstGeom prst="roundRect">
            <a:avLst>
              <a:gd name="adj" fmla="val 3673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75904" y="374904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E8A9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75904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&lt; 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4526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Underperformed its risk-adjusted expectation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Alpha: Examples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Risk-Adjusted Comparison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10%, Rf = 4%</a:t>
            </a:r>
            <a:endParaRPr lang="en-US" sz="1400" b="1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977386"/>
              </p:ext>
            </p:extLst>
          </p:nvPr>
        </p:nvGraphicFramePr>
        <p:xfrm>
          <a:off x="777240" y="2560320"/>
          <a:ext cx="4754880" cy="2011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Return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CAPM Expected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7091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B took less risk but delivered far more excess return — more manager skill despite a lower headline return.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6294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Active vs. Passive Fund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62940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friends invest ₹1 lakh at similar risk levels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2940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Index Fund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return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2940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Large-Cap Fund: </a:t>
            </a: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return</a:t>
            </a:r>
          </a:p>
        </p:txBody>
      </p:sp>
      <p:sp>
        <p:nvSpPr>
          <p:cNvPr id="13" name="Shape 10"/>
          <p:cNvSpPr/>
          <p:nvPr/>
        </p:nvSpPr>
        <p:spPr>
          <a:xfrm>
            <a:off x="6629400" y="37033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6294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= +5%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29400" y="4663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extra 5% reflects the fund manager's stock selection and timing skill — the value added over simply buying the market.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CAPM vs. Dividend Growth Model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96195"/>
              </p:ext>
            </p:extLst>
          </p:nvPr>
        </p:nvGraphicFramePr>
        <p:xfrm>
          <a:off x="457200" y="1600200"/>
          <a:ext cx="11274552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3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Growth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listed companies (dividend or not)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dividend-paying companies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measurement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— via Beta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/ ignored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required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β, 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expected dividend, growth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markets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Constant, perpetual dividend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&amp; market premium estimates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sensitive to growth rate (g)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Growth/tech &amp; all-sector firms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444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Stable, mature, dividend-paying firms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4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 blends cost of equity, cost of debt, and their weights (WACC)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prices only systematic (non-diversifiable) risk via Beta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reveals genuine skill — excess return beyond what risk alone explains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and the Dividend Growth Model are complementary, not competing,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1730</Words>
  <Application>Microsoft Office PowerPoint</Application>
  <PresentationFormat>Widescreen</PresentationFormat>
  <Paragraphs>401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kumarrajeev_trainer@outlook.com</cp:lastModifiedBy>
  <cp:revision>9</cp:revision>
  <dcterms:created xsi:type="dcterms:W3CDTF">2026-09-15T03:33:45Z</dcterms:created>
  <dcterms:modified xsi:type="dcterms:W3CDTF">2026-09-15T04:55:41Z</dcterms:modified>
</cp:coreProperties>
</file>