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07" r:id="rId4"/>
    <p:sldId id="356" r:id="rId5"/>
    <p:sldId id="355" r:id="rId6"/>
    <p:sldId id="354" r:id="rId7"/>
    <p:sldId id="357" r:id="rId8"/>
    <p:sldId id="358" r:id="rId9"/>
    <p:sldId id="360" r:id="rId10"/>
    <p:sldId id="359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27" r:id="rId19"/>
  </p:sldIdLst>
  <p:sldSz cx="18288000" cy="10287000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old" panose="00000800000000000000" charset="0"/>
      <p:regular r:id="rId25"/>
    </p:embeddedFont>
    <p:embeddedFont>
      <p:font typeface="Montserrat Medium" panose="00000600000000000000" pitchFamily="2" charset="0"/>
      <p:regular r:id="rId26"/>
      <p:italic r:id="rId27"/>
    </p:embeddedFont>
    <p:embeddedFont>
      <p:font typeface="Montserrat Ultra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00FF"/>
    <a:srgbClr val="FF9900"/>
    <a:srgbClr val="0033CC"/>
    <a:srgbClr val="000099"/>
    <a:srgbClr val="2D2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5E0BD-4190-41AC-BFAE-3FEEDB3CCF31}" type="datetimeFigureOut">
              <a:rPr lang="en-IN" smtClean="0"/>
              <a:pPr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60793-3080-445B-BDBA-C562ADA602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5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08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0159-1A31-D5E5-66B3-0A1FF53F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4499F-F28A-3639-9BA8-A415B86E7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D2CE6-80F6-955F-3E55-EF397746D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3F69E-8084-E191-B1D5-BA869E31F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579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B471-2AB9-8D2C-7DEE-CAB5D5DA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03FD0-A0E3-79BA-4AB3-F783A187A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42FDE-E28B-870D-704A-07536F5B0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55F9F-3B5B-B364-38EA-FF6787280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922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C9C5-E08A-770E-D058-CB395A50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FC37C-3F10-C5C3-20E4-FF93EA66E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1A44B-E033-0EEE-6DDC-3B1E72012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E0946-4D64-8D17-E538-A27DB61DB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2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3E756-D97A-3896-5657-511A48DE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D246F-01B3-76BA-9005-C9AC640D6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7BB70-4DE2-F857-3A20-73CC31EC1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8A315-9B89-B0AA-5F4B-935F605B1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485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3752-94AB-A3C5-00C9-3EB1759F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590BB-EC40-93F6-0F88-25CC6C4F9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5F301-45A8-10A8-8525-2F4E05EDB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29993-7DDF-9C4A-0604-DAE8E58BE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52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2F88-5C26-95CF-30AB-6A89E5E6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C0E6B-46FC-E77A-4E8F-605E5A1C7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1B6F5-212D-ACB0-0843-6A97BDABD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BDF15-2704-59A6-D0E2-EA16E9DB6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65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9FF4-B022-4F53-275D-D32DDF7F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60A81-699F-BC20-4CFA-BAFE81E08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398CE-51FE-18D8-4829-165E6EC83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36F1C-B72B-8F3D-E8A0-584E6E650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345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30B9-7991-679A-536E-2A183757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CDF8A-75A6-3919-53A6-D7B23650B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C9DB7-51DE-0BEB-3D32-56B37CDA5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CA4B5-C362-F1C2-698C-4B3E57E2C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2C41-F79E-F4EC-28AA-94E08EC9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26620-A68C-DB66-3EFE-95B5FC3B4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53F9C-BAF9-C7A8-B9D4-982DE13F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592EE-CCC7-800D-57DA-B67EC95C0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31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6289F-7277-AA79-8467-F971CD96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F9882-79A0-03A9-7E6A-B881A687D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E0D63-CCE1-D7B6-2D67-0387B9339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1403-6F22-B8C6-BBA6-AFAB6B28E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76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7D51-873F-93F2-64C0-68E278A3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B7E61-4138-EBA0-DE00-D813B2DA4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2A3F4-2619-B1AB-FA96-A1EACC882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8FCFE-1FF7-F0AC-25E3-906D1485F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719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88207-D110-36B4-492C-03F379C6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75574-C8C5-A65B-1CB0-CEC209E1A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B3469-559C-A407-43C2-E0387987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FD960-DA37-FB25-9A33-465409573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9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781E-1BD9-758F-BE89-172BD2F3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C8DEA-3613-94C2-D17F-38153E29E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045BB-A80E-4DFA-2302-A4A7C5368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C5AF3-1E25-766B-3630-A5F8573B2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5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3962-3CDB-7A44-0229-82F4196A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3A636-51F2-B124-C631-27E91CAF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98261-F886-0D95-D8FC-79E7CAB6F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F6936-2CDF-910D-E9F9-02967C62D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27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0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29775" y="4088040"/>
            <a:ext cx="14696225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SESSION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4382" y="5429252"/>
            <a:ext cx="16787930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FINANCIAL PLANNING &amp; ANALYSIS – 2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29775" y="8183211"/>
            <a:ext cx="9288593" cy="38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50" dirty="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SCALER SCHOOL OF TECHNOLOGY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98618" y="8772632"/>
            <a:ext cx="177766" cy="266816"/>
          </a:xfrm>
          <a:custGeom>
            <a:avLst/>
            <a:gdLst/>
            <a:ahLst/>
            <a:cxnLst/>
            <a:rect l="l" t="t" r="r" b="b"/>
            <a:pathLst>
              <a:path w="177766" h="26681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Learning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679" y="1346313"/>
            <a:ext cx="15936187" cy="4596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endParaRPr dirty="0">
              <a:solidFill>
                <a:srgbClr val="FF0000"/>
              </a:solidFill>
            </a:endParaRPr>
          </a:p>
          <a:p>
            <a:pPr algn="l">
              <a:lnSpc>
                <a:spcPts val="3048"/>
              </a:lnSpc>
            </a:pPr>
            <a:r>
              <a:rPr lang="en-US" sz="2400" b="1" dirty="0">
                <a:solidFill>
                  <a:srgbClr val="1211CA"/>
                </a:solidFill>
                <a:latin typeface="Montserrat Bold" charset="0"/>
                <a:ea typeface="Montserrat Ultra-Bold"/>
                <a:cs typeface="Montserrat Ultra-Bold"/>
                <a:sym typeface="Montserrat Bold"/>
              </a:rPr>
              <a:t>Session 6: Cost-Volume-Profit (CVP) Analysis</a:t>
            </a:r>
          </a:p>
          <a:p>
            <a:pPr algn="l">
              <a:lnSpc>
                <a:spcPts val="3048"/>
              </a:lnSpc>
            </a:pPr>
            <a:endParaRPr lang="en-US" sz="2400" b="1" dirty="0">
              <a:solidFill>
                <a:srgbClr val="1211CA"/>
              </a:solidFill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algn="l">
              <a:lnSpc>
                <a:spcPts val="3048"/>
              </a:lnSpc>
            </a:pPr>
            <a:r>
              <a:rPr lang="en-US" sz="2400" dirty="0">
                <a:latin typeface="Montserrat Bold" charset="0"/>
                <a:ea typeface="Montserrat Ultra-Bold"/>
                <a:cs typeface="Montserrat Ultra-Bold"/>
                <a:sym typeface="Montserrat Bold"/>
              </a:rPr>
              <a:t>By the end of the session, learners will be able to:</a:t>
            </a:r>
            <a:endParaRPr lang="en-US" sz="2400" b="1" dirty="0"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Explain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concept and importance of Cost-Volume-Profit (CVP) analysis. 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Identify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relationship between costs, volume, sales and profit. 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Calculate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contribution, P/V ratio, break-even point and margin of safety. 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Analyse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the impact of changes in price, costs and volume on profitability. 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Evaluate and apply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CVP analysis to support pricing, production and cost-control decisions.</a:t>
            </a: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 marL="518160" lvl="1" indent="-259080">
              <a:lnSpc>
                <a:spcPts val="3048"/>
              </a:lnSpc>
              <a:buFont typeface="Arial"/>
              <a:buChar char="•"/>
            </a:pPr>
            <a:endParaRPr lang="en-US" sz="2400" dirty="0">
              <a:solidFill>
                <a:srgbClr val="2D262A"/>
              </a:solidFill>
              <a:latin typeface="Montserrat"/>
              <a:sym typeface="Montserrat"/>
            </a:endParaRPr>
          </a:p>
          <a:p>
            <a:pPr algn="l">
              <a:lnSpc>
                <a:spcPts val="3048"/>
              </a:lnSpc>
            </a:pPr>
            <a:endParaRPr lang="en-US" sz="2400" dirty="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Full /Traditional Costing: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Also called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absorption costing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. Under this method,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both fixed and variable production overheads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are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included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in the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product cost.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0000FF"/>
                </a:solidFill>
                <a:latin typeface="Montserrat"/>
              </a:rPr>
              <a:t>Fixed production overheads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are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absorbed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into the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unit cost.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pPr marL="457200" indent="-457200">
              <a:buAutoNum type="alphaUcPeriod"/>
            </a:pPr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7030A0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77CEE45-9023-DCE1-3EAD-96E72AA0963A}"/>
              </a:ext>
            </a:extLst>
          </p:cNvPr>
          <p:cNvSpPr/>
          <p:nvPr/>
        </p:nvSpPr>
        <p:spPr>
          <a:xfrm>
            <a:off x="719064" y="3136948"/>
            <a:ext cx="10003312" cy="6569340"/>
          </a:xfrm>
          <a:prstGeom prst="roundRect">
            <a:avLst>
              <a:gd name="adj" fmla="val 272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A6FD920-EBF9-D966-15E2-0DFDA85C6E0B}"/>
              </a:ext>
            </a:extLst>
          </p:cNvPr>
          <p:cNvSpPr txBox="1"/>
          <p:nvPr/>
        </p:nvSpPr>
        <p:spPr>
          <a:xfrm>
            <a:off x="1946848" y="3949886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latin typeface="Montserrat"/>
              </a:rPr>
              <a:t>Sales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C8A554E-04E7-7F8F-6205-FA727BF79F67}"/>
              </a:ext>
            </a:extLst>
          </p:cNvPr>
          <p:cNvSpPr txBox="1"/>
          <p:nvPr/>
        </p:nvSpPr>
        <p:spPr>
          <a:xfrm>
            <a:off x="6900660" y="3949886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latin typeface="Montserrat"/>
              </a:rPr>
              <a:t>XXX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EBF93B8-BAF9-F739-2C2B-309C1C843ED9}"/>
              </a:ext>
            </a:extLst>
          </p:cNvPr>
          <p:cNvSpPr txBox="1"/>
          <p:nvPr/>
        </p:nvSpPr>
        <p:spPr>
          <a:xfrm>
            <a:off x="1946848" y="4407086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latin typeface="Montserrat"/>
              </a:rPr>
              <a:t>Less: Cost of goods sold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D5A12A78-D407-7FAA-2435-31467D3D3791}"/>
              </a:ext>
            </a:extLst>
          </p:cNvPr>
          <p:cNvSpPr txBox="1"/>
          <p:nvPr/>
        </p:nvSpPr>
        <p:spPr>
          <a:xfrm>
            <a:off x="6980603" y="4459562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latin typeface="Montserrat"/>
              </a:rPr>
              <a:t>(XXX)</a:t>
            </a: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22E86E6-E7BA-E905-39FB-D72C48B2B3E3}"/>
              </a:ext>
            </a:extLst>
          </p:cNvPr>
          <p:cNvSpPr txBox="1"/>
          <p:nvPr/>
        </p:nvSpPr>
        <p:spPr>
          <a:xfrm>
            <a:off x="1455014" y="4681406"/>
            <a:ext cx="9107476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Montserrat"/>
              </a:rPr>
              <a:t>(Cost of production + Opening stock − Closing stock)</a:t>
            </a: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F380E0A4-64E3-A160-C222-DD5AC28A9792}"/>
              </a:ext>
            </a:extLst>
          </p:cNvPr>
          <p:cNvSpPr txBox="1"/>
          <p:nvPr/>
        </p:nvSpPr>
        <p:spPr>
          <a:xfrm>
            <a:off x="1946848" y="5138606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latin typeface="Montserrat"/>
              </a:rPr>
              <a:t>Gross profit</a:t>
            </a: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EBAE9498-3ECC-7A8C-F010-23358F2CAB78}"/>
              </a:ext>
            </a:extLst>
          </p:cNvPr>
          <p:cNvSpPr txBox="1"/>
          <p:nvPr/>
        </p:nvSpPr>
        <p:spPr>
          <a:xfrm>
            <a:off x="6840218" y="5217769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indent="0" algn="r">
              <a:buNone/>
              <a:defRPr b="1">
                <a:latin typeface="Montserrat"/>
              </a:defRPr>
            </a:lvl1pPr>
          </a:lstStyle>
          <a:p>
            <a:r>
              <a:rPr lang="en-US" dirty="0"/>
              <a:t>XXX</a:t>
            </a: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C1B97C5A-B899-EA90-6A77-9014645F4EEA}"/>
              </a:ext>
            </a:extLst>
          </p:cNvPr>
          <p:cNvSpPr txBox="1"/>
          <p:nvPr/>
        </p:nvSpPr>
        <p:spPr>
          <a:xfrm>
            <a:off x="1618009" y="5346919"/>
            <a:ext cx="9107476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Montserrat"/>
              </a:rPr>
              <a:t>(Sales − Cost of goods sold)</a:t>
            </a: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D8D4624-7195-262B-C7D7-682FBE705FF9}"/>
              </a:ext>
            </a:extLst>
          </p:cNvPr>
          <p:cNvSpPr txBox="1"/>
          <p:nvPr/>
        </p:nvSpPr>
        <p:spPr>
          <a:xfrm>
            <a:off x="1946848" y="5907308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latin typeface="Montserrat"/>
              </a:rPr>
              <a:t>Add/(Less): Over/(under)-absorbed OH</a:t>
            </a: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3AC9BF7A-9F3E-D757-3BC1-520645E95E70}"/>
              </a:ext>
            </a:extLst>
          </p:cNvPr>
          <p:cNvSpPr txBox="1"/>
          <p:nvPr/>
        </p:nvSpPr>
        <p:spPr>
          <a:xfrm>
            <a:off x="6900660" y="5956694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latin typeface="Montserrat"/>
              </a:rPr>
              <a:t>XXX</a:t>
            </a: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14E4F1CC-E8AE-00A0-E04E-285A08FD60C1}"/>
              </a:ext>
            </a:extLst>
          </p:cNvPr>
          <p:cNvSpPr txBox="1"/>
          <p:nvPr/>
        </p:nvSpPr>
        <p:spPr>
          <a:xfrm>
            <a:off x="1937178" y="6085932"/>
            <a:ext cx="9107476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Montserrat"/>
              </a:rPr>
              <a:t>Actual fixed production OH vs. amount absorbed</a:t>
            </a: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3A2CF6F2-69ED-4D24-B8F8-29BEC661A39E}"/>
              </a:ext>
            </a:extLst>
          </p:cNvPr>
          <p:cNvSpPr txBox="1"/>
          <p:nvPr/>
        </p:nvSpPr>
        <p:spPr>
          <a:xfrm>
            <a:off x="1937178" y="6658858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latin typeface="Montserrat"/>
              </a:rPr>
              <a:t>Less: Selling &amp; admin overhead</a:t>
            </a: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06E2EAD6-6A57-21BA-DF3B-E3A949C0552D}"/>
              </a:ext>
            </a:extLst>
          </p:cNvPr>
          <p:cNvSpPr txBox="1"/>
          <p:nvPr/>
        </p:nvSpPr>
        <p:spPr>
          <a:xfrm>
            <a:off x="7061042" y="6658858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latin typeface="Montserrat"/>
              </a:rPr>
              <a:t>(XXX)</a:t>
            </a: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23806E80-2B79-3FB6-2DA2-29D8011ED941}"/>
              </a:ext>
            </a:extLst>
          </p:cNvPr>
          <p:cNvSpPr txBox="1"/>
          <p:nvPr/>
        </p:nvSpPr>
        <p:spPr>
          <a:xfrm>
            <a:off x="1976838" y="6871810"/>
            <a:ext cx="9107476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Montserrat"/>
              </a:rPr>
              <a:t>Fixed + variable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2E1F0A32-CA97-8AE9-4A79-A219D7B65D76}"/>
              </a:ext>
            </a:extLst>
          </p:cNvPr>
          <p:cNvSpPr txBox="1"/>
          <p:nvPr/>
        </p:nvSpPr>
        <p:spPr>
          <a:xfrm>
            <a:off x="1946848" y="7467633"/>
            <a:ext cx="6569328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latin typeface="Montserrat"/>
              </a:rPr>
              <a:t>Net profit</a:t>
            </a: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A677E7DA-888A-5FC8-5725-428B7A166AC0}"/>
              </a:ext>
            </a:extLst>
          </p:cNvPr>
          <p:cNvSpPr txBox="1"/>
          <p:nvPr/>
        </p:nvSpPr>
        <p:spPr>
          <a:xfrm>
            <a:off x="7055768" y="7483998"/>
            <a:ext cx="2239544" cy="59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b="1" dirty="0">
                <a:latin typeface="Montserrat"/>
              </a:rPr>
              <a:t>XXX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7B4F-DBB8-A2B6-A77D-005A51501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B43C99-DEA5-555B-204F-04A24F011BA6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A54FF0-A11D-241C-55F2-672D9FBDB56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3BEE8CC-77D5-F91B-0787-437FC0B0FD8F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BB62DA2-62CD-AECF-5F43-89BE2F6158D6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BA40DD-B069-89CE-F25F-133F3C11F3D1}"/>
              </a:ext>
            </a:extLst>
          </p:cNvPr>
          <p:cNvSpPr txBox="1"/>
          <p:nvPr/>
        </p:nvSpPr>
        <p:spPr>
          <a:xfrm>
            <a:off x="357126" y="1500162"/>
            <a:ext cx="1740699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Marginal Costing: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Also called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variable costing,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prepares the profit statement by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separating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variable costs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from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fixed costs,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rather than by function (production, admin, selling) as in absorption costing.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0000FF"/>
                </a:solidFill>
                <a:latin typeface="Montserrat"/>
              </a:rPr>
              <a:t>Fixed costs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are treated as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period costs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and charged in full to the period, not spread over units produced.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pPr marL="457200" indent="-457200">
              <a:buAutoNum type="alphaUcPeriod"/>
            </a:pPr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7030A0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3689EA-7CFB-5F1B-EF41-16931EA016B4}"/>
              </a:ext>
            </a:extLst>
          </p:cNvPr>
          <p:cNvGrpSpPr/>
          <p:nvPr/>
        </p:nvGrpSpPr>
        <p:grpSpPr>
          <a:xfrm>
            <a:off x="3036952" y="4058343"/>
            <a:ext cx="6899136" cy="4076762"/>
            <a:chOff x="3469000" y="4313644"/>
            <a:chExt cx="6035040" cy="3566160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83B14687-2906-893C-C744-41F71C75CEA3}"/>
                </a:ext>
              </a:extLst>
            </p:cNvPr>
            <p:cNvSpPr/>
            <p:nvPr/>
          </p:nvSpPr>
          <p:spPr>
            <a:xfrm>
              <a:off x="3469000" y="4313644"/>
              <a:ext cx="6035040" cy="3566160"/>
            </a:xfrm>
            <a:prstGeom prst="roundRect">
              <a:avLst>
                <a:gd name="adj" fmla="val 3077"/>
              </a:avLst>
            </a:prstGeom>
            <a:solidFill>
              <a:srgbClr val="F4F6FC"/>
            </a:solidFill>
            <a:ln>
              <a:solidFill>
                <a:srgbClr val="0070C0"/>
              </a:solidFill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DFBDDC35-B172-B2C9-0FE3-47306D0A6204}"/>
                </a:ext>
              </a:extLst>
            </p:cNvPr>
            <p:cNvSpPr txBox="1"/>
            <p:nvPr/>
          </p:nvSpPr>
          <p:spPr>
            <a:xfrm>
              <a:off x="3712840" y="4450804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latin typeface="Montserrat"/>
                </a:rPr>
                <a:t>Sales</a:t>
              </a:r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214F66D8-1D2A-A9A8-CCC9-618F8D2A4B3D}"/>
                </a:ext>
              </a:extLst>
            </p:cNvPr>
            <p:cNvSpPr txBox="1"/>
            <p:nvPr/>
          </p:nvSpPr>
          <p:spPr>
            <a:xfrm>
              <a:off x="7644760" y="4450804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latin typeface="Montserrat"/>
                </a:rPr>
                <a:t>XXX</a:t>
              </a: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924C2B9F-611D-2A73-CFCA-3F26C2027A70}"/>
                </a:ext>
              </a:extLst>
            </p:cNvPr>
            <p:cNvSpPr txBox="1"/>
            <p:nvPr/>
          </p:nvSpPr>
          <p:spPr>
            <a:xfrm>
              <a:off x="3712840" y="5109172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latin typeface="Montserrat"/>
                </a:rPr>
                <a:t>Less: Variable cost</a:t>
              </a: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77A4C29D-FA8F-8892-3178-9BDC29D25437}"/>
                </a:ext>
              </a:extLst>
            </p:cNvPr>
            <p:cNvSpPr txBox="1"/>
            <p:nvPr/>
          </p:nvSpPr>
          <p:spPr>
            <a:xfrm>
              <a:off x="7644760" y="5109172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latin typeface="Montserrat"/>
                </a:rPr>
                <a:t>(XXX)</a:t>
              </a:r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FA21A5FF-715F-7834-A27F-A914A7156C5F}"/>
                </a:ext>
              </a:extLst>
            </p:cNvPr>
            <p:cNvSpPr txBox="1"/>
            <p:nvPr/>
          </p:nvSpPr>
          <p:spPr>
            <a:xfrm>
              <a:off x="3712840" y="576754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latin typeface="Montserrat"/>
                </a:rPr>
                <a:t>Contribution</a:t>
              </a:r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967B630E-D38F-8A58-1EE1-FB1DC3B0E399}"/>
                </a:ext>
              </a:extLst>
            </p:cNvPr>
            <p:cNvSpPr txBox="1"/>
            <p:nvPr/>
          </p:nvSpPr>
          <p:spPr>
            <a:xfrm>
              <a:off x="7644760" y="576754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b="1" dirty="0">
                  <a:latin typeface="Montserrat"/>
                </a:rPr>
                <a:t>XXX</a:t>
              </a:r>
            </a:p>
          </p:txBody>
        </p:sp>
        <p:sp>
          <p:nvSpPr>
            <p:cNvPr id="24" name="Shape 12">
              <a:extLst>
                <a:ext uri="{FF2B5EF4-FFF2-40B4-BE49-F238E27FC236}">
                  <a16:creationId xmlns:a16="http://schemas.microsoft.com/office/drawing/2014/main" id="{D1E4AEFE-4D13-73BB-7BF1-0C3ED99C5884}"/>
                </a:ext>
              </a:extLst>
            </p:cNvPr>
            <p:cNvSpPr/>
            <p:nvPr/>
          </p:nvSpPr>
          <p:spPr>
            <a:xfrm>
              <a:off x="3712840" y="6334468"/>
              <a:ext cx="5486400" cy="0"/>
            </a:xfrm>
            <a:prstGeom prst="line">
              <a:avLst/>
            </a:prstGeom>
            <a:noFill/>
            <a:ln w="9525">
              <a:solidFill>
                <a:srgbClr val="D9DFF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77A6CBDF-C98B-47FE-DA8C-C359B94F9837}"/>
                </a:ext>
              </a:extLst>
            </p:cNvPr>
            <p:cNvSpPr txBox="1"/>
            <p:nvPr/>
          </p:nvSpPr>
          <p:spPr>
            <a:xfrm>
              <a:off x="3712840" y="6425908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latin typeface="Montserrat"/>
                </a:rPr>
                <a:t>Less: Fixed cost</a:t>
              </a:r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C84C4E81-60F2-A842-7F9E-578950BCC705}"/>
                </a:ext>
              </a:extLst>
            </p:cNvPr>
            <p:cNvSpPr txBox="1"/>
            <p:nvPr/>
          </p:nvSpPr>
          <p:spPr>
            <a:xfrm>
              <a:off x="7644760" y="6425908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dirty="0">
                  <a:latin typeface="Montserrat"/>
                </a:rPr>
                <a:t>(XXX)</a:t>
              </a:r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5C969D38-BA66-1BFA-9228-D35ED3A43E5B}"/>
                </a:ext>
              </a:extLst>
            </p:cNvPr>
            <p:cNvSpPr txBox="1"/>
            <p:nvPr/>
          </p:nvSpPr>
          <p:spPr>
            <a:xfrm>
              <a:off x="3712840" y="7084276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b="1" dirty="0">
                  <a:latin typeface="Montserrat"/>
                </a:rPr>
                <a:t>Profit</a:t>
              </a:r>
            </a:p>
          </p:txBody>
        </p:sp>
        <p:sp>
          <p:nvSpPr>
            <p:cNvPr id="32" name="Text 17">
              <a:extLst>
                <a:ext uri="{FF2B5EF4-FFF2-40B4-BE49-F238E27FC236}">
                  <a16:creationId xmlns:a16="http://schemas.microsoft.com/office/drawing/2014/main" id="{B253D4F5-B843-1D5E-06B5-A6AFA8D9ADB5}"/>
                </a:ext>
              </a:extLst>
            </p:cNvPr>
            <p:cNvSpPr txBox="1"/>
            <p:nvPr/>
          </p:nvSpPr>
          <p:spPr>
            <a:xfrm>
              <a:off x="7644760" y="7084276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b="1" dirty="0">
                  <a:latin typeface="Montserrat"/>
                </a:rPr>
                <a:t>XXX</a:t>
              </a:r>
            </a:p>
          </p:txBody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EC0FBBE6-E909-D3CA-8294-E1279221DCBC}"/>
                </a:ext>
              </a:extLst>
            </p:cNvPr>
            <p:cNvSpPr txBox="1"/>
            <p:nvPr/>
          </p:nvSpPr>
          <p:spPr>
            <a:xfrm>
              <a:off x="3712840" y="7376884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latin typeface="Montserrat"/>
                </a:rPr>
                <a:t>Contribution − Fixed cost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2EFC60B-3B5A-8F19-0AF8-C2EA3F8D5AFB}"/>
              </a:ext>
            </a:extLst>
          </p:cNvPr>
          <p:cNvSpPr txBox="1"/>
          <p:nvPr/>
        </p:nvSpPr>
        <p:spPr>
          <a:xfrm>
            <a:off x="3238597" y="6102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latin typeface="Montserrat"/>
              </a:rPr>
              <a:t>Sales − Variable cost</a:t>
            </a:r>
          </a:p>
        </p:txBody>
      </p:sp>
    </p:spTree>
    <p:extLst>
      <p:ext uri="{BB962C8B-B14F-4D97-AF65-F5344CB8AC3E}">
        <p14:creationId xmlns:p14="http://schemas.microsoft.com/office/powerpoint/2010/main" val="265298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E742-13B2-9E27-C8FA-D14158AC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F4C28C-6924-0F99-2D35-3D04D526AEA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6774E2-4FC6-E6DA-7D4A-9C7B9F86EA13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379DEE8-E3C5-2B7F-A7CD-3EDD60A3DA2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4290FC9-48ED-33E5-C9C3-D045F92655E6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AE9ACAD-375A-1025-1C4A-76DB84A348BA}"/>
              </a:ext>
            </a:extLst>
          </p:cNvPr>
          <p:cNvSpPr txBox="1"/>
          <p:nvPr/>
        </p:nvSpPr>
        <p:spPr>
          <a:xfrm>
            <a:off x="357126" y="1500162"/>
            <a:ext cx="17406998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C</a:t>
            </a:r>
            <a:r>
              <a:rPr lang="en-IN" sz="2400" b="1" dirty="0" err="1">
                <a:solidFill>
                  <a:srgbClr val="0000FF"/>
                </a:solidFill>
                <a:latin typeface="Montserrat"/>
              </a:rPr>
              <a:t>ost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–Volume–Profit (CVP) Analysis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is a management accounting technique used to understand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how changes in costs, sales volume, selling price, and profit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affect a business.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It rests on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separating costs into fixed and variable components,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then using the resulting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cost-volume-profit relationships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to find the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break-even point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and beyond.</a:t>
            </a: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It helps managers answer questions such as:</a:t>
            </a: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How many units must we sell to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break even?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How many units must we sell to earn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a target profit?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What happens to profit if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sales volume increases or decreases?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What happens to profit if the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selling price changes?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What happens to profit if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variable or fixed costs change?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How much sales can fall before the business starts making a loss?</a:t>
            </a: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pPr marL="457200" indent="-457200">
              <a:buAutoNum type="alphaUcPeriod"/>
            </a:pPr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7030A0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0558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0EE0C-2BD0-6E55-FE18-F2D5EF9E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4F2243-3AA9-C2A1-0AB0-34E440DFED65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96AC26-533E-4462-0101-6179130864D8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FC080F6-F6D4-3CEF-F796-FF150A8E48F4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856A494-9292-1E68-046A-5DD3FAA1B1C3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16A577-E588-AEB4-D1F3-55ED9185E641}"/>
              </a:ext>
            </a:extLst>
          </p:cNvPr>
          <p:cNvSpPr txBox="1"/>
          <p:nvPr/>
        </p:nvSpPr>
        <p:spPr>
          <a:xfrm>
            <a:off x="357126" y="1500162"/>
            <a:ext cx="17406998" cy="11079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Key Terms: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is a management accounting technique used to understand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how changes in costs, sales volume, selling price, and profit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affect a business.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It rests on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separating costs into fixed and variable components,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then using the resulting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cost-volume-profit relationships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to find the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break-even point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and beyond.</a:t>
            </a: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Selling price (SP)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revenue per unit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Variable cost (VC)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cost per unit that changes with volume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Contribution margin (CM) = Selling Price − Variable Cost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the amount each unit contributes toward covering fixed costs and then profit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Fixed costs (FC)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costs that don't change with volume (rent, salaries, etc.)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2D262A"/>
                </a:solidFill>
                <a:latin typeface="Montserrat"/>
              </a:rPr>
              <a:t>Break-even point (BEP)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the volume at which total revenue equals total costs (zero profit)</a:t>
            </a:r>
          </a:p>
          <a:p>
            <a:pPr marL="457200" indent="-457200">
              <a:buAutoNum type="alphaUcPeriod"/>
            </a:pPr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Montserrat"/>
              </a:rPr>
              <a:t>Break-even analysis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is a management accounting technique used to determine the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sales level at which total revenue equals total costs.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At the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break-even point (BEP):</a:t>
            </a: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                           Total Revenue = Total Cost (SP) 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                                                  Therefore, </a:t>
            </a:r>
            <a:r>
              <a:rPr lang="en-IN" sz="2400" b="1" dirty="0">
                <a:solidFill>
                  <a:srgbClr val="FF0000"/>
                </a:solidFill>
                <a:latin typeface="Montserrat"/>
              </a:rPr>
              <a:t>Profit = 0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(the business makes neither a profit nor a loss)</a:t>
            </a:r>
          </a:p>
          <a:p>
            <a:endParaRPr lang="en-US" sz="2400" b="1" dirty="0">
              <a:solidFill>
                <a:srgbClr val="0000FF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7030A0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1454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012D-3915-EA22-E15B-80C2BC31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E177C7-ABB4-5AED-2D07-160C1ACCF124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C1BFFE-6DF5-DF1B-C62A-D803B2C1B5E1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EDCBA5A-F864-8DDA-DBD0-CDA97BFDBFF8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333C45F-DDDC-2CEC-0BFC-7F02D38D3A09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E3C3E48-4B0F-7B3E-AE55-D15C4E07C38D}"/>
              </a:ext>
            </a:extLst>
          </p:cNvPr>
          <p:cNvSpPr txBox="1"/>
          <p:nvPr/>
        </p:nvSpPr>
        <p:spPr>
          <a:xfrm>
            <a:off x="357126" y="1500162"/>
            <a:ext cx="17406998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1.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Sales Revenue: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Total revenue generated from selling the products.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US" sz="2400" b="1" dirty="0">
                <a:solidFill>
                  <a:srgbClr val="FF9900"/>
                </a:solidFill>
                <a:latin typeface="Montserrat"/>
              </a:rPr>
              <a:t>	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If the selling price per unit is ₹2,000 and the total units sold are 5,000 units, then 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           Sales Revenue =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₹2,000  x 5,000 = ₹1,00,00,000 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2.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Total Variable Cost: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Total cost of variable inputs that changes with the level of activity.</a:t>
            </a: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manufacturer produces 10,000 units.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material cost/unit = ₹1,200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labour cost/unit = ₹500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overhead/unit = ₹300</a:t>
            </a: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Variable Cost/Unit =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₹1,200+₹500+₹300=₹2,000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Total Variable Cost (TVC) =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₹2,000  x 10,000 = ₹ 2,00,00,000 </a:t>
            </a:r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D440D7-4113-47AD-828E-3ED5C6975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552" y="2839244"/>
            <a:ext cx="8338364" cy="7817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655201-1157-C56C-F168-E0F94ADD2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368" y="5473474"/>
            <a:ext cx="10449678" cy="82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79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569E-DF70-59C0-45BA-8BCE0697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101811-9630-AC93-6891-09CC72BA9B16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33FEBE-5011-C231-DDC5-B3F17FC9A35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E102A4-1131-2EC7-07D7-20CCD962CE19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DBDFDD5-63D5-2E43-8001-0EE225DCDF8D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F08D567-5DAD-93E2-1916-E78ACECFBA9D}"/>
              </a:ext>
            </a:extLst>
          </p:cNvPr>
          <p:cNvSpPr txBox="1"/>
          <p:nvPr/>
        </p:nvSpPr>
        <p:spPr>
          <a:xfrm>
            <a:off x="357126" y="1500162"/>
            <a:ext cx="17406998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3.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Contribution: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It is the amount remaining after variable costs have been deducted from sales.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US" sz="2400" b="1" dirty="0">
                <a:solidFill>
                  <a:srgbClr val="2D262A"/>
                </a:solidFill>
                <a:latin typeface="Montserrat"/>
              </a:rPr>
              <a:t>Therefore, </a:t>
            </a: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endParaRPr lang="en-US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Or, 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 sells 10,000 units of a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Selling price per unit = ₹500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cost per unit = ₹300 </a:t>
            </a:r>
          </a:p>
          <a:p>
            <a:endParaRPr lang="en-US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Contribution Per Unit =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₹500 – ₹300 = ₹200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Total Contribution =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₹200  x 10,000 = ₹ 20,00,000 </a:t>
            </a:r>
            <a:endParaRPr lang="en-US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5CF387-6658-04D9-DA24-BEC2356B8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12" y="2525915"/>
            <a:ext cx="5803237" cy="917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FA98BB-A1E3-4486-6977-E6C6B28D0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324" y="3352677"/>
            <a:ext cx="11894470" cy="818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C01930-D876-4068-8AC6-757F9738D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1272" y="4192564"/>
            <a:ext cx="8997574" cy="8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8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9BAD-8279-9FBF-942A-A017061A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A2BC0F-98AD-09CB-8605-F5C1E019AA26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FF7774-DD41-1602-9853-906101EF1FE1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60F49F-48A7-F0B5-3F8E-C069C36C088A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B7F7740-0597-8ED8-203E-B3C5D175C10D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0826BDD-16BF-5F59-2AC8-1F22B9705EC1}"/>
              </a:ext>
            </a:extLst>
          </p:cNvPr>
          <p:cNvSpPr txBox="1"/>
          <p:nvPr/>
        </p:nvSpPr>
        <p:spPr>
          <a:xfrm>
            <a:off x="357126" y="1500162"/>
            <a:ext cx="17406998" cy="8494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4.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Profit: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It is the difference between total contribution and fixed costs.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5.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Profit – Volume (P/V) Ratio: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 P/V ratio measures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contribution as a percentage of sales.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P/V ratio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indicates 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contribution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generated from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every ₹1 of sales.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 sells a product with the following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Selling price = ₹500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cost = ₹300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Contribution = ₹500 − ₹300 = ₹200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Therefore, P/V Ratio =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                       = 40% 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It means that for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every ₹100 of sales, the company generates ₹40 of contribution.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4E4CD-3239-220A-6E61-F76100AD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120" y="2700467"/>
            <a:ext cx="7528008" cy="8396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5C30D4-66E7-6286-1C5B-24E0B6617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616" y="4921254"/>
            <a:ext cx="5010256" cy="12831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00E6DF-7B1C-9C1D-9912-DC8F095B2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480" y="7734876"/>
            <a:ext cx="1906682" cy="1051962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  <p:extLst>
      <p:ext uri="{BB962C8B-B14F-4D97-AF65-F5344CB8AC3E}">
        <p14:creationId xmlns:p14="http://schemas.microsoft.com/office/powerpoint/2010/main" val="225799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BAA2-9DA9-0358-543E-BC42C1B4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567650-D910-B210-5819-90DBEB543480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08A117-8D96-3365-7969-9F52D1368E45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8BA944-14AE-D09D-D6F9-C4E93790DC9C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93EE0DD-2EE1-0907-0CEE-CD281276CC94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0AD114-9277-726E-BC47-CB00355CDA99}"/>
              </a:ext>
            </a:extLst>
          </p:cNvPr>
          <p:cNvSpPr txBox="1"/>
          <p:nvPr/>
        </p:nvSpPr>
        <p:spPr>
          <a:xfrm>
            <a:off x="357126" y="1500162"/>
            <a:ext cx="17406998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6.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Break-Even Point (BEP) – in Units: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break-even point (BEP) in units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is the exact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number of products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business must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sell to cover all its costs and make zero profit or loss.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6.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Break-Even Point (BEP) – in Sales Value: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Sometimes management wants to know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the rupee value of sales required to break even,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rather than the number of units.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 has: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Fixed Cost = ₹2,00,000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P/V Ratio = 40%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lvl="0"/>
            <a:r>
              <a:rPr lang="en-IN" sz="2400" dirty="0">
                <a:solidFill>
                  <a:srgbClr val="2D262A"/>
                </a:solidFill>
                <a:latin typeface="Montserrat"/>
              </a:rPr>
              <a:t>Therefore,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BEP ( Sales Value)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= </a:t>
            </a:r>
          </a:p>
          <a:p>
            <a:pPr lvl="0"/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lvl="0"/>
            <a:r>
              <a:rPr lang="en-IN" sz="2400" b="1" dirty="0">
                <a:solidFill>
                  <a:srgbClr val="2D262A"/>
                </a:solidFill>
                <a:latin typeface="Montserrat"/>
              </a:rPr>
              <a:t>BEP (Sales Value)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= ₹5,00, 000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42F748-5795-65EF-5724-D2668EBD1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40" y="3324755"/>
            <a:ext cx="5344924" cy="1152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A939CD-A7A4-17EB-C9EE-FF60D0EB7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712" y="5770241"/>
            <a:ext cx="3687396" cy="10624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5CADCA-DCCC-5DAF-0C89-70708159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84" y="8023820"/>
            <a:ext cx="1611886" cy="917334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  <p:extLst>
      <p:ext uri="{BB962C8B-B14F-4D97-AF65-F5344CB8AC3E}">
        <p14:creationId xmlns:p14="http://schemas.microsoft.com/office/powerpoint/2010/main" val="1856203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C473A-B059-5A88-0C07-FA52EF0E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BDFEF7-F1AD-FCA0-450C-F14759743D25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850F18-BB6C-DFF7-2A33-684D5FE651D0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7EDE21-1EBC-41E7-5DCA-773BF4C2B914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FDA10A6-8A7C-7611-98B7-0E3FBF0C9AAD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082D34-DC15-4B9C-C381-18D2F90C3DCD}"/>
              </a:ext>
            </a:extLst>
          </p:cNvPr>
          <p:cNvSpPr txBox="1"/>
          <p:nvPr/>
        </p:nvSpPr>
        <p:spPr>
          <a:xfrm>
            <a:off x="357126" y="1500162"/>
            <a:ext cx="1740699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7.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Margin of Safety (MoS) – in Units: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company’s 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margin of safety 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is the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difference between its current sales and its break-even sales.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margin of safety tells the company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how much it could lose in sales before the company begins to lose money.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In other words, before the company falls below the break-even point.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higher the margin of safety is, the lower the risk is of not breaking even or incurring a loss.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 sells 10,000 units and has a break-even point (in units) of 6,000.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Therefore, MoS = 10,000 – 6,000 = 4,000 units.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So, 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4,000-unit margin of safety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represents 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company's cushion against a fall in sales volume.</a:t>
            </a:r>
          </a:p>
          <a:p>
            <a:endParaRPr lang="en-IN" sz="2400" b="1" dirty="0">
              <a:solidFill>
                <a:srgbClr val="0000FF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C1EA1-F6A6-7194-CE19-B3093DE86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14" y="4567436"/>
            <a:ext cx="7715150" cy="8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5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4A00-8ACF-B8F2-A041-D97A8B1D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48EC79-DA2B-57EA-AE99-7B2A4F6B1922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AE8464-A177-0A9E-D2C9-D120A9C2C87F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9B4CD8-EDA1-1EEB-18D8-39912A1AD9DB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3A488FC-EFD6-37B7-3981-FF4F63E6F60A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DC2479-BBFE-7050-A756-D28659930158}"/>
              </a:ext>
            </a:extLst>
          </p:cNvPr>
          <p:cNvSpPr txBox="1"/>
          <p:nvPr/>
        </p:nvSpPr>
        <p:spPr>
          <a:xfrm>
            <a:off x="357126" y="1500162"/>
            <a:ext cx="17406998" cy="812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8.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Margin of Safety (MoS) – in Sales Value: </a:t>
            </a:r>
          </a:p>
          <a:p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It can also be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expressed as a percentage: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company’s sales are as follows: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Actual Sales = ₹10,00,000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Break-Even Sales = ₹6,00,000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Therefore, MoS = ₹10,00,000 – ₹6,00,000 = ₹4,00,000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This means actual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sales can decline by 40%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before the business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reaches BEP</a:t>
            </a:r>
            <a:r>
              <a:rPr lang="en-IN" sz="2400" dirty="0"/>
              <a:t>.</a:t>
            </a:r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172A7D-4CE7-675F-0DEE-51A494DC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907" y="1971456"/>
            <a:ext cx="6790056" cy="739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792C9C-1F53-1BA9-A9F0-B7AF43207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697" y="2886617"/>
            <a:ext cx="3999442" cy="1022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70D1A9-C796-4FCA-35C7-BEB2B98C7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656" y="6423221"/>
            <a:ext cx="4299038" cy="1777710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  <p:extLst>
      <p:ext uri="{BB962C8B-B14F-4D97-AF65-F5344CB8AC3E}">
        <p14:creationId xmlns:p14="http://schemas.microsoft.com/office/powerpoint/2010/main" val="3411535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BCC5-BD32-47EF-BFB4-B909CCBB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A42A52-06C5-9DCF-756E-F90A02B06905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EF7A8A-6E57-89A0-FB52-D8F22055C854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FD09E6D-4EA3-C141-74BF-54857A5BBD9B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60CABF2-2D00-CB0E-0859-1B4289A44211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C6494A5-6B41-CC9C-C66F-8485CE8B9621}"/>
              </a:ext>
            </a:extLst>
          </p:cNvPr>
          <p:cNvSpPr txBox="1"/>
          <p:nvPr/>
        </p:nvSpPr>
        <p:spPr>
          <a:xfrm>
            <a:off x="377962" y="1500162"/>
            <a:ext cx="17406998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Key formulae used in CVP &amp; Break-even Analysis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9. </a:t>
            </a:r>
            <a:r>
              <a:rPr lang="en-IN" sz="2400" b="1" u="sng" dirty="0">
                <a:solidFill>
                  <a:srgbClr val="2D262A"/>
                </a:solidFill>
                <a:latin typeface="Montserrat"/>
              </a:rPr>
              <a:t>Sales Volume Required to Achieve a Target Profit</a:t>
            </a:r>
          </a:p>
          <a:p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Example: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 company’s reported sales and cost figures are as follows: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Selling price per unit = ₹500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Variable cost per unit = ₹300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Fixed costs = ₹12,00,000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Target profit = ₹8,00,000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The company wants to know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how many units it must sell to earn ₹8,00,000 profit.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Contribution Per Unit: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= ₹500 − ₹300 = ₹200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Required Sales to achieve target profit of ₹8,00,000:</a:t>
            </a: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b="1" dirty="0">
                <a:solidFill>
                  <a:srgbClr val="2D262A"/>
                </a:solidFill>
                <a:latin typeface="Montserrat"/>
              </a:rPr>
              <a:t>                                                                                                  = 10,000 units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5AE896-675E-02CF-1ABC-2AAADBC5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24" y="2767236"/>
            <a:ext cx="8766876" cy="1105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3E08EB-4C3D-61BD-7AEC-B1A8D1191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197" y="7447756"/>
            <a:ext cx="3739290" cy="1004192"/>
          </a:xfrm>
          <a:prstGeom prst="rect">
            <a:avLst/>
          </a:prstGeom>
          <a:ln>
            <a:solidFill>
              <a:srgbClr val="FF9900"/>
            </a:solidFill>
          </a:ln>
        </p:spPr>
      </p:pic>
    </p:spTree>
    <p:extLst>
      <p:ext uri="{BB962C8B-B14F-4D97-AF65-F5344CB8AC3E}">
        <p14:creationId xmlns:p14="http://schemas.microsoft.com/office/powerpoint/2010/main" val="229152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9D8F1-7005-F7B9-26BD-6BA93BE7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D811A4B-83E8-1AEE-CF80-585122510CD8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1685B1-4A14-3FF6-AF74-D7975BC465B4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282FBC-D64C-2A96-A64B-6F0B68B96664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E85A030-76F4-7BBF-82F1-D070A4B4B9F1}"/>
              </a:ext>
            </a:extLst>
          </p:cNvPr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0000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Cost-Volume-Profit (CVP) Analysis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F86F20B-6C5D-FB95-0ED2-3461E14DBB0F}"/>
              </a:ext>
            </a:extLst>
          </p:cNvPr>
          <p:cNvSpPr txBox="1"/>
          <p:nvPr/>
        </p:nvSpPr>
        <p:spPr>
          <a:xfrm>
            <a:off x="377962" y="1500162"/>
            <a:ext cx="1740699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u="sng" dirty="0">
                <a:solidFill>
                  <a:srgbClr val="0000FF"/>
                </a:solidFill>
                <a:latin typeface="Montserrat"/>
              </a:rPr>
              <a:t>Illustration:</a:t>
            </a:r>
            <a:endParaRPr lang="en-IN" sz="24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03758-ABBD-6381-5D13-BC90A265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53" y="2092819"/>
            <a:ext cx="7112592" cy="375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06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9F1C-BA56-C411-28C3-EB631294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2A1FA0-1022-EBF0-1896-6F78A952306D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0AA114-F8AB-A422-61C6-6E688504EF7D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94B77D-AF0E-64E1-7E5D-DDFB318B0E9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9CD96CD-C430-D616-9171-0F37D91B0011}"/>
              </a:ext>
            </a:extLst>
          </p:cNvPr>
          <p:cNvSpPr txBox="1"/>
          <p:nvPr/>
        </p:nvSpPr>
        <p:spPr>
          <a:xfrm>
            <a:off x="727681" y="318964"/>
            <a:ext cx="17406998" cy="227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u="sng" dirty="0">
                <a:solidFill>
                  <a:srgbClr val="0000FF"/>
                </a:solidFill>
                <a:latin typeface="Montserrat"/>
              </a:rPr>
              <a:t>Illustration:</a:t>
            </a:r>
            <a:endParaRPr lang="en-IN" sz="28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CBA1E6-AC48-8334-432E-BA85C7BD0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552" y="0"/>
            <a:ext cx="11269608" cy="74515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DE7CD9-9386-C0BF-A381-F3D234ABE117}"/>
              </a:ext>
            </a:extLst>
          </p:cNvPr>
          <p:cNvSpPr txBox="1"/>
          <p:nvPr/>
        </p:nvSpPr>
        <p:spPr>
          <a:xfrm>
            <a:off x="0" y="7448010"/>
            <a:ext cx="181346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0000FF"/>
                </a:solidFill>
                <a:latin typeface="Montserrat"/>
              </a:rPr>
              <a:t>revenue line (blue) starts at $0 and rises steeply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every unit sold adds $50.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FF9900"/>
                </a:solidFill>
                <a:latin typeface="Montserrat"/>
              </a:rPr>
              <a:t>total cost line (orange) starts at $40,000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(the fixed cost) and rises more gently — every unit adds only $30.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fixed cost line (dashed </a:t>
            </a:r>
            <a:r>
              <a:rPr lang="en-I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gray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</a:rPr>
              <a:t>) stays flat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at $40,000 regardless of volume.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Where the revenue and total cost lines cross is the break-even point: 2,000 units, $100,000 in sales.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Below that volume, </a:t>
            </a:r>
            <a:r>
              <a:rPr lang="en-IN" sz="2400" b="1" dirty="0">
                <a:solidFill>
                  <a:srgbClr val="FF0000"/>
                </a:solidFill>
                <a:latin typeface="Montserrat"/>
              </a:rPr>
              <a:t>the loss zone (red) shows total cost exceeding revenue.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Above it, the </a:t>
            </a:r>
            <a:r>
              <a:rPr lang="en-IN" sz="2400" b="1" dirty="0">
                <a:solidFill>
                  <a:srgbClr val="009900"/>
                </a:solidFill>
                <a:latin typeface="Montserrat"/>
              </a:rPr>
              <a:t>profit zone (green) shows revenue pulling ahead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and the gap between the two lines widens by $20 for every extra unit sold.</a:t>
            </a:r>
          </a:p>
        </p:txBody>
      </p:sp>
    </p:spTree>
    <p:extLst>
      <p:ext uri="{BB962C8B-B14F-4D97-AF65-F5344CB8AC3E}">
        <p14:creationId xmlns:p14="http://schemas.microsoft.com/office/powerpoint/2010/main" val="2317759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BCE7A-1075-2483-E993-CCEA1D97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D2858C-62EF-F9A3-DDC2-32DE18EF61D5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BB0EC4-F7BC-5469-9857-D2D9B9195669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652C91-6DDE-EA94-3632-5D03DAF1F8B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C77DBAD-4430-E9F3-8689-23EC765EDBB9}"/>
              </a:ext>
            </a:extLst>
          </p:cNvPr>
          <p:cNvSpPr txBox="1"/>
          <p:nvPr/>
        </p:nvSpPr>
        <p:spPr>
          <a:xfrm>
            <a:off x="575048" y="246956"/>
            <a:ext cx="17406998" cy="227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u="sng" dirty="0">
                <a:solidFill>
                  <a:srgbClr val="0000FF"/>
                </a:solidFill>
                <a:latin typeface="Montserrat"/>
              </a:rPr>
              <a:t>Illustration:</a:t>
            </a:r>
            <a:endParaRPr lang="en-IN" sz="28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FFF0B-EF65-5AC0-C70D-AE5A4E6F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62" y="1412915"/>
            <a:ext cx="12460442" cy="33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40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E483-03CA-86FD-A66C-E7867239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EDC6A3-32C0-7842-38B9-44ED2205B5E0}"/>
              </a:ext>
            </a:extLst>
          </p:cNvPr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D65969-4F6F-4358-6726-85131629A9C4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281658-9C85-68B8-0D1B-F68E999398B8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4443ECD-B962-78F0-E4A5-4AED1679E12A}"/>
              </a:ext>
            </a:extLst>
          </p:cNvPr>
          <p:cNvSpPr txBox="1"/>
          <p:nvPr/>
        </p:nvSpPr>
        <p:spPr>
          <a:xfrm>
            <a:off x="440500" y="246956"/>
            <a:ext cx="17406998" cy="227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u="sng" dirty="0">
                <a:solidFill>
                  <a:srgbClr val="0000FF"/>
                </a:solidFill>
                <a:latin typeface="Montserrat"/>
              </a:rPr>
              <a:t>Illustration:</a:t>
            </a:r>
            <a:endParaRPr lang="en-IN" sz="2800" b="1" u="sng" dirty="0">
              <a:solidFill>
                <a:srgbClr val="2D262A"/>
              </a:solidFill>
              <a:latin typeface="Montserrat"/>
            </a:endParaRPr>
          </a:p>
          <a:p>
            <a:r>
              <a:rPr lang="en-IN" sz="2400" dirty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dirty="0">
              <a:solidFill>
                <a:srgbClr val="2D262A"/>
              </a:solidFill>
              <a:latin typeface="Montserrat"/>
            </a:endParaRPr>
          </a:p>
          <a:p>
            <a:endParaRPr lang="en-IN" sz="2400" b="1" dirty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73D4C4-3FCC-55CB-4CC6-263FD7BBC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12" y="-10311"/>
            <a:ext cx="9808742" cy="6329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C5CBD5-8D63-A722-CA08-CF3DAFB9B52D}"/>
              </a:ext>
            </a:extLst>
          </p:cNvPr>
          <p:cNvSpPr txBox="1"/>
          <p:nvPr/>
        </p:nvSpPr>
        <p:spPr>
          <a:xfrm>
            <a:off x="424745" y="6793377"/>
            <a:ext cx="174069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FF0000"/>
                </a:solidFill>
                <a:latin typeface="Montserrat"/>
              </a:rPr>
              <a:t>red triangle is the loss zone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— its height at any volume below 2,000 units is exactly how much the company is losing at that level of sales.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solidFill>
                  <a:srgbClr val="009900"/>
                </a:solidFill>
                <a:latin typeface="Montserrat"/>
              </a:rPr>
              <a:t>green triangle is the profit zone —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its height at any volume above 2,000 units is the profit at that level.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At 3,000 units (the actual sales point marked), the gap between the blue revenue line and the orange cost line is $20,000 — </a:t>
            </a:r>
            <a:r>
              <a:rPr lang="en-IN" sz="2400" b="1" dirty="0">
                <a:solidFill>
                  <a:srgbClr val="00B0F0"/>
                </a:solidFill>
                <a:latin typeface="Montserrat"/>
              </a:rPr>
              <a:t>that's the profit, 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IN" sz="2400" b="1" dirty="0">
                <a:latin typeface="Montserrat"/>
              </a:rPr>
              <a:t>black bracket on the x-axis between 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the break-even point and the actual sales point is </a:t>
            </a:r>
            <a:r>
              <a:rPr lang="en-IN" sz="2400" b="1" dirty="0">
                <a:solidFill>
                  <a:srgbClr val="2D262A"/>
                </a:solidFill>
                <a:latin typeface="Montserrat"/>
              </a:rPr>
              <a:t>the margin of safety: 1,000 units, or $50,000 of sales cushion</a:t>
            </a:r>
            <a:r>
              <a:rPr lang="en-IN" sz="2400" dirty="0">
                <a:solidFill>
                  <a:srgbClr val="2D262A"/>
                </a:solidFill>
                <a:latin typeface="Montserrat"/>
              </a:rPr>
              <a:t> before the company would start losing money again.</a:t>
            </a:r>
          </a:p>
        </p:txBody>
      </p:sp>
    </p:spTree>
    <p:extLst>
      <p:ext uri="{BB962C8B-B14F-4D97-AF65-F5344CB8AC3E}">
        <p14:creationId xmlns:p14="http://schemas.microsoft.com/office/powerpoint/2010/main" val="3305040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42944" y="4857748"/>
            <a:ext cx="16407621" cy="58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sz="66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2487</TotalTime>
  <Words>1750</Words>
  <Application>Microsoft Office PowerPoint</Application>
  <PresentationFormat>Custom</PresentationFormat>
  <Paragraphs>307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Montserrat Ultra-Bold</vt:lpstr>
      <vt:lpstr>Montserrat</vt:lpstr>
      <vt:lpstr>Montserrat Bold</vt:lpstr>
      <vt:lpstr>Arial</vt:lpstr>
      <vt:lpstr>Wingdings</vt:lpstr>
      <vt:lpstr>Calibri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Kmart</dc:title>
  <dc:creator>RAJEEVKUMAR</dc:creator>
  <cp:lastModifiedBy>Rajeev Kumar</cp:lastModifiedBy>
  <cp:revision>504</cp:revision>
  <dcterms:created xsi:type="dcterms:W3CDTF">2006-08-16T00:00:00Z</dcterms:created>
  <dcterms:modified xsi:type="dcterms:W3CDTF">2026-09-05T06:50:51Z</dcterms:modified>
  <dc:identifier>DAG70dRMM_s</dc:identifier>
</cp:coreProperties>
</file>