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55" r:id="rId4"/>
    <p:sldId id="634" r:id="rId5"/>
    <p:sldId id="635" r:id="rId6"/>
    <p:sldId id="639" r:id="rId7"/>
    <p:sldId id="638" r:id="rId8"/>
    <p:sldId id="636" r:id="rId9"/>
    <p:sldId id="637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327" r:id="rId23"/>
  </p:sldIdLst>
  <p:sldSz cx="18288000" cy="10287000"/>
  <p:notesSz cx="6858000" cy="9144000"/>
  <p:embeddedFontLs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Montserrat Bold" panose="00000800000000000000" charset="0"/>
      <p:regular r:id="rId33"/>
    </p:embeddedFont>
    <p:embeddedFont>
      <p:font typeface="Montserrat Medium" panose="00000600000000000000" pitchFamily="2" charset="0"/>
      <p:regular r:id="rId34"/>
      <p:italic r:id="rId35"/>
    </p:embeddedFont>
    <p:embeddedFont>
      <p:font typeface="Montserrat Ultra-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FF"/>
    <a:srgbClr val="0033CC"/>
    <a:srgbClr val="009900"/>
    <a:srgbClr val="000099"/>
    <a:srgbClr val="2D2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58" d="100"/>
          <a:sy n="58" d="100"/>
        </p:scale>
        <p:origin x="542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5E0BD-4190-41AC-BFAE-3FEEDB3CCF31}" type="datetimeFigureOut">
              <a:rPr lang="en-IN" smtClean="0"/>
              <a:pPr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60793-3080-445B-BDBA-C562ADA602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5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B471-2AB9-8D2C-7DEE-CAB5D5DA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03FD0-A0E3-79BA-4AB3-F783A187A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42FDE-E28B-870D-704A-07536F5B0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55F9F-3B5B-B364-38EA-FF6787280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922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AC6FD-52EA-9D71-798D-D1198BF8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9C96F-1850-262E-D82D-08D49A576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FBBE3-6B36-7B2A-7F86-A33C6B423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E7D93-E33F-892B-4C58-E67491344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50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82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70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23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29775" y="4088040"/>
            <a:ext cx="14696225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SESSION 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4382" y="5429252"/>
            <a:ext cx="16787930" cy="2718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 dirty="0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FINANCIAL PLANNING &amp; ANALYSIS – 4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29775" y="8183211"/>
            <a:ext cx="9288593" cy="38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spc="50" dirty="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SCALER SCHOOL OF TECHNOLOGY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98618" y="8772632"/>
            <a:ext cx="177766" cy="266816"/>
          </a:xfrm>
          <a:custGeom>
            <a:avLst/>
            <a:gdLst/>
            <a:ahLst/>
            <a:cxnLst/>
            <a:rect l="l" t="t" r="r" b="b"/>
            <a:pathLst>
              <a:path w="177766" h="266816">
                <a:moveTo>
                  <a:pt x="0" y="0"/>
                </a:moveTo>
                <a:lnTo>
                  <a:pt x="177766" y="0"/>
                </a:lnTo>
                <a:lnTo>
                  <a:pt x="177766" y="266816"/>
                </a:lnTo>
                <a:lnTo>
                  <a:pt x="0" y="266816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Learning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1679" y="1346313"/>
            <a:ext cx="15936187" cy="4211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endParaRPr dirty="0">
              <a:solidFill>
                <a:srgbClr val="FF0000"/>
              </a:solidFill>
            </a:endParaRPr>
          </a:p>
          <a:p>
            <a:pPr algn="l">
              <a:lnSpc>
                <a:spcPts val="3048"/>
              </a:lnSpc>
            </a:pPr>
            <a:r>
              <a:rPr lang="en-US" sz="2400" b="1" dirty="0">
                <a:solidFill>
                  <a:srgbClr val="1211CA"/>
                </a:solidFill>
                <a:latin typeface="Montserrat Bold" charset="0"/>
                <a:ea typeface="Montserrat Ultra-Bold"/>
                <a:cs typeface="Montserrat Ultra-Bold"/>
                <a:sym typeface="Montserrat Bold"/>
              </a:rPr>
              <a:t>Session 8: Capital Budgeting Techniques</a:t>
            </a:r>
          </a:p>
          <a:p>
            <a:pPr algn="l">
              <a:lnSpc>
                <a:spcPts val="3048"/>
              </a:lnSpc>
            </a:pPr>
            <a:endParaRPr lang="en-US" sz="2400" b="1" dirty="0">
              <a:solidFill>
                <a:srgbClr val="1211CA"/>
              </a:solidFill>
              <a:latin typeface="Montserrat Bold" charset="0"/>
              <a:ea typeface="Montserrat Ultra-Bold"/>
              <a:cs typeface="Montserrat Ultra-Bold"/>
              <a:sym typeface="Montserrat Bold"/>
            </a:endParaRPr>
          </a:p>
          <a:p>
            <a:pPr algn="l">
              <a:lnSpc>
                <a:spcPts val="3048"/>
              </a:lnSpc>
            </a:pPr>
            <a:r>
              <a:rPr lang="en-US" sz="2400" dirty="0">
                <a:latin typeface="Montserrat Bold" charset="0"/>
                <a:ea typeface="Montserrat Ultra-Bold"/>
                <a:cs typeface="Montserrat Ultra-Bold"/>
                <a:sym typeface="Montserrat Bold"/>
              </a:rPr>
              <a:t>By the end of the session, learners will be able to:</a:t>
            </a:r>
            <a:endParaRPr lang="en-US" sz="2400" b="1" dirty="0">
              <a:latin typeface="Montserrat Bold" charset="0"/>
              <a:ea typeface="Montserrat Ultra-Bold"/>
              <a:cs typeface="Montserrat Ultra-Bold"/>
              <a:sym typeface="Montserrat Bold"/>
            </a:endParaRP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Calculate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the net present value (NPV) of a proposed project given its cash flows and discount rate.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Compute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the internal rate of return (IRR) of a project using trial-and-error/interpolation or spreadsheet functions.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Determine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the Payback Period and Discounted Payback Period for a given set of project cash flows..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Apply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the appropriate capital rationing technique (e.g., profitability index) to allocate a limited capital budget among competing projects.</a:t>
            </a:r>
            <a:endParaRPr lang="en-US" sz="2400" dirty="0">
              <a:solidFill>
                <a:srgbClr val="2D262A"/>
              </a:solidFill>
              <a:latin typeface="Montserrat"/>
              <a:sym typeface="Montserrat"/>
            </a:endParaRPr>
          </a:p>
          <a:p>
            <a:pPr algn="l">
              <a:lnSpc>
                <a:spcPts val="3048"/>
              </a:lnSpc>
            </a:pPr>
            <a:endParaRPr lang="en-US" sz="2400" dirty="0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E742-13B2-9E27-C8FA-D14158AC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F4C28C-6924-0F99-2D35-3D04D526AEA8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F6774E2-4FC6-E6DA-7D4A-9C7B9F86EA13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379DEE8-E3C5-2B7F-A7CD-3EDD60A3DA23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4290FC9-48ED-33E5-C9C3-D045F92655E6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Capital Budgeting: Meaning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AE9ACAD-375A-1025-1C4A-76DB84A348BA}"/>
              </a:ext>
            </a:extLst>
          </p:cNvPr>
          <p:cNvSpPr txBox="1"/>
          <p:nvPr/>
        </p:nvSpPr>
        <p:spPr>
          <a:xfrm>
            <a:off x="357126" y="1500162"/>
            <a:ext cx="17406998" cy="12685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Capital Budgeting: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The process of planning and evaluating large, long-term investments, such as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purchasing new machinery, expanding the product portfolio (product line), or acquiring another business,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whose cash flows extend many years into the future.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D262A"/>
                </a:solidFill>
                <a:latin typeface="Montserrat"/>
              </a:rPr>
              <a:t>These decisions typically involve large sums of money committed up front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D262A"/>
                </a:solidFill>
                <a:latin typeface="Montserrat"/>
              </a:rPr>
              <a:t>They are largely irreversible once the investment is made (sunk cost)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D262A"/>
                </a:solidFill>
                <a:latin typeface="Montserrat"/>
              </a:rPr>
              <a:t>They shape the firm's future cash flows, risk profile and competitiveness for years or decades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D262A"/>
                </a:solidFill>
                <a:latin typeface="Montserrat"/>
              </a:rPr>
              <a:t>A single wrong capital budgeting decision can destroy far more shareholder value than an operating mistake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pPr>
              <a:spcAft>
                <a:spcPts val="1400"/>
              </a:spcAft>
              <a:buSzPct val="100000"/>
            </a:pPr>
            <a:r>
              <a:rPr lang="en-US" sz="2400" b="1" dirty="0">
                <a:solidFill>
                  <a:srgbClr val="FF9900"/>
                </a:solidFill>
                <a:latin typeface="Montserrat"/>
              </a:rPr>
              <a:t>Various types of investment decisions faced by businesses: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D262A"/>
                </a:solidFill>
                <a:latin typeface="Montserrat"/>
              </a:rPr>
              <a:t>Expansion: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Adding new capacity to grow the business. For example, Tata Motors’ setting up a new EV plant at Sanand, Gujarat.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D262A"/>
                </a:solidFill>
                <a:latin typeface="Montserrat"/>
              </a:rPr>
              <a:t>Replacement of existing assets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D262A"/>
                </a:solidFill>
                <a:latin typeface="Montserrat"/>
              </a:rPr>
              <a:t>Diversification: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 Entering new products or markets to diversify and reduce the risk. For example, Reliance Industries entering the retail business.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pPr>
              <a:spcAft>
                <a:spcPts val="1400"/>
              </a:spcAft>
              <a:buSzPct val="100000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>
                <a:solidFill>
                  <a:srgbClr val="FF9900"/>
                </a:solidFill>
                <a:latin typeface="Montserrat"/>
              </a:rPr>
              <a:t>	</a:t>
            </a:r>
          </a:p>
          <a:p>
            <a:pPr marL="457200" indent="-457200">
              <a:buAutoNum type="alphaUcPeriod"/>
            </a:pPr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7030A0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05589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222782" y="3291840"/>
            <a:ext cx="2948940" cy="20574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6" name="Text 4"/>
          <p:cNvSpPr txBox="1"/>
          <p:nvPr/>
        </p:nvSpPr>
        <p:spPr>
          <a:xfrm>
            <a:off x="1359942" y="3291840"/>
            <a:ext cx="26746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Identify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Opportunity</a:t>
            </a:r>
          </a:p>
        </p:txBody>
      </p:sp>
      <p:sp>
        <p:nvSpPr>
          <p:cNvPr id="7" name="Shape 5"/>
          <p:cNvSpPr/>
          <p:nvPr/>
        </p:nvSpPr>
        <p:spPr>
          <a:xfrm rot="5400000">
            <a:off x="4199154" y="4183380"/>
            <a:ext cx="246888" cy="274320"/>
          </a:xfrm>
          <a:prstGeom prst="triangl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8" name="Shape 6"/>
          <p:cNvSpPr/>
          <p:nvPr/>
        </p:nvSpPr>
        <p:spPr>
          <a:xfrm>
            <a:off x="4446042" y="3291840"/>
            <a:ext cx="2948940" cy="2057400"/>
          </a:xfrm>
          <a:prstGeom prst="roundRect">
            <a:avLst>
              <a:gd name="adj" fmla="val 6667"/>
            </a:avLst>
          </a:prstGeom>
          <a:solidFill>
            <a:srgbClr val="3B4E9E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9" name="Text 7"/>
          <p:cNvSpPr txBox="1"/>
          <p:nvPr/>
        </p:nvSpPr>
        <p:spPr>
          <a:xfrm>
            <a:off x="4583202" y="3291840"/>
            <a:ext cx="26746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Estimate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Cash Flows</a:t>
            </a:r>
          </a:p>
        </p:txBody>
      </p:sp>
      <p:sp>
        <p:nvSpPr>
          <p:cNvPr id="10" name="Shape 8"/>
          <p:cNvSpPr/>
          <p:nvPr/>
        </p:nvSpPr>
        <p:spPr>
          <a:xfrm rot="5400000">
            <a:off x="7422414" y="4183380"/>
            <a:ext cx="246888" cy="274320"/>
          </a:xfrm>
          <a:prstGeom prst="triangl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11" name="Shape 9"/>
          <p:cNvSpPr/>
          <p:nvPr/>
        </p:nvSpPr>
        <p:spPr>
          <a:xfrm>
            <a:off x="7669302" y="3291840"/>
            <a:ext cx="2948940" cy="20574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12" name="Text 10"/>
          <p:cNvSpPr txBox="1"/>
          <p:nvPr/>
        </p:nvSpPr>
        <p:spPr>
          <a:xfrm>
            <a:off x="7806462" y="3291840"/>
            <a:ext cx="26746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Evaluate Using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NPV / IRR / Payback</a:t>
            </a:r>
          </a:p>
        </p:txBody>
      </p:sp>
      <p:sp>
        <p:nvSpPr>
          <p:cNvPr id="13" name="Shape 11"/>
          <p:cNvSpPr/>
          <p:nvPr/>
        </p:nvSpPr>
        <p:spPr>
          <a:xfrm rot="5400000">
            <a:off x="10645674" y="4183380"/>
            <a:ext cx="246888" cy="274320"/>
          </a:xfrm>
          <a:prstGeom prst="triangl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14" name="Shape 12"/>
          <p:cNvSpPr/>
          <p:nvPr/>
        </p:nvSpPr>
        <p:spPr>
          <a:xfrm>
            <a:off x="10892562" y="3291840"/>
            <a:ext cx="2948940" cy="2057400"/>
          </a:xfrm>
          <a:prstGeom prst="roundRect">
            <a:avLst>
              <a:gd name="adj" fmla="val 6667"/>
            </a:avLst>
          </a:prstGeom>
          <a:solidFill>
            <a:srgbClr val="3B4E9E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15" name="Text 13"/>
          <p:cNvSpPr txBox="1"/>
          <p:nvPr/>
        </p:nvSpPr>
        <p:spPr>
          <a:xfrm>
            <a:off x="11029722" y="3291840"/>
            <a:ext cx="26746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Decide: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Accept or Reject</a:t>
            </a:r>
          </a:p>
        </p:txBody>
      </p:sp>
      <p:sp>
        <p:nvSpPr>
          <p:cNvPr id="16" name="Shape 14"/>
          <p:cNvSpPr/>
          <p:nvPr/>
        </p:nvSpPr>
        <p:spPr>
          <a:xfrm rot="5400000">
            <a:off x="13868934" y="4183380"/>
            <a:ext cx="246888" cy="274320"/>
          </a:xfrm>
          <a:prstGeom prst="triangl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17" name="Shape 15"/>
          <p:cNvSpPr/>
          <p:nvPr/>
        </p:nvSpPr>
        <p:spPr>
          <a:xfrm>
            <a:off x="14115822" y="3291840"/>
            <a:ext cx="2948940" cy="20574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700"/>
          </a:p>
        </p:txBody>
      </p:sp>
      <p:sp>
        <p:nvSpPr>
          <p:cNvPr id="18" name="Text 16"/>
          <p:cNvSpPr txBox="1"/>
          <p:nvPr/>
        </p:nvSpPr>
        <p:spPr>
          <a:xfrm>
            <a:off x="14252982" y="3291840"/>
            <a:ext cx="26746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Monitor &amp;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Montserrat"/>
              </a:rPr>
              <a:t>Review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685800" y="979322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BUDGETING &amp; INVESTMENT APPRAISAL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DDE7C987-B538-A8B5-6511-9303A86F59AF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F1A3534C-635F-040C-BC21-E6B1B3162768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5E3AB5CE-84B8-79E9-55A0-62F4DEC3B358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5">
            <a:extLst>
              <a:ext uri="{FF2B5EF4-FFF2-40B4-BE49-F238E27FC236}">
                <a16:creationId xmlns:a16="http://schemas.microsoft.com/office/drawing/2014/main" id="{F993C443-E5F4-BE29-8FC2-231500D585F8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Capital Budgeting: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754380" y="1476114"/>
            <a:ext cx="1673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NPV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discounts every future cash flow back to today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at the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firm's cost of capital,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then </a:t>
            </a:r>
            <a:r>
              <a:rPr lang="en-US" sz="2400" b="1" dirty="0">
                <a:solidFill>
                  <a:srgbClr val="FF9900"/>
                </a:solidFill>
                <a:latin typeface="Montserrat"/>
              </a:rPr>
              <a:t>deducts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 the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initial investment.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It tells you, in today's rupees, how much value a project adds.</a:t>
            </a:r>
          </a:p>
        </p:txBody>
      </p:sp>
      <p:sp>
        <p:nvSpPr>
          <p:cNvPr id="6" name="Shape 4"/>
          <p:cNvSpPr/>
          <p:nvPr/>
        </p:nvSpPr>
        <p:spPr>
          <a:xfrm>
            <a:off x="4247456" y="2882425"/>
            <a:ext cx="8636618" cy="273361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700"/>
          </a:p>
        </p:txBody>
      </p:sp>
      <p:sp>
        <p:nvSpPr>
          <p:cNvPr id="11" name="Text 9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50" dirty="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8452D080-69B2-AC84-FF77-D043B60E9780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E71B0044-6F52-8BDB-E668-D18FCCEC8AB5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BCBEA658-0FFB-5EF0-2BFC-3FD194BC94D1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5">
            <a:extLst>
              <a:ext uri="{FF2B5EF4-FFF2-40B4-BE49-F238E27FC236}">
                <a16:creationId xmlns:a16="http://schemas.microsoft.com/office/drawing/2014/main" id="{E3B86122-30D1-4BE1-AC6E-F681407D5946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Net Present Value (NPV)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CA112-0F9B-10FB-8A11-BEDDF9745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560" y="3667804"/>
            <a:ext cx="7052130" cy="1162852"/>
          </a:xfrm>
          <a:prstGeom prst="rect">
            <a:avLst/>
          </a:prstGeom>
          <a:ln>
            <a:solidFill>
              <a:srgbClr val="FF99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F73F7E-2054-0C60-9AF6-CBAE11A0F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06" y="6585717"/>
            <a:ext cx="7263482" cy="2740654"/>
          </a:xfrm>
          <a:prstGeom prst="rect">
            <a:avLst/>
          </a:prstGeom>
          <a:ln>
            <a:solidFill>
              <a:srgbClr val="FF990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6D91-8D00-A649-1A9D-BB317DFCF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A5EDE9B3-EC87-D4E1-B10A-CAA3F13D1B81}"/>
              </a:ext>
            </a:extLst>
          </p:cNvPr>
          <p:cNvSpPr txBox="1"/>
          <p:nvPr/>
        </p:nvSpPr>
        <p:spPr>
          <a:xfrm>
            <a:off x="754380" y="1476114"/>
            <a:ext cx="1673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NPV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discounts every future cash flow back to today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at the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firm's cost of capital,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then </a:t>
            </a:r>
            <a:r>
              <a:rPr lang="en-US" sz="2400" b="1" dirty="0">
                <a:solidFill>
                  <a:srgbClr val="FF9900"/>
                </a:solidFill>
                <a:latin typeface="Montserrat"/>
              </a:rPr>
              <a:t>deducts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 the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initial investment.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It tells you, in today's rupees, how much value a project adds.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059D02B-03E9-9ABF-93A6-010964145829}"/>
              </a:ext>
            </a:extLst>
          </p:cNvPr>
          <p:cNvSpPr/>
          <p:nvPr/>
        </p:nvSpPr>
        <p:spPr>
          <a:xfrm>
            <a:off x="2410705" y="2891469"/>
            <a:ext cx="130302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A42A6C-249D-A4D7-EB81-6805C8911581}"/>
              </a:ext>
            </a:extLst>
          </p:cNvPr>
          <p:cNvSpPr txBox="1"/>
          <p:nvPr/>
        </p:nvSpPr>
        <p:spPr>
          <a:xfrm>
            <a:off x="2828907" y="3167995"/>
            <a:ext cx="1248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NPV = Σ  CFₜ ÷ (1 + r)ᵗ  −  Initial Investment</a:t>
            </a:r>
            <a:endParaRPr lang="en-US" sz="2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AF148EC-E928-DB10-6D8C-B01E647CCCB4}"/>
              </a:ext>
            </a:extLst>
          </p:cNvPr>
          <p:cNvSpPr txBox="1"/>
          <p:nvPr/>
        </p:nvSpPr>
        <p:spPr>
          <a:xfrm>
            <a:off x="2880360" y="4800600"/>
            <a:ext cx="1248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the present value of every future cash flow, minus what you pay today</a:t>
            </a:r>
            <a:endParaRPr lang="en-US" sz="2400" dirty="0">
              <a:solidFill>
                <a:srgbClr val="FF990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8FBE9F-F7D6-0283-B8F3-DEEA7D916E3C}"/>
              </a:ext>
            </a:extLst>
          </p:cNvPr>
          <p:cNvSpPr txBox="1"/>
          <p:nvPr/>
        </p:nvSpPr>
        <p:spPr>
          <a:xfrm>
            <a:off x="1234440" y="5579805"/>
            <a:ext cx="1577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2D262A"/>
                </a:solidFill>
                <a:latin typeface="Montserrat"/>
              </a:rPr>
              <a:t>CFₜ = expected cash flow in period t;  r = cost of capital;  t = time period</a:t>
            </a:r>
          </a:p>
          <a:p>
            <a:pPr marL="342900" indent="-342900">
              <a:spcAft>
                <a:spcPts val="1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D262A"/>
                </a:solidFill>
                <a:latin typeface="Montserrat"/>
              </a:rPr>
              <a:t>A </a:t>
            </a:r>
            <a:r>
              <a:rPr lang="en-US" sz="2400" b="1" dirty="0">
                <a:solidFill>
                  <a:srgbClr val="FF9900"/>
                </a:solidFill>
                <a:latin typeface="Montserrat"/>
              </a:rPr>
              <a:t>positive NPV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means the project is expected to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increase the value of the firm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and should be </a:t>
            </a:r>
            <a:r>
              <a:rPr lang="en-US" sz="2400" b="1" dirty="0">
                <a:solidFill>
                  <a:srgbClr val="0000FF"/>
                </a:solidFill>
                <a:latin typeface="Montserrat"/>
              </a:rPr>
              <a:t>accepted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.</a:t>
            </a: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pPr marL="342900" indent="-342900">
              <a:spcAft>
                <a:spcPts val="1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D262A"/>
                </a:solidFill>
                <a:latin typeface="Montserrat"/>
              </a:rPr>
              <a:t>A </a:t>
            </a:r>
            <a:r>
              <a:rPr lang="en-US" sz="2400" b="1" dirty="0">
                <a:solidFill>
                  <a:srgbClr val="FF9900"/>
                </a:solidFill>
                <a:latin typeface="Montserrat"/>
              </a:rPr>
              <a:t>negative NPV </a:t>
            </a:r>
            <a:r>
              <a:rPr lang="en-US" sz="2400" dirty="0">
                <a:solidFill>
                  <a:srgbClr val="2D262A"/>
                </a:solidFill>
                <a:latin typeface="Montserrat"/>
              </a:rPr>
              <a:t>means the project destroys value and should be </a:t>
            </a:r>
            <a:r>
              <a:rPr lang="en-US" sz="2400" b="1" dirty="0">
                <a:solidFill>
                  <a:srgbClr val="0000FF"/>
                </a:solidFill>
                <a:latin typeface="Montserrat"/>
              </a:rPr>
              <a:t>rejected.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C65D61-F0A1-FA7D-7C6A-E7F920459B58}"/>
              </a:ext>
            </a:extLst>
          </p:cNvPr>
          <p:cNvSpPr txBox="1"/>
          <p:nvPr/>
        </p:nvSpPr>
        <p:spPr>
          <a:xfrm>
            <a:off x="685800" y="979322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BUDGETING &amp; INVESTMENT APPRAISAL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9975327-22FD-4F50-1AC7-096D649C2254}"/>
              </a:ext>
            </a:extLst>
          </p:cNvPr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50" dirty="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129B0033-1DB8-D9FA-DF61-4BFEBCC56288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CEFFF415-A005-B243-5B1D-B3190BF940EB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A694FAC2-08F1-CA7E-0D58-4FA8E9593321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5">
            <a:extLst>
              <a:ext uri="{FF2B5EF4-FFF2-40B4-BE49-F238E27FC236}">
                <a16:creationId xmlns:a16="http://schemas.microsoft.com/office/drawing/2014/main" id="{839A06C6-C3AE-9557-00CB-C6D891CC1728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Net Present Value (NPV)</a:t>
            </a:r>
          </a:p>
        </p:txBody>
      </p:sp>
    </p:spTree>
    <p:extLst>
      <p:ext uri="{BB962C8B-B14F-4D97-AF65-F5344CB8AC3E}">
        <p14:creationId xmlns:p14="http://schemas.microsoft.com/office/powerpoint/2010/main" val="259373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85800" y="2606040"/>
            <a:ext cx="16870680" cy="116586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6" name="Shape 4"/>
          <p:cNvSpPr/>
          <p:nvPr/>
        </p:nvSpPr>
        <p:spPr>
          <a:xfrm>
            <a:off x="891540" y="2743200"/>
            <a:ext cx="2468880" cy="891540"/>
          </a:xfrm>
          <a:prstGeom prst="roundRect">
            <a:avLst>
              <a:gd name="adj" fmla="val 923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 txBox="1"/>
          <p:nvPr/>
        </p:nvSpPr>
        <p:spPr>
          <a:xfrm>
            <a:off x="891540" y="2743200"/>
            <a:ext cx="2468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&gt; 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606040"/>
            <a:ext cx="135788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— the project adds value beyond the required return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85800" y="3950208"/>
            <a:ext cx="16870680" cy="116586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0" name="Shape 8"/>
          <p:cNvSpPr/>
          <p:nvPr/>
        </p:nvSpPr>
        <p:spPr>
          <a:xfrm>
            <a:off x="891540" y="4087368"/>
            <a:ext cx="2468880" cy="891540"/>
          </a:xfrm>
          <a:prstGeom prst="roundRect">
            <a:avLst>
              <a:gd name="adj" fmla="val 9231"/>
            </a:avLst>
          </a:prstGeom>
          <a:solidFill>
            <a:srgbClr val="6472A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1" name="Text 9"/>
          <p:cNvSpPr txBox="1"/>
          <p:nvPr/>
        </p:nvSpPr>
        <p:spPr>
          <a:xfrm>
            <a:off x="891540" y="4087368"/>
            <a:ext cx="2468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950208"/>
            <a:ext cx="135788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Indifferent — the project earns exactly the required return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85800" y="5294376"/>
            <a:ext cx="16870680" cy="116586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4" name="Shape 12"/>
          <p:cNvSpPr/>
          <p:nvPr/>
        </p:nvSpPr>
        <p:spPr>
          <a:xfrm>
            <a:off x="891540" y="5431536"/>
            <a:ext cx="2468880" cy="891540"/>
          </a:xfrm>
          <a:prstGeom prst="roundRect">
            <a:avLst>
              <a:gd name="adj" fmla="val 9231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5" name="Text 13"/>
          <p:cNvSpPr txBox="1"/>
          <p:nvPr/>
        </p:nvSpPr>
        <p:spPr>
          <a:xfrm>
            <a:off x="891540" y="5431536"/>
            <a:ext cx="2468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&lt; 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5294376"/>
            <a:ext cx="135788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the project destroys value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858000"/>
            <a:ext cx="16870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directly measures rupees of value created — the same metric shareholders care about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NPVs of independent projects can simply be added together (the "value-additivity" principle)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ranking mutually exclusive projects or projects under a limited budget, NPV is the most reliable single criterion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25624F9-6C81-420B-CD3F-65A6635754FE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049ABDF-A4F7-39B0-A8FB-2B3BAD5CABFF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2BC0656-FB1A-FD06-DA33-E8F51AEE118A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5">
            <a:extLst>
              <a:ext uri="{FF2B5EF4-FFF2-40B4-BE49-F238E27FC236}">
                <a16:creationId xmlns:a16="http://schemas.microsoft.com/office/drawing/2014/main" id="{0309EAAC-A0C0-D3F3-F6C9-831158C24C3E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Net Present Value (NPV)</a:t>
            </a:r>
          </a:p>
        </p:txBody>
      </p:sp>
    </p:spTree>
    <p:extLst>
      <p:ext uri="{BB962C8B-B14F-4D97-AF65-F5344CB8AC3E}">
        <p14:creationId xmlns:p14="http://schemas.microsoft.com/office/powerpoint/2010/main" val="25144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Bharat AutoParts Ltd.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16870680" cy="603504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Text 4"/>
          <p:cNvSpPr txBox="1"/>
          <p:nvPr/>
        </p:nvSpPr>
        <p:spPr>
          <a:xfrm>
            <a:off x="1234440" y="2948940"/>
            <a:ext cx="1577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2D262A"/>
                </a:solidFill>
                <a:latin typeface="Montserrat"/>
              </a:rPr>
              <a:t>Bharat AutoParts Ltd. is an auto-components manufacturer near Pune. It is considering installing a robotic welding line to boost quality and output.</a:t>
            </a:r>
          </a:p>
        </p:txBody>
      </p:sp>
      <p:sp>
        <p:nvSpPr>
          <p:cNvPr id="7" name="Shape 5"/>
          <p:cNvSpPr/>
          <p:nvPr/>
        </p:nvSpPr>
        <p:spPr>
          <a:xfrm>
            <a:off x="1234440" y="4183380"/>
            <a:ext cx="15773400" cy="116586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8" name="Text 6"/>
          <p:cNvSpPr txBox="1"/>
          <p:nvPr/>
        </p:nvSpPr>
        <p:spPr>
          <a:xfrm>
            <a:off x="1577340" y="4183380"/>
            <a:ext cx="79552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4183380"/>
            <a:ext cx="7269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₹80,00,000 (₹80 lakh)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234440" y="5554980"/>
            <a:ext cx="15773400" cy="116586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1" name="Text 9"/>
          <p:cNvSpPr txBox="1"/>
          <p:nvPr/>
        </p:nvSpPr>
        <p:spPr>
          <a:xfrm>
            <a:off x="1577340" y="5554980"/>
            <a:ext cx="79552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Incremental Cash Flow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5554980"/>
            <a:ext cx="7269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₹25,00,000 per year, for 5 years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234440" y="6926580"/>
            <a:ext cx="15773400" cy="116586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 txBox="1"/>
          <p:nvPr/>
        </p:nvSpPr>
        <p:spPr>
          <a:xfrm>
            <a:off x="1577340" y="6926580"/>
            <a:ext cx="79552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Company's Cost of Capital (discount rate)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6926580"/>
            <a:ext cx="7269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per annum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8298180"/>
            <a:ext cx="1577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i="1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this one case throughout the session to apply every technique — NPV, IRR, Payback and Discounted Payback.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2FE7949D-F705-4B83-DC47-3E374DE8EBBE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72CE4EFE-6420-9862-93CD-8CB74FD12A2B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4BFB84-1E59-A879-7A13-5AF11BE756FE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5">
            <a:extLst>
              <a:ext uri="{FF2B5EF4-FFF2-40B4-BE49-F238E27FC236}">
                <a16:creationId xmlns:a16="http://schemas.microsoft.com/office/drawing/2014/main" id="{A853D18F-D93E-BEF6-8EAF-66E2FB8ADC49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Net Present Value (NPV)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85800" y="2537460"/>
            <a:ext cx="8229600" cy="61722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Text 4"/>
          <p:cNvSpPr txBox="1"/>
          <p:nvPr/>
        </p:nvSpPr>
        <p:spPr>
          <a:xfrm>
            <a:off x="1028700" y="2743200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3360420"/>
            <a:ext cx="7543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PVIFA (12%, 5 years) = [1 − (1.12)⁻⁵] ÷ 0.12 = 3.6048</a:t>
            </a:r>
            <a:endParaRPr lang="en-US" sz="28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inflows = ₹25,00,000 × 3.6048</a:t>
            </a:r>
            <a:endParaRPr lang="en-US" sz="28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inflows = ₹90,11,938</a:t>
            </a:r>
            <a:endParaRPr lang="en-US" sz="28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₹90,11,938 − ₹80,00,000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28700" y="6858000"/>
            <a:ext cx="7543800" cy="1577340"/>
          </a:xfrm>
          <a:prstGeom prst="roundRect">
            <a:avLst>
              <a:gd name="adj" fmla="val 6957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9" name="Text 7"/>
          <p:cNvSpPr txBox="1"/>
          <p:nvPr/>
        </p:nvSpPr>
        <p:spPr>
          <a:xfrm>
            <a:off x="1028700" y="6995160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NPV = ₹10,11,938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7708392"/>
            <a:ext cx="6858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NPV — the project is expected to add value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395460" y="2537460"/>
            <a:ext cx="8161020" cy="61722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2" name="Text 10"/>
          <p:cNvSpPr txBox="1"/>
          <p:nvPr/>
        </p:nvSpPr>
        <p:spPr>
          <a:xfrm>
            <a:off x="9738360" y="2743200"/>
            <a:ext cx="7406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738360" y="3291840"/>
            <a:ext cx="7543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&gt; 0</a:t>
            </a: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Bharat AutoParts should ACCEPT the robotic welding line. Investing ₹80 lakh today is expected to create roughly ₹10.12 lakh of additional value for the firm, over and above the 12% return already required by investors.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738360" y="7269480"/>
            <a:ext cx="7543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₹80 lakh investment we will revisit under IRR, Payback and Discounted Payback.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A7F1372-1C15-519C-02A3-676F74F20A79}"/>
              </a:ext>
            </a:extLst>
          </p:cNvPr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Bharat AutoParts Ltd.</a:t>
            </a:r>
            <a:endParaRPr lang="en-US" sz="3600" dirty="0">
              <a:solidFill>
                <a:srgbClr val="0000FF"/>
              </a:solidFill>
            </a:endParaRP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9C927056-2319-D771-F0DF-1EA8E9F0A5D7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1C91D2C-ABF6-DFDA-69CB-9BC44D5E59AD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6DA1579A-8480-6100-9CDD-6A92E7628CB6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5">
            <a:extLst>
              <a:ext uri="{FF2B5EF4-FFF2-40B4-BE49-F238E27FC236}">
                <a16:creationId xmlns:a16="http://schemas.microsoft.com/office/drawing/2014/main" id="{1919B56D-7CF1-752F-2D9B-886DDC50F5D0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Net Present Value (NPV)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685800" y="2468880"/>
            <a:ext cx="1673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IRR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discount rate at which a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NPV becomes exactly zero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other words, the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own "break-even" rate of return.</a:t>
            </a:r>
            <a:endParaRPr lang="en-US" sz="2800" b="1" dirty="0">
              <a:solidFill>
                <a:srgbClr val="FF99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0" y="3634740"/>
            <a:ext cx="11658600" cy="157734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 txBox="1"/>
          <p:nvPr/>
        </p:nvSpPr>
        <p:spPr>
          <a:xfrm>
            <a:off x="3566160" y="3799332"/>
            <a:ext cx="111099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= Σ  CFₜ ÷ (1 + IRR)ᵗ  −  Initial Investment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4663440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the rate (IRR) that sets NPV to zero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5623560"/>
            <a:ext cx="1577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found by trial-and-error, interpolation, or a financial calculator / spreadsheet IRR() function</a:t>
            </a:r>
            <a:endParaRPr lang="en-US" sz="28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</a:t>
            </a:r>
          </a:p>
          <a:p>
            <a:pPr marL="457200" indent="-457200">
              <a:spcAft>
                <a:spcPts val="1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the project if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&gt; cost of capital;  </a:t>
            </a:r>
          </a:p>
          <a:p>
            <a:pPr marL="457200" indent="-457200">
              <a:spcAft>
                <a:spcPts val="15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the project if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&lt; cost of capital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7525C8D9-AD01-C96B-ED0E-2C0B478ACD89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D8FEA55E-F1AA-0ED7-400F-5D2A704DB45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D6AED83E-83FE-5AFF-AB84-1C355B51E56D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5">
            <a:extLst>
              <a:ext uri="{FF2B5EF4-FFF2-40B4-BE49-F238E27FC236}">
                <a16:creationId xmlns:a16="http://schemas.microsoft.com/office/drawing/2014/main" id="{86E138A7-2551-1971-7720-BB806D661451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Internal Rate of Return (IRR)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AB9D6-94B1-19B8-0665-35E2254B9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904" y="6425700"/>
            <a:ext cx="9877340" cy="3185870"/>
          </a:xfrm>
          <a:prstGeom prst="rect">
            <a:avLst/>
          </a:prstGeom>
          <a:ln>
            <a:solidFill>
              <a:srgbClr val="FF99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685800" y="2468880"/>
            <a:ext cx="1673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error: test discount rates until NPV lands at (or near) zero.</a:t>
            </a:r>
            <a:endParaRPr lang="en-US" sz="2800" b="1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960120" y="3223260"/>
          <a:ext cx="16322040" cy="23317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Discount Rate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PV of Inflows (₹25,00,000/yr × 5)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NPV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12%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₹90,11,938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+ ₹10,11,938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17%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₹80,02,000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+ ₹2,000  (≈ zero)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18%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₹78,17,930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C4A6B"/>
                          </a:solidFill>
                        </a:rPr>
                        <a:t>− ₹1,82,070</a:t>
                      </a:r>
                      <a:endParaRPr lang="en-US" sz="20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60120" y="5966460"/>
            <a:ext cx="16322040" cy="2057400"/>
          </a:xfrm>
          <a:prstGeom prst="roundRect">
            <a:avLst>
              <a:gd name="adj" fmla="val 5333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8" name="Text 5"/>
          <p:cNvSpPr txBox="1"/>
          <p:nvPr/>
        </p:nvSpPr>
        <p:spPr>
          <a:xfrm>
            <a:off x="1234440" y="6172200"/>
            <a:ext cx="15773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 = 17%  (the rate at which NPV crosses zero)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6995160"/>
            <a:ext cx="1577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IRR (17%) &gt; cost of capital (12%), the same ACCEPT decision follows — consistent with the positive NPV.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BA2D65AF-3990-5DDB-8677-6645F6A5FA2B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DD70F094-3DF2-88E5-B6A0-C32F474A594F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4A246DB2-57A1-502F-EFCD-779AA1FE3E96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5">
            <a:extLst>
              <a:ext uri="{FF2B5EF4-FFF2-40B4-BE49-F238E27FC236}">
                <a16:creationId xmlns:a16="http://schemas.microsoft.com/office/drawing/2014/main" id="{79790E3F-83BC-5164-FFD3-3F5E8BE461C6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Internal Rate of Return (IRR)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3BD9DE-D31B-DC32-1EB8-FBE86E279BCD}"/>
              </a:ext>
            </a:extLst>
          </p:cNvPr>
          <p:cNvSpPr txBox="1"/>
          <p:nvPr/>
        </p:nvSpPr>
        <p:spPr>
          <a:xfrm>
            <a:off x="993047" y="149392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Bharat </a:t>
            </a:r>
            <a:r>
              <a:rPr lang="en-US" sz="3600" b="1" dirty="0" err="1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AutoParts</a:t>
            </a:r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Ltd.</a:t>
            </a:r>
            <a:endParaRPr 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NPV and IRR Disagree — A Hotel Chain's Dilemma</a:t>
            </a:r>
            <a:endParaRPr lang="en-US" sz="3600" dirty="0">
              <a:solidFill>
                <a:srgbClr val="0000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167335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hotel chain can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only ONE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these two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projects: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3291840"/>
            <a:ext cx="8161020" cy="48006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 txBox="1"/>
          <p:nvPr/>
        </p:nvSpPr>
        <p:spPr>
          <a:xfrm>
            <a:off x="1097280" y="3634740"/>
            <a:ext cx="7338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 — Rooftop Solar Plant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65860" y="480060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4800600"/>
            <a:ext cx="4183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₹1,00,00,000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165860" y="5788152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Flow: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5788152"/>
            <a:ext cx="4183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₹28,00,000 / yr for 6 yrs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165860" y="6775704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Capital: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6775704"/>
            <a:ext cx="4183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395460" y="3291840"/>
            <a:ext cx="8161020" cy="4800600"/>
          </a:xfrm>
          <a:prstGeom prst="roundRect">
            <a:avLst>
              <a:gd name="adj" fmla="val 2857"/>
            </a:avLst>
          </a:prstGeom>
          <a:solidFill>
            <a:srgbClr val="3B4E9E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5" name="Text 13"/>
          <p:cNvSpPr txBox="1"/>
          <p:nvPr/>
        </p:nvSpPr>
        <p:spPr>
          <a:xfrm>
            <a:off x="9806940" y="3634740"/>
            <a:ext cx="7338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 — LED Lighting Retrofit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480060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2961620" y="4800600"/>
            <a:ext cx="4183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₹10,00,000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5788152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Flow: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2961620" y="5788152"/>
            <a:ext cx="4183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₹4,50,000 / yr for 4 yrs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6775704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Capital: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2961620" y="6775704"/>
            <a:ext cx="4183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D7CBDF15-4F2D-68D5-7458-BB989DB210B2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CB35D0CA-CC03-0EAB-9D06-83DA10C40F7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5BACC780-B040-7DE7-F56F-23308FE7FB6E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5">
            <a:extLst>
              <a:ext uri="{FF2B5EF4-FFF2-40B4-BE49-F238E27FC236}">
                <a16:creationId xmlns:a16="http://schemas.microsoft.com/office/drawing/2014/main" id="{01C9CFA2-F151-F59C-B17D-F7BF7C4C5B7C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Internal Rate of Return (IRR)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between NPV &amp; IRR</a:t>
            </a:r>
            <a:endParaRPr lang="en-US" sz="3600" dirty="0">
              <a:solidFill>
                <a:srgbClr val="0000FF"/>
              </a:solidFill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91094"/>
              </p:ext>
            </p:extLst>
          </p:nvPr>
        </p:nvGraphicFramePr>
        <p:xfrm>
          <a:off x="1783080" y="2606040"/>
          <a:ext cx="14676120" cy="37719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Project A (Solar)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Project B (LED Retrofit)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3C4A6B"/>
                          </a:solidFill>
                        </a:rPr>
                        <a:t>NPV @ 10%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₹21,94,731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₹4,26,439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639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3C4A6B"/>
                          </a:solidFill>
                        </a:rPr>
                        <a:t>IRR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=17.2%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=28.5%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9900"/>
                          </a:solidFill>
                        </a:rPr>
                        <a:t>Ranked #1 by…</a:t>
                      </a: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9900"/>
                          </a:solidFill>
                        </a:rPr>
                        <a:t>NPV</a:t>
                      </a: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9900"/>
                          </a:solidFill>
                        </a:rPr>
                        <a:t>IRR</a:t>
                      </a: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44268" y="6851773"/>
            <a:ext cx="16322040" cy="2880360"/>
          </a:xfrm>
          <a:prstGeom prst="roundRect">
            <a:avLst>
              <a:gd name="adj" fmla="val 4762"/>
            </a:avLst>
          </a:prstGeom>
          <a:solidFill>
            <a:srgbClr val="F4F7FD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7" name="Text 4"/>
          <p:cNvSpPr txBox="1"/>
          <p:nvPr/>
        </p:nvSpPr>
        <p:spPr>
          <a:xfrm>
            <a:off x="1160765" y="7057513"/>
            <a:ext cx="15499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has the higher IRR, but Project A creates far more total value (higher NPV) because it operates at a much larger scale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NPV directly measures rupees of shareholder value created, NPV should win when the two rankings conflict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for a single, independent project, use either NPV or IRR — but for mutually exclusive choices, always let NPV decide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BBDD6ACE-BD74-9626-8C84-BF08A1F93888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2DAE3B80-0B54-5434-233A-93BED816BD2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BAD7AF6D-0EB1-EE5A-748F-B3AFA2A3C665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762BFAEF-7F0A-543B-2651-7A1DCDC384B7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Internal Rate of Return (IRR)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NPV and IRR Can Disagree</a:t>
            </a:r>
            <a:endParaRPr lang="en-US" sz="3600" dirty="0">
              <a:solidFill>
                <a:srgbClr val="0000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674620"/>
            <a:ext cx="5349240" cy="4800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Shape 4"/>
          <p:cNvSpPr/>
          <p:nvPr/>
        </p:nvSpPr>
        <p:spPr>
          <a:xfrm>
            <a:off x="1097280" y="3086100"/>
            <a:ext cx="754380" cy="7543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 txBox="1"/>
          <p:nvPr/>
        </p:nvSpPr>
        <p:spPr>
          <a:xfrm>
            <a:off x="1097280" y="308610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4114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Differences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28700" y="48691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is a percentage and ignores the size of the investment; a small project can post a very high IRR while adding little total value.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377940" y="2674620"/>
            <a:ext cx="5349240" cy="4800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1" name="Shape 9"/>
          <p:cNvSpPr/>
          <p:nvPr/>
        </p:nvSpPr>
        <p:spPr>
          <a:xfrm>
            <a:off x="6789420" y="3086100"/>
            <a:ext cx="754380" cy="7543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2" name="Text 10"/>
          <p:cNvSpPr txBox="1"/>
          <p:nvPr/>
        </p:nvSpPr>
        <p:spPr>
          <a:xfrm>
            <a:off x="6789420" y="308610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114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Reinvestment Assumption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20840" y="48691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implicitly assumes cash flows are reinvested at the IRR itself — often unrealistic — while NPV assumes reinvestment at the cost of capital.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2070080" y="2674620"/>
            <a:ext cx="5349240" cy="48006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6" name="Shape 14"/>
          <p:cNvSpPr/>
          <p:nvPr/>
        </p:nvSpPr>
        <p:spPr>
          <a:xfrm>
            <a:off x="12481560" y="3086100"/>
            <a:ext cx="754380" cy="7543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7" name="Text 15"/>
          <p:cNvSpPr txBox="1"/>
          <p:nvPr/>
        </p:nvSpPr>
        <p:spPr>
          <a:xfrm>
            <a:off x="12481560" y="308610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2412980" y="4114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IRRs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2412980" y="48691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unconventional cash flows (e.g. a large cash outflow for decommissioning at the end) can have more than one IRR, making the rule ambiguous.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45E13DE5-8790-7CF8-EB0C-2E93A01AA27B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B0848B90-B35B-F5B1-941B-6C405F85AD9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78EE8577-E777-A79C-4C5F-89C2BEF76286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5">
            <a:extLst>
              <a:ext uri="{FF2B5EF4-FFF2-40B4-BE49-F238E27FC236}">
                <a16:creationId xmlns:a16="http://schemas.microsoft.com/office/drawing/2014/main" id="{C1D4A190-8555-D143-B5A3-86598B642C6E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Internal Rate of Return (IRR)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754380" y="1784724"/>
            <a:ext cx="1673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time it takes for a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cumulative cash flows to recover the initial investment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simple test of liquidity and risk exposure.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977640" y="3703320"/>
            <a:ext cx="10287000" cy="157734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 txBox="1"/>
          <p:nvPr/>
        </p:nvSpPr>
        <p:spPr>
          <a:xfrm>
            <a:off x="4251960" y="3867912"/>
            <a:ext cx="9738360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= Years before recovery + Remaining amount ÷ Next year's cash flow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5760720"/>
            <a:ext cx="1577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by companies and startups because it is easy to explain to non-finance stakeholders</a:t>
            </a:r>
            <a:endParaRPr lang="en-US" sz="28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time value of money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rupee is treated as equally valuable regardless of when it arrives</a:t>
            </a:r>
            <a:endParaRPr lang="en-US" sz="28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Ignores all cash flows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occur after the payback point is reached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055CB5A7-95F2-2AE7-8414-F28204DC72C8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C30FE78F-0F67-3993-4FEA-FB5A304E0B34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1348D958-A82D-C48D-8140-114842258971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C9995A79-BDD5-580B-4F9B-1B7CCB864AB3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Payback Period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1371600"/>
            <a:ext cx="1687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Payback for Bharat AutoParts</a:t>
            </a:r>
            <a:endParaRPr lang="en-US" sz="3600" dirty="0">
              <a:solidFill>
                <a:srgbClr val="0000FF"/>
              </a:solidFill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965405"/>
              </p:ext>
            </p:extLst>
          </p:nvPr>
        </p:nvGraphicFramePr>
        <p:xfrm>
          <a:off x="1783080" y="2537460"/>
          <a:ext cx="14676120" cy="288036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Cash Flow (₹)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Cumulative Cash Flow (₹)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50,00,000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3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75,00,000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4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1,00,00,000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60120" y="5760720"/>
            <a:ext cx="16322040" cy="3017520"/>
          </a:xfrm>
          <a:prstGeom prst="roundRect">
            <a:avLst>
              <a:gd name="adj" fmla="val 4545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7" name="Text 4"/>
          <p:cNvSpPr txBox="1"/>
          <p:nvPr/>
        </p:nvSpPr>
        <p:spPr>
          <a:xfrm>
            <a:off x="1371600" y="6035040"/>
            <a:ext cx="1549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₹80,00,000 investment lies between Year 3 (₹75,00,000 recovered) and Year 4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still to recover after Year 3 = ₹80,00,000 − ₹75,00,000 = ₹5,00,000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= 3 + (₹5,00,000 ÷ ₹25,00,000) = 3.2 years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8023860"/>
            <a:ext cx="15499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Period = 3.2 years (about 3 years, 2.4 months)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8C2642AB-E22A-5D02-B569-3AD6AF78F302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EA4902A7-29C4-3665-AF6A-A779F575E470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826FFCF6-02A4-D5D8-514B-AE45119B306E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3955561B-D678-37C9-ECE2-EE41B2BB6515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Payback Period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525780" y="1732467"/>
            <a:ext cx="167335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payback period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payback's biggest flaw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it discounts each cash flow at the cost of capital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(12%) before accumulating them.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404025"/>
              </p:ext>
            </p:extLst>
          </p:nvPr>
        </p:nvGraphicFramePr>
        <p:xfrm>
          <a:off x="562999" y="3072293"/>
          <a:ext cx="16870680" cy="3383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Cash Flow (₹)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Discounted CF @12% (₹)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Cumulative Discounted CF (₹)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22,32,143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22,32,143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19,93,000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42,25,143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3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17,79,464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60,04,607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4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15,88,807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75,93,414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5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25,00,000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14,18,578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90,11,992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7220" y="6789419"/>
            <a:ext cx="16870680" cy="2536951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8" name="Text 5"/>
          <p:cNvSpPr txBox="1"/>
          <p:nvPr/>
        </p:nvSpPr>
        <p:spPr>
          <a:xfrm>
            <a:off x="851679" y="6858000"/>
            <a:ext cx="162933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Year 4, only ₹75,93,414 has been recovered — still short of ₹80,00,000. Remaining ₹4,06,586 ÷ Year 5's discounted CF of ₹14,18,578 = 0.29 </a:t>
            </a:r>
          </a:p>
          <a:p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Payback ≈ 4.29 years</a:t>
            </a:r>
            <a:endParaRPr lang="en-US" sz="2800" b="1" dirty="0">
              <a:solidFill>
                <a:srgbClr val="FF9900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51679" y="8403534"/>
            <a:ext cx="1629332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4.29 years (discounted) is meaningfully longer than 3.2 years (simple) — </a:t>
            </a:r>
            <a:r>
              <a:rPr lang="en-US" sz="28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payback understates true recovery time.</a:t>
            </a:r>
            <a:endParaRPr lang="en-US" sz="2800" b="1" dirty="0">
              <a:solidFill>
                <a:srgbClr val="FF9900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3B479DD-49EB-98AD-39DC-5A9421A52502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80494D99-17E5-142D-84AD-AC21C4E2D460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E571D6A7-9B43-47B9-7B9A-49A55B240B80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108B1BD6-48CE-FA5C-EAFB-AE99227D584D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Discounted Payback Period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571641"/>
              </p:ext>
            </p:extLst>
          </p:nvPr>
        </p:nvGraphicFramePr>
        <p:xfrm>
          <a:off x="685800" y="2537460"/>
          <a:ext cx="16870680" cy="521208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2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Techniques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Time Value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Key strengths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Key limitations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3C4A6B"/>
                          </a:solidFill>
                        </a:rPr>
                        <a:t>NPV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Yes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Directly measures ₹ value created; values are additive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Requires an accurate discount rate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3C4A6B"/>
                          </a:solidFill>
                        </a:rPr>
                        <a:t>IRR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Yes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Intuitive single percentage figure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Scale-blind; can conflict with NPV; multiple IRRs possible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3C4A6B"/>
                          </a:solidFill>
                        </a:rPr>
                        <a:t>Payback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No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Simple; highlights liquidity risk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Ignores time value and post-payback cash flows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3C4A6B"/>
                          </a:solidFill>
                        </a:rPr>
                        <a:t>Discounted Payback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Yes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Fixes payback's time-value flaw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Still ignores cash flows after the payback point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979322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BUDGETING &amp; INVESTMENT APPRAISAL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5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9E1B840E-3A62-6DF1-0091-3CA669BD3FB5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C9A5363-98D2-A49E-4478-4F4C62323715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C0A02F2-B415-7FD1-BD7A-4BA160C0E296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8607B466-CB7B-E864-8574-FFB1A14B9E0B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Investment Appraisal Techniques: Comparison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688729" y="1799024"/>
            <a:ext cx="1673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firms rarely have unlimited funds.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budget is smaller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</a:t>
            </a:r>
            <a:r>
              <a:rPr lang="en-US" sz="2800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needed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positive-NPV project,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must ration capital.</a:t>
            </a:r>
            <a:endParaRPr lang="en-US" sz="2800" b="1" dirty="0">
              <a:solidFill>
                <a:srgbClr val="FF9900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68789" y="3271292"/>
            <a:ext cx="1577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100"/>
              </a:spcAft>
              <a:buSzPct val="100000"/>
              <a:buChar char="•"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Soft Rationing: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self-imposed budget ceiling set by management for planning or control reasons</a:t>
            </a:r>
            <a:endParaRPr lang="en-US" sz="2800" dirty="0"/>
          </a:p>
          <a:p>
            <a:pPr marL="342900" indent="-342900">
              <a:spcAft>
                <a:spcPts val="2100"/>
              </a:spcAft>
              <a:buSzPct val="100000"/>
              <a:buChar char="•"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Hard Rationing: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constraint — for example, lenders or capital markets are unwilling to supply more funds</a:t>
            </a:r>
            <a:endParaRPr lang="en-US" sz="2800" dirty="0"/>
          </a:p>
          <a:p>
            <a:pPr marL="342900" indent="-342900">
              <a:spcAft>
                <a:spcPts val="2100"/>
              </a:spcAft>
              <a:buSzPct val="100000"/>
              <a:buChar char="•"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 rationing,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picking the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highest-NPV project may not be optimal.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value created PER RUPEE invested.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692C1CBA-7F1F-1F92-F2E2-9B8FE04A4D26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7A2B8421-1058-ADD2-2D62-16ACE4018CED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2A5407AE-6E50-C4AC-0A64-286495813656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5">
            <a:extLst>
              <a:ext uri="{FF2B5EF4-FFF2-40B4-BE49-F238E27FC236}">
                <a16:creationId xmlns:a16="http://schemas.microsoft.com/office/drawing/2014/main" id="{9C0A2847-06E0-D243-5BD1-274A1F7DD892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Capital Rationing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977640" y="2674620"/>
            <a:ext cx="10287000" cy="157734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sz="2800"/>
          </a:p>
        </p:txBody>
      </p:sp>
      <p:sp>
        <p:nvSpPr>
          <p:cNvPr id="6" name="Text 4"/>
          <p:cNvSpPr txBox="1"/>
          <p:nvPr/>
        </p:nvSpPr>
        <p:spPr>
          <a:xfrm>
            <a:off x="4274820" y="3017520"/>
            <a:ext cx="97383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 = PV of Future Cash Flows ÷ Initial Investment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800600"/>
            <a:ext cx="15773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Profitability Index (PI)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</a:t>
            </a: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rupees of present value generated per rupee invested.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ranks projects 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limited budget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&gt; 1 is equivalent to NPV &gt; 0, </a:t>
            </a:r>
            <a:r>
              <a:rPr lang="en-US" sz="2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project.</a:t>
            </a:r>
            <a:endParaRPr lang="en-US" sz="2800" dirty="0">
              <a:solidFill>
                <a:srgbClr val="FF9900"/>
              </a:solidFill>
            </a:endParaRPr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capital rationing, </a:t>
            </a:r>
            <a:r>
              <a:rPr lang="en-US" sz="280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projects from highest to lowest PI and fund down the list until the budget runs out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4E7E571A-A5AF-BF4E-96A3-E779A808CB8E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C47D1490-0A40-26EE-E232-F29255DEEA82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E0953435-5AF2-1741-D0DD-377C3E4A721C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6DBB4552-6F25-3FC8-2960-009E627E9FFB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Capital Rationing: The Profitability Index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1028700"/>
            <a:ext cx="1687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Rationing a ₹1 Crore Budget</a:t>
            </a:r>
            <a:endParaRPr lang="en-US" sz="3600" dirty="0">
              <a:solidFill>
                <a:srgbClr val="0000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2019888"/>
            <a:ext cx="1673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logistics company has ₹1,00,00,000 available and is considering three independent projects (including our two earlier cases, plus a warehouse-automation proposal):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65260"/>
              </p:ext>
            </p:extLst>
          </p:nvPr>
        </p:nvGraphicFramePr>
        <p:xfrm>
          <a:off x="708660" y="3120920"/>
          <a:ext cx="16870680" cy="2331720"/>
        </p:xfrm>
        <a:graphic>
          <a:graphicData uri="http://schemas.openxmlformats.org/drawingml/2006/table">
            <a:tbl>
              <a:tblPr/>
              <a:tblGrid>
                <a:gridCol w="466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Investment (₹)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NPV (₹)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Profitability Index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PI Rank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A — Solar Plant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1,00,00,000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21,94,731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1.22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2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B — LED Retrofit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10,00,000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4,26,439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1.43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C — Warehouse Automation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40,00,000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5,48,960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1.14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dirty="0">
                          <a:solidFill>
                            <a:srgbClr val="3C4A6B"/>
                          </a:solidFill>
                        </a:rPr>
                        <a:t>3</a:t>
                      </a:r>
                      <a:endParaRPr lang="en-US" sz="2800" dirty="0"/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3615" y="5828791"/>
            <a:ext cx="16870680" cy="3497580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 w="12700">
            <a:solidFill>
              <a:srgbClr val="D9E2F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8" name="Text 5"/>
          <p:cNvSpPr txBox="1"/>
          <p:nvPr/>
        </p:nvSpPr>
        <p:spPr>
          <a:xfrm>
            <a:off x="1097280" y="6240780"/>
            <a:ext cx="1604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PI ranking alone: fund B (₹10 lakh) then C (₹40 lakh) = ₹50 lakh used, total NPV = ₹9.75 lakh — leaving ₹50 lakh idle, since A needs the full ₹1 crore and is indivisible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 alone uses the entire ₹1 crore budget and delivers NPV = ₹21.95 lakh — more total value than B + C combined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3C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PI ranking works well for small, divisible projects, but for large, "lumpy" (indivisible) investments, always compare total NPV across feasible combinations before deciding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6870680" y="97932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dirty="0">
                <a:solidFill>
                  <a:srgbClr val="647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D3B312D6-4411-7398-4698-BA907DEF5771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2C731B20-A7C1-6E24-19C5-D0A52DF1630D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4D58A3B3-FC75-5FF6-8C11-D6AE2653F606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620F2B51-5F10-4073-85DC-CCF98DBF2458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Capital Rationing: The Profitability Index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142944" y="4857748"/>
            <a:ext cx="16407621" cy="58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7"/>
              </a:lnSpc>
            </a:pPr>
            <a:r>
              <a:rPr lang="en-US" sz="66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2096</Words>
  <Application>Microsoft Office PowerPoint</Application>
  <PresentationFormat>Custom</PresentationFormat>
  <Paragraphs>312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Montserrat Medium</vt:lpstr>
      <vt:lpstr>Calibri</vt:lpstr>
      <vt:lpstr>Montserrat Ultra-Bold</vt:lpstr>
      <vt:lpstr>Montserrat</vt:lpstr>
      <vt:lpstr>Montserrat Bold</vt:lpstr>
      <vt:lpstr>Arial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Kmart</dc:title>
  <dc:creator>RAJEEVKUMAR</dc:creator>
  <cp:lastModifiedBy>kumarrajeev_trainer@outlook.com</cp:lastModifiedBy>
  <cp:revision>555</cp:revision>
  <dcterms:created xsi:type="dcterms:W3CDTF">2006-08-16T00:00:00Z</dcterms:created>
  <dcterms:modified xsi:type="dcterms:W3CDTF">2026-09-09T02:14:11Z</dcterms:modified>
  <dc:identifier>DAG70dRMM_s</dc:identifier>
</cp:coreProperties>
</file>